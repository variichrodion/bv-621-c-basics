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69" r:id="rId3"/>
    <p:sldId id="277" r:id="rId4"/>
    <p:sldId id="273" r:id="rId5"/>
    <p:sldId id="258" r:id="rId6"/>
    <p:sldId id="266" r:id="rId7"/>
    <p:sldId id="264" r:id="rId8"/>
    <p:sldId id="265" r:id="rId9"/>
    <p:sldId id="267" r:id="rId10"/>
    <p:sldId id="280" r:id="rId11"/>
    <p:sldId id="281" r:id="rId12"/>
    <p:sldId id="282" r:id="rId13"/>
    <p:sldId id="283" r:id="rId14"/>
    <p:sldId id="259" r:id="rId15"/>
    <p:sldId id="260" r:id="rId16"/>
    <p:sldId id="272" r:id="rId17"/>
    <p:sldId id="257" r:id="rId18"/>
    <p:sldId id="268" r:id="rId19"/>
    <p:sldId id="270" r:id="rId20"/>
    <p:sldId id="275" r:id="rId21"/>
    <p:sldId id="276" r:id="rId22"/>
    <p:sldId id="263" r:id="rId23"/>
    <p:sldId id="261" r:id="rId24"/>
    <p:sldId id="271" r:id="rId25"/>
    <p:sldId id="279" r:id="rId26"/>
    <p:sldId id="278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ritch.rodion.2@gmail.com" initials="v" lastIdx="1" clrIdx="0">
    <p:extLst>
      <p:ext uri="{19B8F6BF-5375-455C-9EA6-DF929625EA0E}">
        <p15:presenceInfo xmlns:p15="http://schemas.microsoft.com/office/powerpoint/2012/main" userId="e231b773860fb99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63" autoAdjust="0"/>
    <p:restoredTop sz="94660"/>
  </p:normalViewPr>
  <p:slideViewPr>
    <p:cSldViewPr snapToGrid="0">
      <p:cViewPr>
        <p:scale>
          <a:sx n="75" d="100"/>
          <a:sy n="75" d="100"/>
        </p:scale>
        <p:origin x="1171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92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511B64-0951-4D57-8F4C-B2CB5B06F25C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8B0486-2429-455F-8CC2-ECE467E317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283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B0486-2429-455F-8CC2-ECE467E317F3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819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2285EE-6B8F-4813-A569-92431878B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10BC938-55F5-43F5-AB2A-8652DA899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ECE125-A19B-4AE1-8779-BC689F96E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0C43-A938-43AD-9499-3EB3387FDAD2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280027-735B-4215-9981-90B0E509E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F07238-BFF8-48D2-8584-6C8867216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A950F-F73F-439E-A613-FAB8831331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622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F18FB-57D1-495C-9862-D0CCFAA3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67F9B4-D1A8-4155-A6FF-3AF88BFB9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C786D6-731C-4715-98A0-4D5B2FC49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0C43-A938-43AD-9499-3EB3387FDAD2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D1801E-B169-4FA9-9D93-A7AE0E589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9CAC2D-D184-467C-A30E-63AC031B7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A950F-F73F-439E-A613-FAB8831331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407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BA8FEA-F00B-4DE1-A817-A27077884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787F7B-FAF2-4C16-99EF-897F2F460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287C43-308A-42E9-8E8E-9EAC2CBB8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0C43-A938-43AD-9499-3EB3387FDAD2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6DCA72-3539-4D8E-BB38-AA4BD0767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87B218-4EBA-4A74-B29C-7DC80F22F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A950F-F73F-439E-A613-FAB8831331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256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B0E67E-D423-4FD0-8FB3-654AFA3C5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DF8C02-9763-408E-8F66-D1FA3E770D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11A21E-E86F-4119-8729-288C64BAA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C53DC02-61B0-4013-91F9-B948684AC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0C43-A938-43AD-9499-3EB3387FDAD2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1F5010C-28FC-40E8-BA6C-EF8063F9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C91805-40C8-4A84-A714-360CD1659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A950F-F73F-439E-A613-FAB8831331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4060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617C32-828B-48D9-B010-7829A90A9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A6C049-9D57-4EAD-87E1-AC9FDCA24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48CF4DE-D82C-4FB5-AEC5-524815581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DD868D9-8244-4E2A-8C5D-3009F1222D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F2787D9-CBE6-46BA-885E-CEC57734DA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87030BB-7AF9-498D-BA51-9FB912DE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0C43-A938-43AD-9499-3EB3387FDAD2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54118EC-BB32-4A7F-88AA-D9F6C6FFF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7941A88-5E6C-4069-9C5C-8233BF7A3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A950F-F73F-439E-A613-FAB8831331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410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1CA2A-853E-4C32-A70E-D2B3B2BD4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F028E96-4DFE-42B7-BD3E-20384B9E0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0C43-A938-43AD-9499-3EB3387FDAD2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588EA49-3C35-494E-9507-8A3695964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99F609C-9106-4437-B897-CD35DF24B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A950F-F73F-439E-A613-FAB8831331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683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F69E3EF-876E-4794-9B84-8B59F1D82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0C43-A938-43AD-9499-3EB3387FDAD2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567912B-093F-4E66-B5A1-9BACB7B0B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360707-4D2A-4CA6-B186-41CD26553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A950F-F73F-439E-A613-FAB8831331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9458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1ECB03-12D3-430F-856B-2DCC0C065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2ECEEF-2AA0-4FD1-9B46-C2C1B58EB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184902-2538-46C1-8445-5C8538DBC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10C4EB-FD31-4286-A81F-EBA2201FE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0C43-A938-43AD-9499-3EB3387FDAD2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D5948D-4057-4EE4-94CF-2FAC3CAD7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94A377A-C9FE-468A-9C5B-A9F84609F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A950F-F73F-439E-A613-FAB8831331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9412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1C547C-572C-4887-BDB3-1EAF141B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A91639B-7C1A-4F95-902A-9D325CE58C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E0749E-48C4-4492-86E9-A009E75FC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6EBFBEF-9E71-40D1-8A4F-222674A05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0C43-A938-43AD-9499-3EB3387FDAD2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F6821C-03ED-473F-AC0C-A10EF522D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73528C-96F4-48C9-9D72-7BA06E590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A950F-F73F-439E-A613-FAB8831331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3444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73196A-0A99-4DAE-AC47-A01D29C5E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3280B0-B979-4276-B922-555BE2E48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C0FF9E-B9B2-49A8-B05F-CB440541C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0C43-A938-43AD-9499-3EB3387FDAD2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A26093-8A84-43ED-93B8-DD9BBC185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5EEEF9-43F7-459B-B90B-6605B3C43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A950F-F73F-439E-A613-FAB8831331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6293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6E8CE9C-64A6-4FCD-BF02-0C399480E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0A65C1-00A9-4892-87F7-31F4CB4D1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7FB649-4ECC-489C-A74A-937F15685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0C43-A938-43AD-9499-3EB3387FDAD2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23D728-8049-464A-BBCC-2491E2B41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F6BBB3-DCB2-4813-B862-9403A565E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A950F-F73F-439E-A613-FAB8831331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9869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36744E-23B8-498C-81E1-908B9A74A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073A6C-8696-4AEB-A671-8B887777B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0BEE6F-518D-43A5-B7F0-96E664D9D8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F0C43-A938-43AD-9499-3EB3387FDAD2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A0A4FA-31F7-468A-9D5E-BEB0FE9080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A17291-6827-4C79-B611-F2118B10A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A950F-F73F-439E-A613-FAB8831331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3969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varitch.rodion@yandex.r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4A5D5-AF6A-40DF-8B13-062DC2523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3139"/>
            <a:ext cx="9144000" cy="1755308"/>
          </a:xfrm>
        </p:spPr>
        <p:txBody>
          <a:bodyPr/>
          <a:lstStyle/>
          <a:p>
            <a:r>
              <a:rPr lang="ru-RU" dirty="0"/>
              <a:t>Основы программирования на языке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A11F2EB-01EF-47C5-8186-4D2B13B92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06706"/>
            <a:ext cx="9144000" cy="4446494"/>
          </a:xfrm>
        </p:spPr>
        <p:txBody>
          <a:bodyPr>
            <a:normAutofit/>
          </a:bodyPr>
          <a:lstStyle/>
          <a:p>
            <a:pPr algn="r"/>
            <a:r>
              <a:rPr lang="ru-RU" dirty="0"/>
              <a:t>Работа с вводом-выводом</a:t>
            </a:r>
            <a:r>
              <a:rPr lang="en-US" dirty="0"/>
              <a:t>. </a:t>
            </a:r>
            <a:r>
              <a:rPr lang="ru-RU" dirty="0"/>
              <a:t>Типы данных</a:t>
            </a:r>
          </a:p>
          <a:p>
            <a:pPr algn="r"/>
            <a:r>
              <a:rPr lang="ru-RU" dirty="0"/>
              <a:t>Арифметические и логические операции</a:t>
            </a:r>
          </a:p>
          <a:p>
            <a:pPr algn="r"/>
            <a:r>
              <a:rPr lang="ru-RU" dirty="0"/>
              <a:t>03.07.2026</a:t>
            </a:r>
            <a:endParaRPr lang="en-US" dirty="0"/>
          </a:p>
          <a:p>
            <a:pPr algn="r"/>
            <a:r>
              <a:rPr lang="ru-RU" dirty="0"/>
              <a:t>ДАННЫЕ ПРЕПОДАВАТЕЛЯ</a:t>
            </a:r>
          </a:p>
          <a:p>
            <a:pPr algn="r"/>
            <a:r>
              <a:rPr lang="ru-RU" dirty="0"/>
              <a:t>Имя: Родион Дмитриевич</a:t>
            </a:r>
          </a:p>
          <a:p>
            <a:pPr algn="r"/>
            <a:r>
              <a:rPr lang="ru-RU" dirty="0"/>
              <a:t>Телефон: 8-(962)-018-95-18</a:t>
            </a:r>
          </a:p>
          <a:p>
            <a:pPr algn="r"/>
            <a:r>
              <a:rPr lang="ru-RU" dirty="0"/>
              <a:t>Почта: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varitch.rodion@yandex.ru</a:t>
            </a:r>
            <a:endParaRPr lang="en-US" dirty="0"/>
          </a:p>
          <a:p>
            <a:pPr algn="r"/>
            <a:r>
              <a:rPr lang="en-US" dirty="0"/>
              <a:t>GITHUB: https://github.com/variichrodion/BV-621-C-Basics</a:t>
            </a:r>
          </a:p>
          <a:p>
            <a:pPr algn="r"/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2220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F798B6-F21D-401E-9D03-5E856AF33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презентации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D3E56F-1102-477D-BE2B-9A8330A39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671" y="2133599"/>
            <a:ext cx="11143129" cy="4359276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Домашнее задание</a:t>
            </a:r>
          </a:p>
          <a:p>
            <a:r>
              <a:rPr lang="ru-RU" dirty="0"/>
              <a:t>Понятие литерала</a:t>
            </a:r>
          </a:p>
          <a:p>
            <a:r>
              <a:rPr lang="ru-RU" dirty="0"/>
              <a:t>Вывод информации в окно консоли </a:t>
            </a:r>
            <a:r>
              <a:rPr lang="en-US" dirty="0"/>
              <a:t>std::</a:t>
            </a:r>
            <a:r>
              <a:rPr lang="en-US" dirty="0" err="1"/>
              <a:t>cout</a:t>
            </a:r>
            <a:r>
              <a:rPr lang="ru-RU" dirty="0"/>
              <a:t> (+ функция </a:t>
            </a:r>
            <a:r>
              <a:rPr lang="en-US" dirty="0" err="1"/>
              <a:t>setlocale</a:t>
            </a:r>
            <a:r>
              <a:rPr lang="ru-RU" dirty="0"/>
              <a:t>())</a:t>
            </a:r>
          </a:p>
          <a:p>
            <a:r>
              <a:rPr lang="ru-RU" dirty="0"/>
              <a:t>Типы данных</a:t>
            </a:r>
            <a:r>
              <a:rPr lang="en-US" dirty="0"/>
              <a:t> (+ </a:t>
            </a:r>
            <a:r>
              <a:rPr lang="ru-RU" dirty="0"/>
              <a:t>функция </a:t>
            </a:r>
            <a:r>
              <a:rPr lang="en-US" dirty="0" err="1"/>
              <a:t>sizeof</a:t>
            </a:r>
            <a:r>
              <a:rPr lang="ru-RU" dirty="0"/>
              <a:t>()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>
                <a:solidFill>
                  <a:srgbClr val="FF0000"/>
                </a:solidFill>
              </a:rPr>
              <a:t>Преобразование типов (+ унифицированная инициализация)</a:t>
            </a:r>
          </a:p>
          <a:p>
            <a:r>
              <a:rPr lang="ru-RU" dirty="0"/>
              <a:t>Ввод информации с клавиатуры</a:t>
            </a:r>
            <a:r>
              <a:rPr lang="en-US" dirty="0"/>
              <a:t> std::</a:t>
            </a:r>
            <a:r>
              <a:rPr lang="en-US" dirty="0" err="1"/>
              <a:t>cin</a:t>
            </a:r>
            <a:endParaRPr lang="en-US" dirty="0"/>
          </a:p>
          <a:p>
            <a:r>
              <a:rPr lang="ru-RU" dirty="0"/>
              <a:t>Логические и арифметические операции, инкремент и декремент</a:t>
            </a:r>
          </a:p>
          <a:p>
            <a:r>
              <a:rPr lang="ru-RU" dirty="0"/>
              <a:t>Приоритеты операций</a:t>
            </a:r>
          </a:p>
          <a:p>
            <a:r>
              <a:rPr lang="ru-RU" dirty="0"/>
              <a:t>Практика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7087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C1762-3997-4C13-82DC-35CD46788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(домашнее)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F7F663-0FBE-4146-A0D5-0767945B8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529" y="1825625"/>
            <a:ext cx="10726271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0.   Ознакомиться с данной презентацией</a:t>
            </a:r>
          </a:p>
          <a:p>
            <a:pPr marL="0" indent="0" algn="just">
              <a:buNone/>
            </a:pPr>
            <a:r>
              <a:rPr lang="ru-RU" dirty="0"/>
              <a:t>1. 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953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199FA5-441A-4227-89B6-949D218D0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литерала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F1E596F-D35E-4DD7-8873-09543D8B2D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4440" y="1421659"/>
            <a:ext cx="6143120" cy="5071216"/>
          </a:xfrm>
        </p:spPr>
      </p:pic>
    </p:spTree>
    <p:extLst>
      <p:ext uri="{BB962C8B-B14F-4D97-AF65-F5344CB8AC3E}">
        <p14:creationId xmlns:p14="http://schemas.microsoft.com/office/powerpoint/2010/main" val="189150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A8CA3B-9C11-43CB-A572-5133B8FC5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7534"/>
          </a:xfrm>
        </p:spPr>
        <p:txBody>
          <a:bodyPr/>
          <a:lstStyle/>
          <a:p>
            <a:r>
              <a:rPr lang="ru-RU" dirty="0"/>
              <a:t>Вывод информации в окно консоли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A9EEA7-382C-430E-B1B1-B4507456E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4329"/>
            <a:ext cx="10515600" cy="40879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Синтаксис операции:</a:t>
            </a:r>
          </a:p>
          <a:p>
            <a:pPr marL="0" indent="0" algn="ctr">
              <a:buNone/>
            </a:pPr>
            <a:r>
              <a:rPr lang="en-US" b="1" dirty="0">
                <a:latin typeface="Consolas" panose="020B0609020204030204" pitchFamily="49" charset="0"/>
              </a:rPr>
              <a:t>std::</a:t>
            </a:r>
            <a:r>
              <a:rPr lang="en-US" b="1" dirty="0" err="1">
                <a:latin typeface="Consolas" panose="020B0609020204030204" pitchFamily="49" charset="0"/>
              </a:rPr>
              <a:t>cout</a:t>
            </a:r>
            <a:r>
              <a:rPr lang="en-US" b="1" dirty="0">
                <a:latin typeface="Consolas" panose="020B0609020204030204" pitchFamily="49" charset="0"/>
              </a:rPr>
              <a:t> &lt;&lt; a &lt;&lt; 5 &lt;&lt; “Hello!\n”; </a:t>
            </a:r>
          </a:p>
          <a:p>
            <a:pPr algn="just"/>
            <a:r>
              <a:rPr lang="en-US" sz="2400" b="1" dirty="0">
                <a:latin typeface="Consolas" panose="020B0609020204030204" pitchFamily="49" charset="0"/>
              </a:rPr>
              <a:t>std::</a:t>
            </a:r>
            <a:r>
              <a:rPr lang="en-US" sz="2400" b="1" dirty="0" err="1">
                <a:latin typeface="Consolas" panose="020B0609020204030204" pitchFamily="49" charset="0"/>
              </a:rPr>
              <a:t>cout</a:t>
            </a:r>
            <a:r>
              <a:rPr lang="en-US" sz="2400" b="1" dirty="0">
                <a:latin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– </a:t>
            </a:r>
            <a:r>
              <a:rPr lang="ru-RU" sz="2400" dirty="0">
                <a:latin typeface="Consolas" panose="020B0609020204030204" pitchFamily="49" charset="0"/>
              </a:rPr>
              <a:t>функция вывода в консоль</a:t>
            </a:r>
          </a:p>
          <a:p>
            <a:pPr algn="just"/>
            <a:r>
              <a:rPr lang="en-US" sz="2400" b="1" dirty="0">
                <a:latin typeface="Consolas" panose="020B0609020204030204" pitchFamily="49" charset="0"/>
              </a:rPr>
              <a:t>&lt;&lt;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ru-RU" sz="2400" dirty="0">
                <a:latin typeface="Consolas" panose="020B0609020204030204" pitchFamily="49" charset="0"/>
              </a:rPr>
              <a:t>– оператор потока вывода. Является «разделителем» для разных объектов, которые мы хотим вывести</a:t>
            </a:r>
          </a:p>
          <a:p>
            <a:pPr algn="just"/>
            <a:r>
              <a:rPr lang="en-US" sz="2400" b="1" dirty="0">
                <a:latin typeface="Consolas" panose="020B0609020204030204" pitchFamily="49" charset="0"/>
              </a:rPr>
              <a:t>;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ru-RU" sz="2400" dirty="0">
                <a:latin typeface="Consolas" panose="020B0609020204030204" pitchFamily="49" charset="0"/>
              </a:rPr>
              <a:t>– конец выражения.</a:t>
            </a:r>
          </a:p>
          <a:p>
            <a:pPr algn="just"/>
            <a:endParaRPr lang="ru-RU" sz="2400" dirty="0"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Consolas" panose="020B0609020204030204" pitchFamily="49" charset="0"/>
              </a:rPr>
              <a:t>Примечание: </a:t>
            </a:r>
            <a:r>
              <a:rPr lang="en-US" sz="2400" dirty="0">
                <a:latin typeface="Consolas" panose="020B0609020204030204" pitchFamily="49" charset="0"/>
              </a:rPr>
              <a:t>std – </a:t>
            </a:r>
            <a:r>
              <a:rPr lang="ru-RU" sz="2400" i="1" dirty="0">
                <a:latin typeface="Consolas" panose="020B0609020204030204" pitchFamily="49" charset="0"/>
              </a:rPr>
              <a:t>стандартное </a:t>
            </a:r>
            <a:r>
              <a:rPr lang="ru-RU" sz="2400" dirty="0">
                <a:latin typeface="Consolas" panose="020B0609020204030204" pitchFamily="49" charset="0"/>
              </a:rPr>
              <a:t>(</a:t>
            </a:r>
            <a:r>
              <a:rPr lang="en-US" sz="2400" dirty="0">
                <a:latin typeface="Consolas" panose="020B0609020204030204" pitchFamily="49" charset="0"/>
              </a:rPr>
              <a:t>standard</a:t>
            </a:r>
            <a:r>
              <a:rPr lang="ru-RU" sz="2400" dirty="0">
                <a:latin typeface="Consolas" panose="020B0609020204030204" pitchFamily="49" charset="0"/>
              </a:rPr>
              <a:t>) пространство имён, содержащее используемые нами функции</a:t>
            </a:r>
          </a:p>
        </p:txBody>
      </p:sp>
    </p:spTree>
    <p:extLst>
      <p:ext uri="{BB962C8B-B14F-4D97-AF65-F5344CB8AC3E}">
        <p14:creationId xmlns:p14="http://schemas.microsoft.com/office/powerpoint/2010/main" val="3144708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28CB8-B881-4EEC-AB21-6660CFC8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ru-RU" dirty="0"/>
              <a:t>Работа с кириллицей в консоли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14CEF4-D08B-41BC-A8B9-269D7F4B2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880"/>
            <a:ext cx="10515600" cy="4851083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В </a:t>
            </a:r>
            <a:r>
              <a:rPr lang="en-US" dirty="0"/>
              <a:t>Visual Studio, </a:t>
            </a:r>
            <a:r>
              <a:rPr lang="ru-RU" dirty="0"/>
              <a:t>чтобы работать с кириллическими символами </a:t>
            </a:r>
            <a:r>
              <a:rPr lang="ru-RU" i="1" dirty="0"/>
              <a:t>в консоли</a:t>
            </a:r>
            <a:r>
              <a:rPr lang="ru-RU" dirty="0"/>
              <a:t>, </a:t>
            </a:r>
            <a:r>
              <a:rPr lang="en-US" dirty="0"/>
              <a:t> </a:t>
            </a:r>
            <a:r>
              <a:rPr lang="ru-RU" dirty="0"/>
              <a:t>необходимо написать строчку с вызовом функции </a:t>
            </a:r>
            <a:r>
              <a:rPr lang="en-US" dirty="0" err="1"/>
              <a:t>setlocale</a:t>
            </a:r>
            <a:r>
              <a:rPr lang="ru-RU" dirty="0"/>
              <a:t> в начале тела функции </a:t>
            </a:r>
            <a:r>
              <a:rPr lang="en-US" b="1" dirty="0"/>
              <a:t>main</a:t>
            </a:r>
            <a:r>
              <a:rPr lang="ru-RU" dirty="0"/>
              <a:t>: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ru-RU" dirty="0"/>
              <a:t>Иначе</a:t>
            </a:r>
            <a:r>
              <a:rPr lang="en-US" dirty="0"/>
              <a:t> </a:t>
            </a:r>
            <a:r>
              <a:rPr lang="ru-RU" dirty="0"/>
              <a:t>на экране будут </a:t>
            </a:r>
            <a:r>
              <a:rPr lang="en-US" dirty="0"/>
              <a:t>“</a:t>
            </a:r>
            <a:r>
              <a:rPr lang="ru-RU" dirty="0" err="1"/>
              <a:t>кракозябрики</a:t>
            </a:r>
            <a:r>
              <a:rPr lang="en-US" dirty="0"/>
              <a:t>”</a:t>
            </a:r>
            <a:r>
              <a:rPr lang="ru-RU" dirty="0"/>
              <a:t> </a:t>
            </a:r>
            <a:r>
              <a:rPr lang="en-US" dirty="0"/>
              <a:t>c:</a:t>
            </a:r>
            <a:endParaRPr lang="ru-RU" dirty="0"/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1FDA8A-0101-47F9-8D96-887B457E4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323" y="2542594"/>
            <a:ext cx="9443478" cy="298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256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EA3DD-2675-4B3A-994D-89F58C843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3393"/>
          </a:xfrm>
        </p:spPr>
        <p:txBody>
          <a:bodyPr/>
          <a:lstStyle/>
          <a:p>
            <a:r>
              <a:rPr lang="ru-RU" dirty="0"/>
              <a:t>Типы данных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873F245E-2F48-4427-AD4C-2DF7A46581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6313360"/>
              </p:ext>
            </p:extLst>
          </p:nvPr>
        </p:nvGraphicFramePr>
        <p:xfrm>
          <a:off x="838200" y="1825624"/>
          <a:ext cx="10888980" cy="425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60297425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4780654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78262739"/>
                    </a:ext>
                  </a:extLst>
                </a:gridCol>
                <a:gridCol w="1851660">
                  <a:extLst>
                    <a:ext uri="{9D8B030D-6E8A-4147-A177-3AD203B41FA5}">
                      <a16:colId xmlns:a16="http://schemas.microsoft.com/office/drawing/2014/main" val="2462367953"/>
                    </a:ext>
                  </a:extLst>
                </a:gridCol>
                <a:gridCol w="2301240">
                  <a:extLst>
                    <a:ext uri="{9D8B030D-6E8A-4147-A177-3AD203B41FA5}">
                      <a16:colId xmlns:a16="http://schemas.microsoft.com/office/drawing/2014/main" val="2803148175"/>
                    </a:ext>
                  </a:extLst>
                </a:gridCol>
              </a:tblGrid>
              <a:tr h="82578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Перевод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Что хранит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Размер в байтах (байт = 8 бит)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Диапазон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154207"/>
                  </a:ext>
                </a:extLst>
              </a:tr>
              <a:tr h="74253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int</a:t>
                      </a:r>
                      <a:endParaRPr lang="ru-RU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Integer – </a:t>
                      </a:r>
                      <a:r>
                        <a:rPr lang="ru-RU" dirty="0"/>
                        <a:t>целочисленный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/>
                        <a:t>Целое число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−2 147 483 648 …</a:t>
                      </a:r>
                    </a:p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2 147 483 647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2268351"/>
                  </a:ext>
                </a:extLst>
              </a:tr>
              <a:tr h="45966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double</a:t>
                      </a:r>
                      <a:endParaRPr lang="ru-RU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double – </a:t>
                      </a:r>
                      <a:r>
                        <a:rPr lang="ru-RU" dirty="0"/>
                        <a:t>двойной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/>
                        <a:t>Вещественное число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1.7E-308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 1.7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E+308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3449645"/>
                  </a:ext>
                </a:extLst>
              </a:tr>
              <a:tr h="45966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char</a:t>
                      </a:r>
                      <a:endParaRPr lang="ru-RU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character – </a:t>
                      </a:r>
                      <a:r>
                        <a:rPr lang="ru-RU" dirty="0"/>
                        <a:t>символ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/>
                        <a:t>Символ (буква, цифра и т.д.)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0…255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3463392"/>
                  </a:ext>
                </a:extLst>
              </a:tr>
              <a:tr h="45966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bool</a:t>
                      </a:r>
                      <a:endParaRPr lang="ru-RU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boolean</a:t>
                      </a:r>
                      <a:r>
                        <a:rPr lang="en-US" dirty="0"/>
                        <a:t> – </a:t>
                      </a:r>
                      <a:r>
                        <a:rPr lang="ru-RU" dirty="0"/>
                        <a:t>булево значение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/>
                        <a:t>Значение истина</a:t>
                      </a:r>
                      <a:r>
                        <a:rPr lang="en-US" dirty="0"/>
                        <a:t>/</a:t>
                      </a:r>
                      <a:r>
                        <a:rPr lang="ru-RU" dirty="0"/>
                        <a:t>ложь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true/false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1294910"/>
                  </a:ext>
                </a:extLst>
              </a:tr>
              <a:tr h="65267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void</a:t>
                      </a:r>
                      <a:endParaRPr lang="ru-RU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void </a:t>
                      </a:r>
                      <a:r>
                        <a:rPr lang="ru-RU" dirty="0"/>
                        <a:t>– пустота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/>
                        <a:t>Отсутствие типа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071751"/>
                  </a:ext>
                </a:extLst>
              </a:tr>
              <a:tr h="652679">
                <a:tc gridSpan="5"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ВАЖНО: ДАННЫЕ ПРИМЕНИМЫ ДЛЯ 64-Х РАЗРЯДНОЙ АРХИТЕКТУРЕ ПРОЦЕССОРА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l"/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just"/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533840"/>
                  </a:ext>
                </a:extLst>
              </a:tr>
            </a:tbl>
          </a:graphicData>
        </a:graphic>
      </p:graphicFrame>
      <p:pic>
        <p:nvPicPr>
          <p:cNvPr id="1026" name="Picture 2" descr="RomanHT (aztv81061) — профиль | Pinterest">
            <a:extLst>
              <a:ext uri="{FF2B5EF4-FFF2-40B4-BE49-F238E27FC236}">
                <a16:creationId xmlns:a16="http://schemas.microsoft.com/office/drawing/2014/main" id="{EC0AAE3F-36A4-4525-A67A-F9D4F3072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0081" y="4845060"/>
            <a:ext cx="501660" cy="501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omanHT (aztv81061) — профиль | Pinterest">
            <a:extLst>
              <a:ext uri="{FF2B5EF4-FFF2-40B4-BE49-F238E27FC236}">
                <a16:creationId xmlns:a16="http://schemas.microsoft.com/office/drawing/2014/main" id="{59757029-C5F3-4A00-A0CE-9A836D48F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0341" y="4845060"/>
            <a:ext cx="501660" cy="501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3414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E4C0D6-C96D-414A-8994-9CF5C028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/>
          <a:lstStyle/>
          <a:p>
            <a:r>
              <a:rPr lang="ru-RU" dirty="0"/>
              <a:t>Типы данных (дополненная версия)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54E4CC0A-FEC9-4532-A1A7-FE0A8FDFFB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2352665"/>
              </p:ext>
            </p:extLst>
          </p:nvPr>
        </p:nvGraphicFramePr>
        <p:xfrm>
          <a:off x="838200" y="1622612"/>
          <a:ext cx="10812780" cy="405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4647">
                  <a:extLst>
                    <a:ext uri="{9D8B030D-6E8A-4147-A177-3AD203B41FA5}">
                      <a16:colId xmlns:a16="http://schemas.microsoft.com/office/drawing/2014/main" val="3953786958"/>
                    </a:ext>
                  </a:extLst>
                </a:gridCol>
                <a:gridCol w="3009917">
                  <a:extLst>
                    <a:ext uri="{9D8B030D-6E8A-4147-A177-3AD203B41FA5}">
                      <a16:colId xmlns:a16="http://schemas.microsoft.com/office/drawing/2014/main" val="3566342691"/>
                    </a:ext>
                  </a:extLst>
                </a:gridCol>
                <a:gridCol w="5808216">
                  <a:extLst>
                    <a:ext uri="{9D8B030D-6E8A-4147-A177-3AD203B41FA5}">
                      <a16:colId xmlns:a16="http://schemas.microsoft.com/office/drawing/2014/main" val="27444594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Перевод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Суть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41886"/>
                  </a:ext>
                </a:extLst>
              </a:tr>
              <a:tr h="39941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float</a:t>
                      </a:r>
                      <a:endParaRPr lang="ru-R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Дословно: плавать</a:t>
                      </a:r>
                    </a:p>
                    <a:p>
                      <a:r>
                        <a:rPr lang="ru-RU" dirty="0"/>
                        <a:t>(число с плавающей точкой)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/>
                        <a:t>Предок </a:t>
                      </a:r>
                      <a:r>
                        <a:rPr lang="en-US" b="1" dirty="0"/>
                        <a:t>double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использующий 4 байта для хранения</a:t>
                      </a:r>
                    </a:p>
                    <a:p>
                      <a:pPr algn="just"/>
                      <a:r>
                        <a:rPr lang="en-US" dirty="0"/>
                        <a:t>(</a:t>
                      </a:r>
                      <a:r>
                        <a:rPr lang="ru-RU" dirty="0"/>
                        <a:t>не рекомендую для использования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429827"/>
                  </a:ext>
                </a:extLst>
              </a:tr>
              <a:tr h="39941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short</a:t>
                      </a:r>
                      <a:endParaRPr lang="ru-R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Короткий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/>
                        <a:t>Тот же </a:t>
                      </a:r>
                      <a:r>
                        <a:rPr lang="en-US" dirty="0"/>
                        <a:t>int, </a:t>
                      </a:r>
                      <a:r>
                        <a:rPr lang="ru-RU" dirty="0"/>
                        <a:t>но использует </a:t>
                      </a:r>
                      <a:r>
                        <a:rPr lang="ru-RU" b="1" dirty="0"/>
                        <a:t>2 байта</a:t>
                      </a:r>
                      <a:r>
                        <a:rPr lang="ru-RU" b="0" dirty="0"/>
                        <a:t> для хранения</a:t>
                      </a:r>
                    </a:p>
                    <a:p>
                      <a:pPr algn="just"/>
                      <a:r>
                        <a:rPr lang="ru-RU" b="0" dirty="0"/>
                        <a:t>(-32768…32767)</a:t>
                      </a:r>
                      <a:r>
                        <a:rPr lang="ru-RU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149336"/>
                  </a:ext>
                </a:extLst>
              </a:tr>
              <a:tr h="39941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long</a:t>
                      </a:r>
                      <a:endParaRPr lang="ru-R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Длинный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Применяется с </a:t>
                      </a:r>
                      <a:r>
                        <a:rPr lang="en-US" b="1" dirty="0"/>
                        <a:t>int </a:t>
                      </a:r>
                      <a:r>
                        <a:rPr lang="ru-RU" b="0" dirty="0"/>
                        <a:t>и </a:t>
                      </a:r>
                      <a:r>
                        <a:rPr lang="en-US" b="1" dirty="0"/>
                        <a:t>double</a:t>
                      </a:r>
                      <a:r>
                        <a:rPr lang="en-US" b="0" dirty="0"/>
                        <a:t>. </a:t>
                      </a:r>
                      <a:r>
                        <a:rPr lang="ru-RU" b="0" dirty="0"/>
                        <a:t>Размеры нужно уточнять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788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unsigned</a:t>
                      </a:r>
                      <a:endParaRPr lang="ru-R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Беззнаковый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Применяется с </a:t>
                      </a:r>
                      <a:r>
                        <a:rPr lang="en-US" dirty="0"/>
                        <a:t>char (</a:t>
                      </a:r>
                      <a:r>
                        <a:rPr lang="ru-RU" dirty="0"/>
                        <a:t>по умолчанию), </a:t>
                      </a:r>
                      <a:r>
                        <a:rPr lang="en-US" dirty="0"/>
                        <a:t>int, short, long. </a:t>
                      </a:r>
                      <a:r>
                        <a:rPr lang="ru-RU" dirty="0"/>
                        <a:t>Хранит </a:t>
                      </a:r>
                      <a:r>
                        <a:rPr lang="ru-RU" b="1" dirty="0"/>
                        <a:t>неотрицательные числа</a:t>
                      </a:r>
                      <a:endParaRPr lang="en-US" dirty="0"/>
                    </a:p>
                    <a:p>
                      <a:r>
                        <a:rPr lang="ru-RU" dirty="0"/>
                        <a:t>Например, </a:t>
                      </a:r>
                      <a:r>
                        <a:rPr lang="en-US" dirty="0"/>
                        <a:t>unsigned short: 0…65535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099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signed</a:t>
                      </a:r>
                      <a:endParaRPr lang="ru-R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Знаковый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Имеет смысл использовать с </a:t>
                      </a:r>
                      <a:r>
                        <a:rPr lang="en-US" dirty="0"/>
                        <a:t>char (-128…127)</a:t>
                      </a:r>
                      <a:r>
                        <a:rPr lang="ru-RU" dirty="0"/>
                        <a:t>, ибо остальные типы по умолчанию знаковые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025624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/>
                        <a:t>ВАЖНО: ДАННЫЕ ПРИМЕНИМЫ ДЛЯ 64-Х РАЗРЯДНОЙ АРХИТЕКТУРЕ ПРОЦЕССОРА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220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7293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33FEF9-EF36-4DDF-9D7F-870B4A493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А если мы хотим узнать, сколько байт отводится под тип данных нашим компилятором</a:t>
            </a:r>
            <a:r>
              <a:rPr lang="en-US" sz="3600" dirty="0"/>
              <a:t>?</a:t>
            </a:r>
            <a:r>
              <a:rPr lang="ru-RU" sz="3600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A75342-8C2E-4FED-AB6E-93C01A8EC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5741"/>
            <a:ext cx="10515600" cy="484122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Для этого существует прекрасная функция </a:t>
            </a:r>
            <a:r>
              <a:rPr lang="en-US" sz="2400" b="1" dirty="0" err="1"/>
              <a:t>sizeof</a:t>
            </a:r>
            <a:r>
              <a:rPr lang="en-US" sz="2400" b="1" dirty="0"/>
              <a:t>()</a:t>
            </a:r>
            <a:r>
              <a:rPr lang="ru-RU" sz="2400" dirty="0"/>
              <a:t>, принимающая переменную</a:t>
            </a:r>
            <a:r>
              <a:rPr lang="en-US" sz="2400" dirty="0"/>
              <a:t>, </a:t>
            </a:r>
            <a:r>
              <a:rPr lang="ru-RU" sz="2400" dirty="0"/>
              <a:t>константу</a:t>
            </a:r>
            <a:r>
              <a:rPr lang="en-US" sz="2400" dirty="0"/>
              <a:t> </a:t>
            </a:r>
            <a:r>
              <a:rPr lang="ru-RU" sz="2400" dirty="0"/>
              <a:t>или тип данных.</a:t>
            </a:r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>(</a:t>
            </a:r>
            <a:r>
              <a:rPr lang="ru-RU" sz="2400" dirty="0"/>
              <a:t>от англ. </a:t>
            </a:r>
            <a:r>
              <a:rPr lang="en-US" sz="2400" dirty="0"/>
              <a:t>size of –  </a:t>
            </a:r>
            <a:r>
              <a:rPr lang="ru-RU" sz="2400" dirty="0"/>
              <a:t> «размер чего-то»</a:t>
            </a:r>
            <a:r>
              <a:rPr lang="en-US" sz="2400" dirty="0"/>
              <a:t>).</a:t>
            </a:r>
            <a:r>
              <a:rPr lang="ru-RU" sz="2400" dirty="0"/>
              <a:t> Пример кода и вывода: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48B8DEE-5A7F-4875-AF8E-D14FCA995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84687"/>
            <a:ext cx="6925235" cy="277009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6737E13-AEFC-4D6E-B44D-890041692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623" y="3756352"/>
            <a:ext cx="365760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022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F66E77-FE0B-4DCF-A334-12D9FE002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типов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AF05FD-FC61-4032-96C2-E2160482D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320"/>
            <a:ext cx="10515600" cy="4632643"/>
          </a:xfrm>
        </p:spPr>
        <p:txBody>
          <a:bodyPr/>
          <a:lstStyle/>
          <a:p>
            <a:pPr algn="just"/>
            <a:r>
              <a:rPr lang="ru-RU" dirty="0"/>
              <a:t>Существует иерархия типов:</a:t>
            </a:r>
            <a:r>
              <a:rPr lang="en-US" dirty="0"/>
              <a:t> </a:t>
            </a:r>
            <a:r>
              <a:rPr lang="en-US" i="1" dirty="0"/>
              <a:t>bool, char, short – int – unsigned int – long </a:t>
            </a:r>
            <a:r>
              <a:rPr lang="en-US" i="1" dirty="0" err="1"/>
              <a:t>long</a:t>
            </a:r>
            <a:r>
              <a:rPr lang="en-US" i="1" dirty="0"/>
              <a:t> – unsigned long </a:t>
            </a:r>
            <a:r>
              <a:rPr lang="en-US" i="1" dirty="0" err="1"/>
              <a:t>long</a:t>
            </a:r>
            <a:r>
              <a:rPr lang="en-US" i="1" dirty="0"/>
              <a:t> – float – double – long double.</a:t>
            </a:r>
          </a:p>
          <a:p>
            <a:pPr algn="just"/>
            <a:r>
              <a:rPr lang="en-US" i="1" dirty="0"/>
              <a:t>bool, char, short</a:t>
            </a:r>
            <a:r>
              <a:rPr lang="ru-RU" i="1" dirty="0"/>
              <a:t> </a:t>
            </a:r>
            <a:r>
              <a:rPr lang="ru-RU" dirty="0"/>
              <a:t>при вычислениях</a:t>
            </a:r>
            <a:r>
              <a:rPr lang="en-US" i="1" dirty="0"/>
              <a:t> </a:t>
            </a:r>
            <a:r>
              <a:rPr lang="ru-RU" b="1" dirty="0"/>
              <a:t>автоматически преобразовываются</a:t>
            </a:r>
            <a:r>
              <a:rPr lang="ru-RU" dirty="0"/>
              <a:t> к </a:t>
            </a:r>
            <a:r>
              <a:rPr lang="en-US" dirty="0"/>
              <a:t>int</a:t>
            </a:r>
            <a:endParaRPr lang="ru-RU" dirty="0"/>
          </a:p>
          <a:p>
            <a:pPr algn="just"/>
            <a:r>
              <a:rPr lang="ru-RU" dirty="0"/>
              <a:t>Виды преобразований: </a:t>
            </a:r>
            <a:r>
              <a:rPr lang="ru-RU" b="1" dirty="0"/>
              <a:t>сужающее</a:t>
            </a:r>
            <a:r>
              <a:rPr lang="ru-RU" dirty="0"/>
              <a:t> и </a:t>
            </a:r>
            <a:r>
              <a:rPr lang="ru-RU" b="1" dirty="0"/>
              <a:t>расширяющее</a:t>
            </a:r>
            <a:r>
              <a:rPr lang="en-US" dirty="0"/>
              <a:t>, </a:t>
            </a:r>
            <a:r>
              <a:rPr lang="ru-RU" b="1" dirty="0"/>
              <a:t>явное</a:t>
            </a:r>
            <a:r>
              <a:rPr lang="ru-RU" dirty="0"/>
              <a:t> и </a:t>
            </a:r>
            <a:r>
              <a:rPr lang="ru-RU" b="1" dirty="0"/>
              <a:t>неявное</a:t>
            </a:r>
          </a:p>
          <a:p>
            <a:pPr marL="0" indent="0" algn="just">
              <a:buNone/>
            </a:pPr>
            <a:r>
              <a:rPr lang="ru-RU" dirty="0"/>
              <a:t>Примеры сужающего и расширяющего видов:</a:t>
            </a:r>
          </a:p>
          <a:p>
            <a:pPr algn="just"/>
            <a:r>
              <a:rPr lang="en-US" sz="2400" dirty="0"/>
              <a:t>int a = 23.5; std::</a:t>
            </a:r>
            <a:r>
              <a:rPr lang="en-US" sz="2400" dirty="0" err="1"/>
              <a:t>cout</a:t>
            </a:r>
            <a:r>
              <a:rPr lang="en-US" sz="2400" dirty="0"/>
              <a:t> &lt;&lt; a; // </a:t>
            </a:r>
            <a:r>
              <a:rPr lang="ru-RU" sz="2400" dirty="0"/>
              <a:t>выведено 23</a:t>
            </a:r>
            <a:endParaRPr lang="en-US" sz="2400" dirty="0"/>
          </a:p>
          <a:p>
            <a:pPr algn="just"/>
            <a:r>
              <a:rPr lang="en-US" sz="2400" dirty="0"/>
              <a:t>unsigned int a = 3’000’000’000; //</a:t>
            </a:r>
            <a:r>
              <a:rPr lang="ru-RU" sz="2400" dirty="0"/>
              <a:t> литерал типа </a:t>
            </a:r>
            <a:r>
              <a:rPr lang="en-US" sz="2400" dirty="0"/>
              <a:t>int (</a:t>
            </a:r>
            <a:r>
              <a:rPr lang="ru-RU" sz="2400" dirty="0"/>
              <a:t>до двух миллиардов</a:t>
            </a:r>
            <a:r>
              <a:rPr lang="en-US" sz="2400" dirty="0"/>
              <a:t>)</a:t>
            </a:r>
            <a:endParaRPr lang="ru-RU" sz="2400" dirty="0"/>
          </a:p>
          <a:p>
            <a:pPr marL="0" indent="0" algn="just">
              <a:buNone/>
            </a:pPr>
            <a:r>
              <a:rPr lang="en-US" sz="2400" dirty="0"/>
              <a:t>    std::</a:t>
            </a:r>
            <a:r>
              <a:rPr lang="en-US" sz="2400" dirty="0" err="1"/>
              <a:t>cout</a:t>
            </a:r>
            <a:r>
              <a:rPr lang="en-US" sz="2400" dirty="0"/>
              <a:t> &lt;&lt; a; // </a:t>
            </a:r>
            <a:r>
              <a:rPr lang="ru-RU" sz="2400" dirty="0"/>
              <a:t>выведено 3</a:t>
            </a:r>
            <a:r>
              <a:rPr lang="en-US" sz="2400" dirty="0"/>
              <a:t>’000’000’000 </a:t>
            </a:r>
            <a:endParaRPr lang="ru-RU" sz="2400" dirty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821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8EC466-5A21-43AE-BCEE-8BE96FD89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типов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68ADB4-48F9-4C74-B1AD-A428BFB6F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Пример явного и неявного преобразований</a:t>
            </a:r>
          </a:p>
          <a:p>
            <a:pPr algn="just"/>
            <a:r>
              <a:rPr lang="ru-RU" dirty="0"/>
              <a:t>Неявные: предыдущие примеры</a:t>
            </a:r>
          </a:p>
          <a:p>
            <a:pPr algn="just"/>
            <a:r>
              <a:rPr lang="ru-RU" dirty="0"/>
              <a:t>Явные:</a:t>
            </a:r>
          </a:p>
          <a:p>
            <a:pPr marL="0" indent="0" algn="just">
              <a:buNone/>
            </a:pPr>
            <a:r>
              <a:rPr lang="en-US" dirty="0"/>
              <a:t>double x = 23.4;</a:t>
            </a:r>
          </a:p>
          <a:p>
            <a:pPr marL="0" indent="0" algn="just">
              <a:buNone/>
            </a:pPr>
            <a:r>
              <a:rPr lang="en-US" dirty="0"/>
              <a:t>float y = (int) z; // y = 23.0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ru-RU" dirty="0"/>
              <a:t>Явное преобразование </a:t>
            </a:r>
            <a:r>
              <a:rPr lang="ru-RU" b="1" dirty="0"/>
              <a:t>не</a:t>
            </a:r>
            <a:r>
              <a:rPr lang="ru-RU" dirty="0"/>
              <a:t> изменяет тип переменной навсегда! Это временная операция в рамках строки</a:t>
            </a:r>
          </a:p>
        </p:txBody>
      </p:sp>
    </p:spTree>
    <p:extLst>
      <p:ext uri="{BB962C8B-B14F-4D97-AF65-F5344CB8AC3E}">
        <p14:creationId xmlns:p14="http://schemas.microsoft.com/office/powerpoint/2010/main" val="1680429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7E3BAD-C62A-4E8D-AC1D-3816E9CB1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для преобразования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BF2E416-92EC-47F0-BC43-FF763CEC8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540" y="1391541"/>
            <a:ext cx="7106920" cy="1925233"/>
          </a:xfrm>
          <a:prstGeom prst="rect">
            <a:avLst/>
          </a:prstGeom>
        </p:spPr>
      </p:pic>
      <p:sp>
        <p:nvSpPr>
          <p:cNvPr id="9" name="Объект 8">
            <a:extLst>
              <a:ext uri="{FF2B5EF4-FFF2-40B4-BE49-F238E27FC236}">
                <a16:creationId xmlns:a16="http://schemas.microsoft.com/office/drawing/2014/main" id="{90061808-B7B9-4366-AFB6-317A2162C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8695"/>
          </a:xfrm>
        </p:spPr>
        <p:txBody>
          <a:bodyPr>
            <a:normAutofit/>
          </a:bodyPr>
          <a:lstStyle/>
          <a:p>
            <a:pPr algn="just"/>
            <a:endParaRPr lang="en-US" dirty="0"/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ru-RU" dirty="0"/>
              <a:t>Какой тип будет в итоге?</a:t>
            </a:r>
          </a:p>
          <a:p>
            <a:pPr algn="just"/>
            <a:r>
              <a:rPr lang="en-US" dirty="0"/>
              <a:t>short </a:t>
            </a:r>
            <a:r>
              <a:rPr lang="ru-RU" dirty="0"/>
              <a:t>и </a:t>
            </a:r>
            <a:r>
              <a:rPr lang="en-US" dirty="0"/>
              <a:t>bool -&gt; int; </a:t>
            </a:r>
            <a:r>
              <a:rPr lang="ru-RU" dirty="0"/>
              <a:t>Получится: </a:t>
            </a:r>
            <a:r>
              <a:rPr lang="en-US" dirty="0"/>
              <a:t>int – float + int * int</a:t>
            </a:r>
          </a:p>
          <a:p>
            <a:pPr algn="just"/>
            <a:r>
              <a:rPr lang="en-US" dirty="0"/>
              <a:t>Int </a:t>
            </a:r>
            <a:r>
              <a:rPr lang="ru-RU" dirty="0"/>
              <a:t>на </a:t>
            </a:r>
            <a:r>
              <a:rPr lang="en-US" dirty="0"/>
              <a:t>int </a:t>
            </a:r>
            <a:r>
              <a:rPr lang="ru-RU" dirty="0"/>
              <a:t>даст </a:t>
            </a:r>
            <a:r>
              <a:rPr lang="en-US" dirty="0"/>
              <a:t>int</a:t>
            </a:r>
          </a:p>
          <a:p>
            <a:pPr algn="just"/>
            <a:r>
              <a:rPr lang="ru-RU" dirty="0"/>
              <a:t>Сложение </a:t>
            </a:r>
            <a:r>
              <a:rPr lang="en-US" dirty="0"/>
              <a:t>int </a:t>
            </a:r>
            <a:r>
              <a:rPr lang="ru-RU" dirty="0"/>
              <a:t>на </a:t>
            </a:r>
            <a:r>
              <a:rPr lang="en-US" dirty="0"/>
              <a:t>float </a:t>
            </a:r>
            <a:r>
              <a:rPr lang="ru-RU" dirty="0"/>
              <a:t>даст </a:t>
            </a:r>
            <a:r>
              <a:rPr lang="en-US" dirty="0"/>
              <a:t>float</a:t>
            </a:r>
          </a:p>
          <a:p>
            <a:pPr algn="just"/>
            <a:r>
              <a:rPr lang="ru-RU" b="1" dirty="0">
                <a:solidFill>
                  <a:srgbClr val="FF0000"/>
                </a:solidFill>
              </a:rPr>
              <a:t>ВАЖНО</a:t>
            </a:r>
            <a:r>
              <a:rPr lang="ru-RU" dirty="0">
                <a:solidFill>
                  <a:srgbClr val="FF0000"/>
                </a:solidFill>
              </a:rPr>
              <a:t>: если в каком-либо выражении используются разные типы данных, то результат приводится к большему из них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910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9DE9D8-477D-413D-BEFD-DB3288D71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Унифицированная инициализация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E664CD-FD5D-4477-98AE-1BE943212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Со стандартом </a:t>
            </a:r>
            <a:r>
              <a:rPr lang="en-US" dirty="0"/>
              <a:t>C++11 </a:t>
            </a:r>
            <a:r>
              <a:rPr lang="ru-RU" dirty="0"/>
              <a:t>был добавлен механизм унифицированной инициализации. Пример:</a:t>
            </a:r>
          </a:p>
          <a:p>
            <a:pPr algn="just"/>
            <a:endParaRPr lang="ru-RU" dirty="0"/>
          </a:p>
          <a:p>
            <a:pPr algn="just"/>
            <a:endParaRPr lang="ru-RU" dirty="0"/>
          </a:p>
          <a:p>
            <a:pPr algn="just"/>
            <a:r>
              <a:rPr lang="ru-RU" dirty="0"/>
              <a:t>Зачем оно существует? Для предотвращения </a:t>
            </a:r>
            <a:r>
              <a:rPr lang="ru-RU" b="1" dirty="0"/>
              <a:t>неявного сужающего преобразования</a:t>
            </a:r>
            <a:r>
              <a:rPr lang="ru-RU" dirty="0"/>
              <a:t>!</a:t>
            </a:r>
            <a:r>
              <a:rPr lang="en-US" dirty="0"/>
              <a:t> </a:t>
            </a:r>
            <a:r>
              <a:rPr lang="ru-RU" dirty="0"/>
              <a:t>Ошибка на этапе компиляции:</a:t>
            </a:r>
          </a:p>
          <a:p>
            <a:pPr algn="just"/>
            <a:endParaRPr lang="ru-RU" dirty="0"/>
          </a:p>
          <a:p>
            <a:pPr algn="just"/>
            <a:endParaRPr lang="ru-RU" dirty="0"/>
          </a:p>
          <a:p>
            <a:pPr algn="just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C1EBD18-0D2A-4F00-9FFF-CE48DF630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182" y="2706350"/>
            <a:ext cx="2921635" cy="92493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965FFC1-E9C5-465D-91DF-1A7C1A472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5619" y="4628169"/>
            <a:ext cx="6040755" cy="85447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746186A-A355-4D15-BE51-384363774B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9243" y="5617580"/>
            <a:ext cx="9153509" cy="87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072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82F024-DA27-44A1-A2F6-E331F8B6D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6499"/>
          </a:xfrm>
        </p:spPr>
        <p:txBody>
          <a:bodyPr/>
          <a:lstStyle/>
          <a:p>
            <a:r>
              <a:rPr lang="ru-RU" dirty="0"/>
              <a:t>Ввод информации с клавиатуры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52BDDE-FBE9-4EE6-AAB8-BF42040AA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929"/>
            <a:ext cx="10515600" cy="4635034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Чтобы ввести информации в консоль, необходимо завести переменную (кусочек в оперативной памяти) для хранения данных. Пример ввода данных:</a:t>
            </a:r>
            <a:endParaRPr lang="en-US" dirty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en-US" dirty="0">
                <a:latin typeface="Consolas" panose="020B0609020204030204" pitchFamily="49" charset="0"/>
              </a:rPr>
              <a:t>	int a = 0; // </a:t>
            </a:r>
            <a:r>
              <a:rPr lang="ru-RU" dirty="0">
                <a:latin typeface="Consolas" panose="020B0609020204030204" pitchFamily="49" charset="0"/>
              </a:rPr>
              <a:t>целочисленная переменная</a:t>
            </a:r>
            <a:endParaRPr lang="en-US" dirty="0"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r>
              <a:rPr lang="en-US" dirty="0">
                <a:latin typeface="Consolas" panose="020B0609020204030204" pitchFamily="49" charset="0"/>
              </a:rPr>
              <a:t>	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“</a:t>
            </a:r>
            <a:r>
              <a:rPr lang="ru-RU" dirty="0">
                <a:latin typeface="Consolas" panose="020B0609020204030204" pitchFamily="49" charset="0"/>
              </a:rPr>
              <a:t>Введите число: </a:t>
            </a:r>
            <a:r>
              <a:rPr lang="en-US" dirty="0">
                <a:latin typeface="Consolas" panose="020B0609020204030204" pitchFamily="49" charset="0"/>
              </a:rPr>
              <a:t>”;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b="1" dirty="0">
                <a:latin typeface="Consolas" panose="020B0609020204030204" pitchFamily="49" charset="0"/>
              </a:rPr>
              <a:t>std::</a:t>
            </a:r>
            <a:r>
              <a:rPr lang="en-US" b="1" dirty="0" err="1">
                <a:latin typeface="Consolas" panose="020B0609020204030204" pitchFamily="49" charset="0"/>
              </a:rPr>
              <a:t>cin</a:t>
            </a:r>
            <a:r>
              <a:rPr lang="en-US" b="1" dirty="0">
                <a:latin typeface="Consolas" panose="020B0609020204030204" pitchFamily="49" charset="0"/>
              </a:rPr>
              <a:t> &gt;&gt; a;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</a:rPr>
              <a:t>//</a:t>
            </a:r>
            <a:r>
              <a:rPr lang="ru-RU" b="1" dirty="0">
                <a:latin typeface="Consolas" panose="020B0609020204030204" pitchFamily="49" charset="0"/>
              </a:rPr>
              <a:t> ввод с клавиатуры</a:t>
            </a:r>
            <a:endParaRPr lang="en-US" b="1" dirty="0"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r>
              <a:rPr lang="en-US" dirty="0">
                <a:latin typeface="Consolas" panose="020B0609020204030204" pitchFamily="49" charset="0"/>
              </a:rPr>
              <a:t>	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“</a:t>
            </a:r>
            <a:r>
              <a:rPr lang="ru-RU" dirty="0">
                <a:latin typeface="Consolas" panose="020B0609020204030204" pitchFamily="49" charset="0"/>
              </a:rPr>
              <a:t>В переменной </a:t>
            </a:r>
            <a:r>
              <a:rPr lang="en-US" dirty="0">
                <a:latin typeface="Consolas" panose="020B0609020204030204" pitchFamily="49" charset="0"/>
              </a:rPr>
              <a:t>‘a’</a:t>
            </a:r>
            <a:r>
              <a:rPr lang="ru-RU" dirty="0">
                <a:latin typeface="Consolas" panose="020B0609020204030204" pitchFamily="49" charset="0"/>
              </a:rPr>
              <a:t> хранится</a:t>
            </a:r>
            <a:r>
              <a:rPr lang="en-US" dirty="0">
                <a:latin typeface="Consolas" panose="020B0609020204030204" pitchFamily="49" charset="0"/>
              </a:rPr>
              <a:t>: ” &lt;&lt; a;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354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678C59-F732-4137-81BF-DDBAFFA46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6499"/>
          </a:xfrm>
        </p:spPr>
        <p:txBody>
          <a:bodyPr/>
          <a:lstStyle/>
          <a:p>
            <a:r>
              <a:rPr lang="ru-RU" dirty="0"/>
              <a:t>Ввод информации с клавиатуры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FEFE0C-550B-41E4-8EA4-DD27E3876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882"/>
            <a:ext cx="10515600" cy="4877081"/>
          </a:xfrm>
        </p:spPr>
        <p:txBody>
          <a:bodyPr/>
          <a:lstStyle/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ru-RU" dirty="0"/>
              <a:t>Таким образом, для ввода данных в компьютер необходимо использовать стандартную функцию </a:t>
            </a:r>
            <a:r>
              <a:rPr lang="en-US" b="1" dirty="0" err="1"/>
              <a:t>cin</a:t>
            </a:r>
            <a:r>
              <a:rPr lang="en-US" b="1" dirty="0"/>
              <a:t> </a:t>
            </a:r>
            <a:r>
              <a:rPr lang="ru-RU" dirty="0"/>
              <a:t>из пространства имён </a:t>
            </a:r>
            <a:r>
              <a:rPr lang="en-US" i="1" dirty="0"/>
              <a:t>std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b="1" i="1" dirty="0"/>
          </a:p>
          <a:p>
            <a:pPr marL="0" indent="0" algn="just">
              <a:buNone/>
            </a:pPr>
            <a:r>
              <a:rPr lang="ru-RU" dirty="0"/>
              <a:t>Примечание: заметьте, что здесь используется оператор потока ВВОДА: </a:t>
            </a:r>
            <a:r>
              <a:rPr lang="en-US" b="1" dirty="0"/>
              <a:t>&gt;&gt;</a:t>
            </a:r>
          </a:p>
          <a:p>
            <a:pPr marL="0" indent="0" algn="just">
              <a:buNone/>
            </a:pPr>
            <a:r>
              <a:rPr lang="ru-RU" dirty="0"/>
              <a:t>Для сравнения, оператор потока вывода: </a:t>
            </a:r>
            <a:r>
              <a:rPr lang="en-US" b="1" dirty="0"/>
              <a:t>&lt;&lt;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75922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06999B-3B94-4B87-81F2-FCEECF8E5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5110"/>
          </a:xfrm>
        </p:spPr>
        <p:txBody>
          <a:bodyPr/>
          <a:lstStyle/>
          <a:p>
            <a:r>
              <a:rPr lang="ru-RU" dirty="0"/>
              <a:t>Логические операции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4750EB-F1B9-4389-A824-1E4387BA8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2965"/>
            <a:ext cx="10515600" cy="4643998"/>
          </a:xfrm>
        </p:spPr>
        <p:txBody>
          <a:bodyPr/>
          <a:lstStyle/>
          <a:p>
            <a:pPr algn="just"/>
            <a:r>
              <a:rPr lang="ru-RU" dirty="0"/>
              <a:t>В компьютере элементарной (самой маленькой) единицей информации является </a:t>
            </a:r>
            <a:r>
              <a:rPr lang="ru-RU" i="1" dirty="0"/>
              <a:t>бит</a:t>
            </a:r>
            <a:r>
              <a:rPr lang="ru-RU" dirty="0"/>
              <a:t>, хранящий значение </a:t>
            </a:r>
            <a:r>
              <a:rPr lang="ru-RU" b="1" dirty="0"/>
              <a:t>истина</a:t>
            </a:r>
            <a:r>
              <a:rPr lang="ru-RU" dirty="0"/>
              <a:t> или </a:t>
            </a:r>
            <a:r>
              <a:rPr lang="ru-RU" b="1" dirty="0"/>
              <a:t>ложь </a:t>
            </a:r>
            <a:r>
              <a:rPr lang="ru-RU" dirty="0"/>
              <a:t>(</a:t>
            </a:r>
            <a:r>
              <a:rPr lang="en-US" dirty="0"/>
              <a:t>true/false</a:t>
            </a:r>
            <a:r>
              <a:rPr lang="ru-RU" dirty="0"/>
              <a:t>)</a:t>
            </a:r>
            <a:r>
              <a:rPr lang="en-US" dirty="0"/>
              <a:t>. </a:t>
            </a:r>
            <a:r>
              <a:rPr lang="ru-RU" dirty="0"/>
              <a:t>Существуют </a:t>
            </a:r>
            <a:r>
              <a:rPr lang="ru-RU" i="1" dirty="0"/>
              <a:t>логические </a:t>
            </a:r>
            <a:r>
              <a:rPr lang="ru-RU" dirty="0"/>
              <a:t>операции над битами:</a:t>
            </a:r>
          </a:p>
          <a:p>
            <a:pPr algn="just"/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C6F1A116-C762-4FF8-95A0-FB6D5D45B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276807"/>
              </p:ext>
            </p:extLst>
          </p:nvPr>
        </p:nvGraphicFramePr>
        <p:xfrm>
          <a:off x="367553" y="2793393"/>
          <a:ext cx="11394140" cy="3889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574">
                  <a:extLst>
                    <a:ext uri="{9D8B030D-6E8A-4147-A177-3AD203B41FA5}">
                      <a16:colId xmlns:a16="http://schemas.microsoft.com/office/drawing/2014/main" val="2084255809"/>
                    </a:ext>
                  </a:extLst>
                </a:gridCol>
                <a:gridCol w="700229">
                  <a:extLst>
                    <a:ext uri="{9D8B030D-6E8A-4147-A177-3AD203B41FA5}">
                      <a16:colId xmlns:a16="http://schemas.microsoft.com/office/drawing/2014/main" val="3997170173"/>
                    </a:ext>
                  </a:extLst>
                </a:gridCol>
                <a:gridCol w="2325656">
                  <a:extLst>
                    <a:ext uri="{9D8B030D-6E8A-4147-A177-3AD203B41FA5}">
                      <a16:colId xmlns:a16="http://schemas.microsoft.com/office/drawing/2014/main" val="664536346"/>
                    </a:ext>
                  </a:extLst>
                </a:gridCol>
                <a:gridCol w="2626659">
                  <a:extLst>
                    <a:ext uri="{9D8B030D-6E8A-4147-A177-3AD203B41FA5}">
                      <a16:colId xmlns:a16="http://schemas.microsoft.com/office/drawing/2014/main" val="3130316678"/>
                    </a:ext>
                  </a:extLst>
                </a:gridCol>
                <a:gridCol w="2160494">
                  <a:extLst>
                    <a:ext uri="{9D8B030D-6E8A-4147-A177-3AD203B41FA5}">
                      <a16:colId xmlns:a16="http://schemas.microsoft.com/office/drawing/2014/main" val="3327028742"/>
                    </a:ext>
                  </a:extLst>
                </a:gridCol>
                <a:gridCol w="2913528">
                  <a:extLst>
                    <a:ext uri="{9D8B030D-6E8A-4147-A177-3AD203B41FA5}">
                      <a16:colId xmlns:a16="http://schemas.microsoft.com/office/drawing/2014/main" val="3121867216"/>
                    </a:ext>
                  </a:extLst>
                </a:gridCol>
              </a:tblGrid>
              <a:tr h="75413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X</a:t>
                      </a:r>
                      <a:endParaRPr lang="ru-R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Y</a:t>
                      </a:r>
                      <a:endParaRPr lang="ru-R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X OR Y </a:t>
                      </a:r>
                      <a:r>
                        <a:rPr lang="ru-RU" sz="2400" dirty="0"/>
                        <a:t>(ИЛИ)</a:t>
                      </a:r>
                      <a:endParaRPr lang="en-US" sz="2400" dirty="0"/>
                    </a:p>
                    <a:p>
                      <a:pPr algn="ctr"/>
                      <a:r>
                        <a:rPr lang="ru-RU" sz="2400" dirty="0"/>
                        <a:t>В С++: </a:t>
                      </a:r>
                      <a:r>
                        <a:rPr lang="en-US" sz="2400" dirty="0"/>
                        <a:t>X || Y</a:t>
                      </a:r>
                      <a:endParaRPr lang="ru-R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X AND Y </a:t>
                      </a:r>
                      <a:r>
                        <a:rPr lang="ru-RU" sz="2400" dirty="0"/>
                        <a:t>(И) )</a:t>
                      </a:r>
                      <a:endParaRPr lang="en-US" sz="2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/>
                        <a:t>В С++: </a:t>
                      </a:r>
                      <a:r>
                        <a:rPr lang="en-US" sz="2400" dirty="0"/>
                        <a:t>X &amp;&amp; Y</a:t>
                      </a:r>
                      <a:endParaRPr lang="ru-R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NOT X (</a:t>
                      </a:r>
                      <a:r>
                        <a:rPr lang="ru-RU" sz="2400" dirty="0"/>
                        <a:t>НЕ</a:t>
                      </a:r>
                      <a:r>
                        <a:rPr lang="en-US" sz="2400" dirty="0"/>
                        <a:t>)</a:t>
                      </a:r>
                    </a:p>
                    <a:p>
                      <a:pPr algn="ctr"/>
                      <a:r>
                        <a:rPr lang="ru-RU" sz="2400" dirty="0"/>
                        <a:t>В </a:t>
                      </a:r>
                      <a:r>
                        <a:rPr lang="en-US" sz="2400" dirty="0"/>
                        <a:t>C++: </a:t>
                      </a:r>
                      <a:r>
                        <a:rPr lang="ru-RU" sz="2400" dirty="0"/>
                        <a:t>!</a:t>
                      </a:r>
                      <a:r>
                        <a:rPr lang="en-US" sz="2400" dirty="0"/>
                        <a:t>X</a:t>
                      </a:r>
                      <a:endParaRPr lang="ru-R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X EQ Y (</a:t>
                      </a:r>
                      <a:r>
                        <a:rPr lang="ru-RU" sz="2400" dirty="0"/>
                        <a:t>РАВНО</a:t>
                      </a:r>
                      <a:r>
                        <a:rPr lang="en-US" sz="2400" dirty="0"/>
                        <a:t>)</a:t>
                      </a:r>
                      <a:endParaRPr lang="ru-RU" sz="2400" dirty="0"/>
                    </a:p>
                    <a:p>
                      <a:pPr algn="ctr"/>
                      <a:r>
                        <a:rPr lang="ru-RU" sz="2400" dirty="0"/>
                        <a:t>В С++: </a:t>
                      </a:r>
                      <a:r>
                        <a:rPr lang="en-US" sz="2400" dirty="0"/>
                        <a:t>X == Y</a:t>
                      </a:r>
                      <a:endParaRPr lang="ru-R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1384214"/>
                  </a:ext>
                </a:extLst>
              </a:tr>
              <a:tr h="560919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ru-R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ru-R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6028355"/>
                  </a:ext>
                </a:extLst>
              </a:tr>
              <a:tr h="560919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ru-R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ru-R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167683"/>
                  </a:ext>
                </a:extLst>
              </a:tr>
              <a:tr h="560919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ru-R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ru-R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2227010"/>
                  </a:ext>
                </a:extLst>
              </a:tr>
              <a:tr h="560919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ru-R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  <a:endParaRPr lang="ru-R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365431"/>
                  </a:ext>
                </a:extLst>
              </a:tr>
              <a:tr h="560919">
                <a:tc gridSpan="6"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Примечание: существуют и другие операции (импликация, исключающее «или»). Для них нет встроенного оператора в </a:t>
                      </a:r>
                      <a:r>
                        <a:rPr lang="en-US" sz="2400" dirty="0"/>
                        <a:t>C++.</a:t>
                      </a:r>
                      <a:r>
                        <a:rPr lang="ru-RU" sz="2400" dirty="0"/>
                        <a:t> Можете поискать об этом в интернете </a:t>
                      </a:r>
                      <a:r>
                        <a:rPr lang="ru-RU" sz="2400" dirty="0">
                          <a:sym typeface="Wingdings" panose="05000000000000000000" pitchFamily="2" charset="2"/>
                        </a:rPr>
                        <a:t></a:t>
                      </a:r>
                      <a:endParaRPr lang="ru-RU" sz="2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2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2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2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2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4114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0541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B3BCBA-5D97-41EF-AE2E-996F003FC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7863"/>
          </a:xfrm>
        </p:spPr>
        <p:txBody>
          <a:bodyPr/>
          <a:lstStyle/>
          <a:p>
            <a:r>
              <a:rPr lang="ru-RU" dirty="0"/>
              <a:t>Арифметические операции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954C2F1-B775-414E-A10B-D10558AE75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4435" y="1371600"/>
            <a:ext cx="6019800" cy="4777385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E8F49E8-BF20-47EC-8BFA-4BFE8CD7E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134" y="2172727"/>
            <a:ext cx="4874559" cy="334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508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EA0AD2-E4DF-400B-937F-1B1BC314B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ru-RU" dirty="0"/>
              <a:t>Инкремент и декремент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806DC9-18F5-4095-8417-5CEB90020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4329"/>
            <a:ext cx="10515600" cy="4617104"/>
          </a:xfrm>
        </p:spPr>
        <p:txBody>
          <a:bodyPr/>
          <a:lstStyle/>
          <a:p>
            <a:pPr algn="just"/>
            <a:r>
              <a:rPr lang="ru-RU" dirty="0"/>
              <a:t>Инкремент – обозначается конструкцией ++. Данный оператор увеличивает содержимое любой переменной на единицу и перезаписывает значение переменной</a:t>
            </a:r>
          </a:p>
          <a:p>
            <a:pPr algn="just"/>
            <a:r>
              <a:rPr lang="ru-RU" dirty="0"/>
              <a:t>Декремент – обозначается конструкцией --. Данный оператор уменьшает содержимое любой переменной на единицу и перезаписывает значение переменной.</a:t>
            </a:r>
          </a:p>
          <a:p>
            <a:pPr marL="0" indent="0" algn="just">
              <a:buNone/>
            </a:pPr>
            <a:r>
              <a:rPr lang="ru-RU" dirty="0"/>
              <a:t>Пример:</a:t>
            </a:r>
          </a:p>
          <a:p>
            <a:pPr marL="0" indent="0" algn="just">
              <a:buNone/>
            </a:pPr>
            <a:r>
              <a:rPr lang="en-US" dirty="0"/>
              <a:t>int a = 5; a++; // </a:t>
            </a:r>
            <a:r>
              <a:rPr lang="ru-RU" dirty="0"/>
              <a:t>В переменной </a:t>
            </a:r>
            <a:r>
              <a:rPr lang="en-US" dirty="0"/>
              <a:t>‘a’</a:t>
            </a:r>
            <a:r>
              <a:rPr lang="ru-RU" dirty="0"/>
              <a:t> будет храниться число 6.</a:t>
            </a:r>
          </a:p>
          <a:p>
            <a:pPr marL="0" indent="0" algn="just">
              <a:buNone/>
            </a:pPr>
            <a:r>
              <a:rPr lang="en-US" dirty="0"/>
              <a:t>int b = 5; b</a:t>
            </a:r>
            <a:r>
              <a:rPr lang="ru-RU" dirty="0"/>
              <a:t>--</a:t>
            </a:r>
            <a:r>
              <a:rPr lang="en-US" dirty="0"/>
              <a:t>; // </a:t>
            </a:r>
            <a:r>
              <a:rPr lang="ru-RU" dirty="0"/>
              <a:t>В переменной </a:t>
            </a:r>
            <a:r>
              <a:rPr lang="en-US" dirty="0"/>
              <a:t>‘b’</a:t>
            </a:r>
            <a:r>
              <a:rPr lang="ru-RU" dirty="0"/>
              <a:t> будет храниться число 4.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93115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500745-96F8-48D7-A99E-0DD465515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Инкремент и декремент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C3237B-0805-4F1B-A5E9-44A8D1573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071"/>
            <a:ext cx="10515600" cy="5056094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Есть небольшой нюанс работы этих операторов. Их можно записывать как справа от переменной, так и слева!</a:t>
            </a:r>
            <a:r>
              <a:rPr lang="en-US" dirty="0"/>
              <a:t> </a:t>
            </a:r>
            <a:r>
              <a:rPr lang="ru-RU" dirty="0"/>
              <a:t>Запись влияет на момент </a:t>
            </a:r>
            <a:r>
              <a:rPr lang="ru-RU" i="1" dirty="0"/>
              <a:t>перезаписи </a:t>
            </a:r>
            <a:r>
              <a:rPr lang="ru-RU" dirty="0"/>
              <a:t>значения в переменную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3AAADC-2D1B-4488-A0EB-48D06121A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896" y="2977497"/>
            <a:ext cx="6584208" cy="351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770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BAABBA-13CE-49CC-AE8A-9C56708A2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/>
          <a:lstStyle/>
          <a:p>
            <a:r>
              <a:rPr lang="ru-RU" dirty="0"/>
              <a:t>Приоритеты операций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AEC420-7C16-4F68-AACD-FFC088238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4376"/>
            <a:ext cx="10515600" cy="5002587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Данные с сайта: </a:t>
            </a:r>
            <a:r>
              <a:rPr lang="en-US" dirty="0"/>
              <a:t>https://pvs-studio.ru/ru/blog/terms/0064/</a:t>
            </a:r>
            <a:endParaRPr lang="ru-RU" dirty="0"/>
          </a:p>
        </p:txBody>
      </p:sp>
      <p:pic>
        <p:nvPicPr>
          <p:cNvPr id="4" name="Объект 19">
            <a:extLst>
              <a:ext uri="{FF2B5EF4-FFF2-40B4-BE49-F238E27FC236}">
                <a16:creationId xmlns:a16="http://schemas.microsoft.com/office/drawing/2014/main" id="{DCF5D0BB-2742-490E-B198-41ADB3C9A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47" y="1825625"/>
            <a:ext cx="5712730" cy="435133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33184E-929D-4A34-B26F-CE28258D6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114" y="2153771"/>
            <a:ext cx="5548569" cy="402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325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9572A4-78EB-410F-972C-9771186A1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>
                    <a:lumMod val="65000"/>
                  </a:schemeClr>
                </a:solidFill>
              </a:rPr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24B8FB-9DC3-45B7-B6D0-4ECC4A1A5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Попрактикуйтесь в выводе таблицы истинности (слайд 11). Пример: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35264C4-A2AA-4177-A2E5-26747292B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37326"/>
            <a:ext cx="12192000" cy="259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288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131548-B332-4E6A-8878-A67C122E2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>
                    <a:lumMod val="65000"/>
                  </a:schemeClr>
                </a:solidFill>
              </a:rPr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25D82F-3311-4FA6-827A-85DC80D5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/>
              <a:t>Разработать алгоритм и написать программный код.</a:t>
            </a:r>
          </a:p>
          <a:p>
            <a:pPr marL="0" indent="0" algn="just">
              <a:buNone/>
            </a:pPr>
            <a:r>
              <a:rPr lang="ru-RU" dirty="0"/>
              <a:t>За один день хомячок съедает </a:t>
            </a:r>
            <a:r>
              <a:rPr lang="en-US" dirty="0"/>
              <a:t>X</a:t>
            </a:r>
            <a:r>
              <a:rPr lang="ru-RU" dirty="0"/>
              <a:t> грамм корма. Написать программу, определяющую закупку корма в килограммах на 30 дней.</a:t>
            </a:r>
          </a:p>
          <a:p>
            <a:pPr marL="0" indent="0" algn="just">
              <a:buNone/>
            </a:pPr>
            <a:r>
              <a:rPr lang="ru-RU" dirty="0"/>
              <a:t>Ниже представлен пример для проверки программы на корректность.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Input (</a:t>
            </a:r>
            <a:r>
              <a:rPr lang="ru-RU" dirty="0"/>
              <a:t>ввод</a:t>
            </a:r>
            <a:r>
              <a:rPr lang="en-US" dirty="0"/>
              <a:t>) </a:t>
            </a:r>
            <a:r>
              <a:rPr lang="ru-RU" dirty="0"/>
              <a:t>расход корма за день = 20 г.</a:t>
            </a:r>
            <a:endParaRPr lang="en-US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Output (</a:t>
            </a:r>
            <a:r>
              <a:rPr lang="ru-RU" dirty="0"/>
              <a:t>вывод</a:t>
            </a:r>
            <a:r>
              <a:rPr lang="en-US" dirty="0"/>
              <a:t>)</a:t>
            </a:r>
            <a:r>
              <a:rPr lang="ru-RU" dirty="0"/>
              <a:t>: месячный расход корма = 0.6 кг.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11897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DA665B-4CAF-4CE0-A63E-6F8709D4B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>
                    <a:lumMod val="65000"/>
                  </a:schemeClr>
                </a:solidFill>
              </a:rPr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964552-49DA-4866-8BB9-4469096D4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/>
              <a:t>Усовершенствовать код предыдущего задания</a:t>
            </a:r>
          </a:p>
          <a:p>
            <a:pPr marL="0" indent="0" algn="just">
              <a:buNone/>
            </a:pPr>
            <a:r>
              <a:rPr lang="ru-RU" dirty="0"/>
              <a:t>Выведите сообщение-приглашение для пользователя, чтобы начать работу. Программа должна считать с консоли значение дневного расхода корма.</a:t>
            </a:r>
          </a:p>
          <a:p>
            <a:pPr marL="0" indent="0" algn="just">
              <a:buNone/>
            </a:pPr>
            <a:r>
              <a:rPr lang="ru-RU" dirty="0"/>
              <a:t>Ниже представлен пример для проверки программы на корректность.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Input (</a:t>
            </a:r>
            <a:r>
              <a:rPr lang="ru-RU" dirty="0"/>
              <a:t>ввод</a:t>
            </a:r>
            <a:r>
              <a:rPr lang="en-US" dirty="0"/>
              <a:t>) </a:t>
            </a:r>
            <a:r>
              <a:rPr lang="ru-RU" dirty="0"/>
              <a:t>расход корма за день = 20 г.</a:t>
            </a:r>
            <a:endParaRPr lang="en-US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Output (</a:t>
            </a:r>
            <a:r>
              <a:rPr lang="ru-RU" dirty="0"/>
              <a:t>вывод</a:t>
            </a:r>
            <a:r>
              <a:rPr lang="en-US" dirty="0"/>
              <a:t>)</a:t>
            </a:r>
            <a:r>
              <a:rPr lang="ru-RU" dirty="0"/>
              <a:t>: месячный расход корма = 0.6 кг.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6529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CBEDE0-4529-4D30-A170-35F1C5496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>
                    <a:lumMod val="65000"/>
                  </a:schemeClr>
                </a:solidFill>
              </a:rPr>
              <a:t>Задание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F6842F2-EB49-4894-84F8-5CB613BA1D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72234"/>
                <a:ext cx="10515600" cy="3326187"/>
              </a:xfrm>
            </p:spPr>
            <p:txBody>
              <a:bodyPr/>
              <a:lstStyle/>
              <a:p>
                <a:pPr algn="just"/>
                <a:r>
                  <a:rPr lang="ru-RU" dirty="0"/>
                  <a:t>Вычислить площадь и длину окружности по входному радиусу.</a:t>
                </a:r>
              </a:p>
              <a:p>
                <a:pPr marL="0" indent="0" algn="just">
                  <a:buNone/>
                </a:pPr>
                <a:r>
                  <a:rPr lang="ru-RU" dirty="0"/>
                  <a:t>Формула площади: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b="0" dirty="0"/>
              </a:p>
              <a:p>
                <a:pPr marL="0" indent="0" algn="just">
                  <a:buNone/>
                </a:pPr>
                <a:r>
                  <a:rPr lang="ru-RU" dirty="0"/>
                  <a:t>Формула длины окружности: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ru-RU" dirty="0"/>
              </a:p>
              <a:p>
                <a:pPr marL="0" indent="0" algn="just">
                  <a:buNone/>
                </a:pPr>
                <a:r>
                  <a:rPr lang="ru-RU" dirty="0"/>
                  <a:t>Константа: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≈3.14159…</m:t>
                    </m:r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ru-RU" dirty="0"/>
                  <a:t>Условие: оформить диалог с пользователем в консоли (что нужно ввести пользователю, что программа вычислила для пользователя и т.п.)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F6842F2-EB49-4894-84F8-5CB613BA1D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72234"/>
                <a:ext cx="10515600" cy="3326187"/>
              </a:xfrm>
              <a:blipFill>
                <a:blip r:embed="rId2"/>
                <a:stretch>
                  <a:fillRect l="-1217" t="-3119" r="-1159" b="-42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3251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3150F8-F567-4341-AABD-80F98FBA2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Разминка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E3587-91EC-426E-9975-FF8A27A0C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Найти ошибки в программном коде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97AACE4-F569-4E6E-9CEB-28F3303FC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777" y="2325623"/>
            <a:ext cx="6862445" cy="368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775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2009FF-88FB-47D6-82F1-EBD00CA90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FD7436-FB3E-491B-8ED7-B1DB5FB23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Составить и реализовать программный код, рассчитывающий скидку при покупке однотипных товаров по дисконтной карте.</a:t>
            </a:r>
          </a:p>
          <a:p>
            <a:pPr marL="0" indent="0" algn="just">
              <a:buNone/>
            </a:pPr>
            <a:r>
              <a:rPr lang="ru-RU" sz="2400" dirty="0"/>
              <a:t>Данные:</a:t>
            </a:r>
          </a:p>
          <a:p>
            <a:pPr algn="just"/>
            <a:r>
              <a:rPr lang="ru-RU" sz="2400" dirty="0"/>
              <a:t>Скидка по дисконтной карте (например, 0.05) – без ввода с клавиатуры</a:t>
            </a:r>
          </a:p>
          <a:p>
            <a:pPr algn="just"/>
            <a:r>
              <a:rPr lang="ru-RU" sz="2400" dirty="0"/>
              <a:t>Цена за единицу товара (например, 10.5) – ввод с клавиатуры</a:t>
            </a:r>
          </a:p>
          <a:p>
            <a:pPr algn="just"/>
            <a:r>
              <a:rPr lang="ru-RU" sz="2400" dirty="0"/>
              <a:t>Количество товаров (например, 5) – ввод с клавиатуры</a:t>
            </a:r>
          </a:p>
          <a:p>
            <a:pPr marL="0" indent="0" algn="just">
              <a:buNone/>
            </a:pPr>
            <a:r>
              <a:rPr lang="ru-RU" sz="2400" dirty="0"/>
              <a:t>Вывод информации:</a:t>
            </a:r>
          </a:p>
          <a:p>
            <a:pPr marL="0" indent="0" algn="just">
              <a:buNone/>
            </a:pPr>
            <a:r>
              <a:rPr lang="ru-RU" sz="2400" dirty="0"/>
              <a:t>Итоговая стоимость = кол-во * цена – кол-во * цена * скидка</a:t>
            </a:r>
          </a:p>
          <a:p>
            <a:pPr marL="0" indent="0" algn="just">
              <a:buNone/>
            </a:pPr>
            <a:r>
              <a:rPr lang="ru-RU" sz="2400" dirty="0"/>
              <a:t>Необходимо оформить и вывести диалог с пользователем при введении новых данных и выводе информации – итоговой стоимости.</a:t>
            </a:r>
          </a:p>
        </p:txBody>
      </p:sp>
    </p:spTree>
    <p:extLst>
      <p:ext uri="{BB962C8B-B14F-4D97-AF65-F5344CB8AC3E}">
        <p14:creationId xmlns:p14="http://schemas.microsoft.com/office/powerpoint/2010/main" val="823537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1359</Words>
  <Application>Microsoft Office PowerPoint</Application>
  <PresentationFormat>Широкоэкранный</PresentationFormat>
  <Paragraphs>229</Paragraphs>
  <Slides>26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Consolas</vt:lpstr>
      <vt:lpstr>Wingdings</vt:lpstr>
      <vt:lpstr>Тема Office</vt:lpstr>
      <vt:lpstr>Основы программирования на языке C++</vt:lpstr>
      <vt:lpstr>План презентации</vt:lpstr>
      <vt:lpstr>Задание (домашнее)</vt:lpstr>
      <vt:lpstr>Понятие литерала</vt:lpstr>
      <vt:lpstr>Вывод информации в окно консоли</vt:lpstr>
      <vt:lpstr>Работа с кириллицей в консоли</vt:lpstr>
      <vt:lpstr>Типы данных</vt:lpstr>
      <vt:lpstr>Типы данных (дополненная версия)</vt:lpstr>
      <vt:lpstr>А если мы хотим узнать, сколько байт отводится под тип данных нашим компилятором? </vt:lpstr>
      <vt:lpstr>Преобразование типов</vt:lpstr>
      <vt:lpstr>Преобразование типов</vt:lpstr>
      <vt:lpstr>Пример для преобразования</vt:lpstr>
      <vt:lpstr>Унифицированная инициализация</vt:lpstr>
      <vt:lpstr>Ввод информации с клавиатуры</vt:lpstr>
      <vt:lpstr>Ввод информации с клавиатуры</vt:lpstr>
      <vt:lpstr>Логические операции</vt:lpstr>
      <vt:lpstr>Арифметические операции</vt:lpstr>
      <vt:lpstr>Инкремент и декремент</vt:lpstr>
      <vt:lpstr>Инкремент и декремент</vt:lpstr>
      <vt:lpstr>Приоритеты операций</vt:lpstr>
      <vt:lpstr>Задание</vt:lpstr>
      <vt:lpstr>Задание</vt:lpstr>
      <vt:lpstr>Задание</vt:lpstr>
      <vt:lpstr>Задание</vt:lpstr>
      <vt:lpstr>Разминка</vt:lpstr>
      <vt:lpstr>Задание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программирования на языке C++</dc:title>
  <dc:creator>varitch.rodion.2@gmail.com</dc:creator>
  <cp:lastModifiedBy>varitch.rodion.2@gmail.com</cp:lastModifiedBy>
  <cp:revision>41</cp:revision>
  <dcterms:created xsi:type="dcterms:W3CDTF">2026-07-03T10:26:18Z</dcterms:created>
  <dcterms:modified xsi:type="dcterms:W3CDTF">2026-07-06T12:36:24Z</dcterms:modified>
</cp:coreProperties>
</file>