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0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1" r:id="rId17"/>
    <p:sldId id="272" r:id="rId18"/>
    <p:sldId id="273" r:id="rId19"/>
    <p:sldId id="275" r:id="rId20"/>
    <p:sldId id="274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08" autoAdjust="0"/>
    <p:restoredTop sz="94660"/>
  </p:normalViewPr>
  <p:slideViewPr>
    <p:cSldViewPr snapToGrid="0">
      <p:cViewPr varScale="1">
        <p:scale>
          <a:sx n="84" d="100"/>
          <a:sy n="84" d="100"/>
        </p:scale>
        <p:origin x="8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254A58-987A-4746-A0C9-36911FF983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88C0C4D-7E06-4F3B-83B1-820929423C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6C2DCF-77AE-44D7-8EAA-0F9450E8F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37824-1E90-4B0A-8A4E-010893FFA15C}" type="datetimeFigureOut">
              <a:rPr lang="ru-RU" smtClean="0"/>
              <a:t>08.07.2026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17D7B96-5770-4C6D-959F-EC6BE7BE1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FDC522C-7C59-4E93-B382-61B6CC89E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AB5EE-3A5C-4AD2-A09D-82A6CFF1C9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5591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291EDE-BF0C-4447-8F00-657A82184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0A2AA6-DED6-4004-A6F2-F58B1B921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1E80ECB-04D2-46C7-B014-DF80B77EC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37824-1E90-4B0A-8A4E-010893FFA15C}" type="datetimeFigureOut">
              <a:rPr lang="ru-RU" smtClean="0"/>
              <a:t>08.07.2026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A48F5F3-14AB-41A8-87A2-ECE21526B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5CBCA5D-869E-4A6E-B121-30D3D5215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AB5EE-3A5C-4AD2-A09D-82A6CFF1C9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2846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69E297-2167-43F4-8605-451FBA416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CB3BBE7-3AC2-4606-8573-3B6185BDB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AD7E39B-6F85-4ECF-9406-24E4B2624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37824-1E90-4B0A-8A4E-010893FFA15C}" type="datetimeFigureOut">
              <a:rPr lang="ru-RU" smtClean="0"/>
              <a:t>08.07.2026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9398EAA-7CAF-4363-910D-18E5DADFF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799BBE6-C161-4C64-9362-E4DDB7E35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AB5EE-3A5C-4AD2-A09D-82A6CFF1C9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1343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8A2D95-295F-41F5-B249-CADE45C54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3A194F-8796-4481-96D4-9FC7E5964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4B24FAA-AF39-45C0-B3F8-AFEF8B0299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102689B-41A2-4061-8DD7-153432393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37824-1E90-4B0A-8A4E-010893FFA15C}" type="datetimeFigureOut">
              <a:rPr lang="ru-RU" smtClean="0"/>
              <a:t>08.07.2026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320BD4-145D-490D-BB06-871A0729C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55F4645-063C-4C6F-A68F-684ADC888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AB5EE-3A5C-4AD2-A09D-82A6CFF1C9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6713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4D20BB-EFE9-4EB5-B928-B83D1A547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0F2FF02-EE86-4A76-900D-ADF4FFF184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F36B84F-581D-440D-95F7-809320001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E2F09D4-9AB6-43AD-9EF2-A7A40B7B5B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DCC2046-1569-4702-939D-DA2619CA11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F1B9549-A5AE-41F0-94EF-337F41F73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37824-1E90-4B0A-8A4E-010893FFA15C}" type="datetimeFigureOut">
              <a:rPr lang="ru-RU" smtClean="0"/>
              <a:t>08.07.2026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98E4381-93EC-4550-87AB-4E2957628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216C7E6-183A-469C-AC9C-898671A03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AB5EE-3A5C-4AD2-A09D-82A6CFF1C9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6888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2A05B5-44CA-4BA1-B798-C926E6805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B5151EE-E757-4400-915B-BF77F88FF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37824-1E90-4B0A-8A4E-010893FFA15C}" type="datetimeFigureOut">
              <a:rPr lang="ru-RU" smtClean="0"/>
              <a:t>08.07.2026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0AE1ACC-656D-47E9-B561-C496A7DD0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AB15B99-3798-4369-91C9-CE08E23A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AB5EE-3A5C-4AD2-A09D-82A6CFF1C9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362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6144E4C-2B19-4821-AE0D-21A7C8591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37824-1E90-4B0A-8A4E-010893FFA15C}" type="datetimeFigureOut">
              <a:rPr lang="ru-RU" smtClean="0"/>
              <a:t>08.07.2026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F969839-42F4-430D-924E-370740ED3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D0C523D-80F5-425F-8F60-DFB0D218C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AB5EE-3A5C-4AD2-A09D-82A6CFF1C9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3810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7125EE-8EC2-48DF-96D8-54F415276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A77FC5-FB4D-45A9-81AD-E913B9619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2715A2F-372D-46D0-8AAF-C7B0CBE209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D598F4D-2BAC-4A5C-8FA2-74164CD88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37824-1E90-4B0A-8A4E-010893FFA15C}" type="datetimeFigureOut">
              <a:rPr lang="ru-RU" smtClean="0"/>
              <a:t>08.07.2026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D8506C5-7312-4D6C-8A06-DB799068C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A154405-E9DE-4A63-A829-01BD6FF06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AB5EE-3A5C-4AD2-A09D-82A6CFF1C9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9747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4190F1-BC38-4E8C-8969-299C06FD3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683B098-8391-4BC5-B952-73B5EA03D2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44FCC2D-AEFB-41D7-8CEE-AD11CE8F4E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BDC4362-6ABB-4E20-80F0-356C7FAA2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37824-1E90-4B0A-8A4E-010893FFA15C}" type="datetimeFigureOut">
              <a:rPr lang="ru-RU" smtClean="0"/>
              <a:t>08.07.2026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A605422-F786-469B-987F-3DF534780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19199B9-4A3B-4B7A-8ABF-CD845C6C5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AB5EE-3A5C-4AD2-A09D-82A6CFF1C9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8235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EA250F-D774-41A1-9CBA-240199F4F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351162A-B773-4CA6-905C-BDE4F5474C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80D131B-E418-4756-8C69-345D75F3D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37824-1E90-4B0A-8A4E-010893FFA15C}" type="datetimeFigureOut">
              <a:rPr lang="ru-RU" smtClean="0"/>
              <a:t>08.07.2026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BD09DF9-7D41-40A3-9D1A-C0E967EBF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D01D075-0C64-4A75-8B5B-3FE0A0724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AB5EE-3A5C-4AD2-A09D-82A6CFF1C9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2085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3BB5403-673D-4840-A509-DE6772C277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48A5070-C046-48AC-9E58-A76008707E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ABD1D09-3301-4DFC-8F4E-53A42B224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37824-1E90-4B0A-8A4E-010893FFA15C}" type="datetimeFigureOut">
              <a:rPr lang="ru-RU" smtClean="0"/>
              <a:t>08.07.2026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6E17BE-F959-4D52-8493-C21ACFCAB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7FFA661-E350-480A-AFEF-E1B147289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AB5EE-3A5C-4AD2-A09D-82A6CFF1C9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8478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9E023A-68B0-4838-B66F-15B0320B4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48F39CE-1320-48BA-9C4F-A9398AA6E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CC68490-B47E-493E-99A3-F5150B051D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437824-1E90-4B0A-8A4E-010893FFA15C}" type="datetimeFigureOut">
              <a:rPr lang="ru-RU" smtClean="0"/>
              <a:t>08.07.2026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9BAFC02-A56C-42D6-8D8A-D429A9C04A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B2F0583-DD26-4ED2-B79A-00AE2BB0C9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DAB5EE-3A5C-4AD2-A09D-82A6CFF1C9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5183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4CD2F0-C707-4F86-B62E-4768DC919C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Основы программирования на языке </a:t>
            </a:r>
            <a:r>
              <a:rPr lang="en-US" dirty="0"/>
              <a:t>C++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EA06482-F482-4D7A-BA72-169D48C171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r"/>
            <a:endParaRPr lang="ru-RU" dirty="0"/>
          </a:p>
          <a:p>
            <a:pPr algn="r"/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Условный оператор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if</a:t>
            </a:r>
            <a:endParaRPr lang="ru-RU" dirty="0">
              <a:solidFill>
                <a:schemeClr val="bg1">
                  <a:lumMod val="50000"/>
                </a:schemeClr>
              </a:solidFill>
            </a:endParaRPr>
          </a:p>
          <a:p>
            <a:pPr algn="r"/>
            <a:r>
              <a:rPr lang="ru-RU" dirty="0"/>
              <a:t>Конструкция </a:t>
            </a:r>
            <a:r>
              <a:rPr lang="en-US" dirty="0"/>
              <a:t>switch</a:t>
            </a:r>
            <a:r>
              <a:rPr lang="ru-RU" dirty="0"/>
              <a:t>-</a:t>
            </a:r>
            <a:r>
              <a:rPr lang="en-US" dirty="0"/>
              <a:t>case</a:t>
            </a:r>
          </a:p>
          <a:p>
            <a:pPr algn="r"/>
            <a:r>
              <a:rPr lang="en-US" dirty="0"/>
              <a:t>0</a:t>
            </a:r>
            <a:r>
              <a:rPr lang="ru-RU" dirty="0"/>
              <a:t>8</a:t>
            </a:r>
            <a:r>
              <a:rPr lang="en-US" dirty="0"/>
              <a:t>.07.2026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3971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DE76A7-4EB0-438D-A879-65A6D0FDF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 презентации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BF3C48F-416E-4836-84D4-84058D8CF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9235" y="1398494"/>
            <a:ext cx="10515600" cy="4778469"/>
          </a:xfrm>
        </p:spPr>
        <p:txBody>
          <a:bodyPr/>
          <a:lstStyle/>
          <a:p>
            <a:r>
              <a:rPr lang="ru-RU" sz="2000" dirty="0"/>
              <a:t>Домашнее задание (от 08.07)</a:t>
            </a:r>
            <a:endParaRPr lang="en-US" sz="2000" dirty="0"/>
          </a:p>
          <a:p>
            <a:r>
              <a:rPr lang="ru-RU" sz="2000" dirty="0"/>
              <a:t>Знакомство с ветвящимися алгоритмами (+ примеры)</a:t>
            </a:r>
          </a:p>
          <a:p>
            <a:r>
              <a:rPr lang="ru-RU" sz="2000" dirty="0"/>
              <a:t>Операторы сравнения</a:t>
            </a:r>
          </a:p>
          <a:p>
            <a:r>
              <a:rPr lang="ru-RU" sz="2000" dirty="0"/>
              <a:t>Связка условий</a:t>
            </a:r>
          </a:p>
          <a:p>
            <a:r>
              <a:rPr lang="ru-RU" sz="2000" dirty="0"/>
              <a:t>Лесенка </a:t>
            </a:r>
            <a:r>
              <a:rPr lang="en-US" sz="2000" dirty="0"/>
              <a:t>if – else if</a:t>
            </a:r>
            <a:endParaRPr lang="ru-RU" sz="2000" dirty="0"/>
          </a:p>
          <a:p>
            <a:r>
              <a:rPr lang="ru-RU" sz="2000" dirty="0">
                <a:solidFill>
                  <a:schemeClr val="bg1">
                    <a:lumMod val="75000"/>
                  </a:schemeClr>
                </a:solidFill>
              </a:rPr>
              <a:t>Задача на закрепление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 (</a:t>
            </a:r>
            <a:r>
              <a:rPr lang="ru-RU" sz="2000" dirty="0">
                <a:solidFill>
                  <a:schemeClr val="bg1">
                    <a:lumMod val="75000"/>
                  </a:schemeClr>
                </a:solidFill>
              </a:rPr>
              <a:t>пока не надо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)</a:t>
            </a:r>
            <a:endParaRPr lang="ru-RU" sz="20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ru-RU" sz="2000" b="1" dirty="0"/>
              <a:t>Операторы составного присваивания</a:t>
            </a:r>
          </a:p>
          <a:p>
            <a:r>
              <a:rPr lang="ru-RU" sz="2000" b="1" dirty="0"/>
              <a:t>Понятие синтаксического сахара</a:t>
            </a:r>
          </a:p>
          <a:p>
            <a:r>
              <a:rPr lang="ru-RU" sz="2000" b="1" dirty="0"/>
              <a:t>Задача: високосный год (закрепление </a:t>
            </a:r>
            <a:r>
              <a:rPr lang="en-US" sz="2000" b="1" dirty="0"/>
              <a:t>if-else</a:t>
            </a:r>
            <a:r>
              <a:rPr lang="ru-RU" sz="2000" b="1" dirty="0"/>
              <a:t>)</a:t>
            </a:r>
            <a:endParaRPr lang="en-US" sz="2000" b="1" dirty="0"/>
          </a:p>
          <a:p>
            <a:r>
              <a:rPr lang="ru-RU" sz="2000" b="1" dirty="0"/>
              <a:t>Структура множественного выбора </a:t>
            </a:r>
            <a:r>
              <a:rPr lang="en-US" sz="2000" b="1" dirty="0"/>
              <a:t>switch-case</a:t>
            </a:r>
            <a:r>
              <a:rPr lang="ru-RU" sz="2000" b="1" dirty="0"/>
              <a:t> + задача</a:t>
            </a:r>
          </a:p>
          <a:p>
            <a:r>
              <a:rPr lang="ru-RU" sz="2000" b="1" dirty="0"/>
              <a:t>Ключевое слово </a:t>
            </a:r>
            <a:r>
              <a:rPr lang="en-US" sz="2000" b="1" dirty="0" err="1"/>
              <a:t>enum</a:t>
            </a:r>
            <a:r>
              <a:rPr lang="ru-RU" sz="2000" b="1"/>
              <a:t> + задача</a:t>
            </a:r>
            <a:endParaRPr lang="ru-RU" sz="2000" b="1" dirty="0"/>
          </a:p>
          <a:p>
            <a:endParaRPr lang="ru-RU" sz="2000" b="1" dirty="0"/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4731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337683-BC8F-4EFA-98A5-A08AAC943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Домашнее задание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9CE8C8-F1DB-4FA6-A065-13D8E254A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0.   Ознакомиться с презентацией</a:t>
            </a:r>
          </a:p>
          <a:p>
            <a:pPr marL="514350" indent="-514350" algn="just">
              <a:buAutoNum type="arabicPeriod"/>
            </a:pPr>
            <a:r>
              <a:rPr lang="ru-RU" dirty="0"/>
              <a:t>Написать программу-калькулятор. Пользователь вводит два числа и выбирает арифметическое действие (+, -, *, /, максимум, минимум). Вывести на экран результат действия.</a:t>
            </a:r>
          </a:p>
        </p:txBody>
      </p:sp>
    </p:spTree>
    <p:extLst>
      <p:ext uri="{BB962C8B-B14F-4D97-AF65-F5344CB8AC3E}">
        <p14:creationId xmlns:p14="http://schemas.microsoft.com/office/powerpoint/2010/main" val="3374968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70DD59-9340-4F0A-BE46-E84402CC5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Ветвящиеся алгоритмы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1915B4E-0652-4E6D-8084-F69A668ED5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/>
              <a:t>До этого момента все наши программы были линейными. Настало время начать делать «мыслящие» программы, руководствующиеся условиями при выполнении. Синтаксис оператора </a:t>
            </a:r>
            <a:r>
              <a:rPr lang="en-US" dirty="0"/>
              <a:t>if:</a:t>
            </a:r>
          </a:p>
          <a:p>
            <a:pPr algn="just"/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BA72D93-646B-4AE5-A3D0-43F473D53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8150" y="3429000"/>
            <a:ext cx="3695700" cy="307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682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167208-1202-4559-966E-A8710ECCF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Блок-схема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DE8755B8-776C-453C-A24A-A50E47FBC6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24426" y="1888261"/>
            <a:ext cx="7543148" cy="3526422"/>
          </a:xfrm>
        </p:spPr>
      </p:pic>
    </p:spTree>
    <p:extLst>
      <p:ext uri="{BB962C8B-B14F-4D97-AF65-F5344CB8AC3E}">
        <p14:creationId xmlns:p14="http://schemas.microsoft.com/office/powerpoint/2010/main" val="882989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1760B0-8345-4EC7-A4A3-ACB7EDFAB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 использования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C386D4F-08DC-4F70-8747-3D6E38BB6E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Возьмём каркас: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… и вместо многоточия подставим разные условия </a:t>
            </a:r>
          </a:p>
          <a:p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D213C73-CB90-4B03-BB7A-79FD5BC31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825" y="2359661"/>
            <a:ext cx="5168294" cy="1574127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A227787-B80E-4C05-B368-4FA57FD5C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9580" y="4332887"/>
            <a:ext cx="5932839" cy="1844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63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14266E-EA2D-471A-9A97-D19A9271F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Операторы сравнения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F9EC20-C43A-4E77-9852-B3D68900D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1247"/>
            <a:ext cx="10515600" cy="4715716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/>
              <a:t>Само собой вместо литералов можно сравнивать значения, хранящиеся в переменных, обращаясь к ним.</a:t>
            </a:r>
          </a:p>
          <a:p>
            <a:pPr marL="0" indent="0" algn="just">
              <a:buNone/>
            </a:pPr>
            <a:r>
              <a:rPr lang="ru-RU" dirty="0"/>
              <a:t>Зачастую гораздо полезнее проверять не «сырое» значение, а сравнивать его с другим. Познакомимся с операторами сравнения:</a:t>
            </a:r>
          </a:p>
          <a:p>
            <a:pPr algn="just"/>
            <a:r>
              <a:rPr lang="en-US" dirty="0"/>
              <a:t>&gt;  </a:t>
            </a:r>
            <a:r>
              <a:rPr lang="ru-RU" dirty="0"/>
              <a:t>оператор «больше»</a:t>
            </a:r>
            <a:r>
              <a:rPr lang="en-US" dirty="0"/>
              <a:t> (&gt;= </a:t>
            </a:r>
            <a:r>
              <a:rPr lang="ru-RU" dirty="0"/>
              <a:t>больше или равно</a:t>
            </a:r>
            <a:r>
              <a:rPr lang="en-US" dirty="0"/>
              <a:t>)</a:t>
            </a:r>
            <a:endParaRPr lang="ru-RU" dirty="0"/>
          </a:p>
          <a:p>
            <a:pPr algn="just"/>
            <a:r>
              <a:rPr lang="en-US" dirty="0"/>
              <a:t>&lt; </a:t>
            </a:r>
            <a:r>
              <a:rPr lang="ru-RU" dirty="0"/>
              <a:t> оператор «меньше» (</a:t>
            </a:r>
            <a:r>
              <a:rPr lang="en-US" dirty="0"/>
              <a:t>&lt;= </a:t>
            </a:r>
            <a:r>
              <a:rPr lang="ru-RU" dirty="0"/>
              <a:t>меньше или равно)</a:t>
            </a:r>
          </a:p>
          <a:p>
            <a:pPr algn="just"/>
            <a:r>
              <a:rPr lang="ru-RU" dirty="0"/>
              <a:t>== оператор «равно» (НЕ ПУТАТЬ С ОПЕРАТОРОМ ПРИСВОЕНИЯ </a:t>
            </a:r>
            <a:r>
              <a:rPr lang="ru-RU" b="1" dirty="0"/>
              <a:t>=</a:t>
            </a:r>
            <a:r>
              <a:rPr lang="ru-RU" dirty="0"/>
              <a:t>)</a:t>
            </a:r>
          </a:p>
          <a:p>
            <a:pPr marL="0" indent="0" algn="just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BE93404-9929-4F15-9748-FE62F4CE39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575" y="4700588"/>
            <a:ext cx="4514850" cy="147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293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96C39D-3686-48DC-9D24-79972281D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54DC93-E705-48E7-83B0-FDC66C9D84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/>
              <a:t>Целое число вводят с клавиатуры. Выведите информацию о:</a:t>
            </a:r>
          </a:p>
          <a:p>
            <a:pPr algn="just"/>
            <a:r>
              <a:rPr lang="ru-RU" dirty="0"/>
              <a:t>Знаке числа (положительное или отрицательное)</a:t>
            </a:r>
          </a:p>
          <a:p>
            <a:pPr algn="just"/>
            <a:r>
              <a:rPr lang="ru-RU" dirty="0"/>
              <a:t>Чётности (делится на 2 или нет)</a:t>
            </a:r>
          </a:p>
          <a:p>
            <a:pPr marL="0" indent="0" algn="just">
              <a:buNone/>
            </a:pPr>
            <a:r>
              <a:rPr lang="ru-RU" dirty="0"/>
              <a:t>Выведите соответствующую информацию на экран в виде сообщения пользователю. Пример:</a:t>
            </a:r>
          </a:p>
          <a:p>
            <a:pPr marL="457200" lvl="1" indent="0" algn="just">
              <a:buNone/>
            </a:pPr>
            <a:r>
              <a:rPr lang="ru-RU" dirty="0">
                <a:latin typeface="Consolas" panose="020B0609020204030204" pitchFamily="49" charset="0"/>
              </a:rPr>
              <a:t>Введите число: 3</a:t>
            </a:r>
          </a:p>
          <a:p>
            <a:pPr marL="457200" lvl="1" indent="0" algn="just">
              <a:buNone/>
            </a:pPr>
            <a:r>
              <a:rPr lang="ru-RU" dirty="0">
                <a:latin typeface="Consolas" panose="020B0609020204030204" pitchFamily="49" charset="0"/>
              </a:rPr>
              <a:t>Число положительное</a:t>
            </a:r>
          </a:p>
          <a:p>
            <a:pPr marL="457200" lvl="1" indent="0" algn="just">
              <a:buNone/>
            </a:pPr>
            <a:r>
              <a:rPr lang="ru-RU" dirty="0">
                <a:latin typeface="Consolas" panose="020B0609020204030204" pitchFamily="49" charset="0"/>
              </a:rPr>
              <a:t>Число нечётное</a:t>
            </a:r>
          </a:p>
          <a:p>
            <a:pPr marL="0" indent="0" algn="just">
              <a:buNone/>
            </a:pPr>
            <a:endParaRPr lang="ru-RU" dirty="0"/>
          </a:p>
          <a:p>
            <a:pPr algn="just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59177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0D3D59-3F51-4B53-A889-CA2D28D08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Решение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26718A2A-365A-4667-996F-39614E434C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66168" y="1476860"/>
            <a:ext cx="6659663" cy="4700103"/>
          </a:xfrm>
        </p:spPr>
      </p:pic>
    </p:spTree>
    <p:extLst>
      <p:ext uri="{BB962C8B-B14F-4D97-AF65-F5344CB8AC3E}">
        <p14:creationId xmlns:p14="http://schemas.microsoft.com/office/powerpoint/2010/main" val="24439863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2A28EB-160F-4F89-8805-44041561E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53165" cy="1325563"/>
          </a:xfrm>
        </p:spPr>
        <p:txBody>
          <a:bodyPr/>
          <a:lstStyle/>
          <a:p>
            <a:r>
              <a:rPr lang="ru-RU" dirty="0"/>
              <a:t>Связка условий через логические операторы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5112D6-70E8-4936-BC4F-1C8995DEA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8494"/>
            <a:ext cx="10515600" cy="5280211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ru-RU" dirty="0"/>
              <a:t>Представим, что мы хотим оформить проверку ввода. Например, мы просим пользователя ввести чётное число больше нуля. Предположим, пользователь оказался </a:t>
            </a:r>
            <a:r>
              <a:rPr lang="ru-RU" i="1" dirty="0"/>
              <a:t>непослушным</a:t>
            </a:r>
            <a:r>
              <a:rPr lang="ru-RU" dirty="0"/>
              <a:t> и собирается ввести иное число. Придётся написать код, проверяющий корректность ввода:</a:t>
            </a:r>
          </a:p>
          <a:p>
            <a:pPr marL="0" indent="0" algn="just">
              <a:buNone/>
            </a:pPr>
            <a:r>
              <a:rPr lang="ru-RU" dirty="0"/>
              <a:t>					Логическое «И»</a:t>
            </a:r>
            <a:r>
              <a:rPr lang="en-US" dirty="0"/>
              <a:t> </a:t>
            </a:r>
            <a:r>
              <a:rPr lang="ru-RU" dirty="0"/>
              <a:t>между условиями</a:t>
            </a: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ru-RU" dirty="0"/>
              <a:t>Заметим, что фигурные скобки после </a:t>
            </a:r>
            <a:r>
              <a:rPr lang="en-US" dirty="0"/>
              <a:t>if/else </a:t>
            </a:r>
            <a:r>
              <a:rPr lang="ru-RU" dirty="0"/>
              <a:t>можно опустить, если за ними следует одно выражение!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9C827BC-6D01-44DC-8268-FADCB67BC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165" y="3613991"/>
            <a:ext cx="10041231" cy="1920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616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90BB71-2E36-4E1D-84B6-F18241AAC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Лесенка </a:t>
            </a:r>
            <a:r>
              <a:rPr lang="en-US" dirty="0"/>
              <a:t>if – else if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7822CE-BACF-4D3B-8E4B-BED5143CFE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1929"/>
            <a:ext cx="10515600" cy="4635034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/>
              <a:t>Данный программный код рассчитывает скидку, в зависимости от суммы покупки</a:t>
            </a:r>
          </a:p>
          <a:p>
            <a:pPr algn="just"/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6641F55-A6B1-42CE-BB05-2E0EE3D87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9288" y="2547463"/>
            <a:ext cx="7893424" cy="362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5241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58908E-143E-4D13-A9E9-858258E3A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D6757E6-8674-4215-850D-D0F93E02EB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2282"/>
                <a:ext cx="10515600" cy="4724681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ru-RU" dirty="0"/>
                  <a:t>На плоскости нарисовано кольцо с центром в точке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. И радиусами границ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i="1" dirty="0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dirty="0"/>
                  <a:t>. На этой же плоскости дана точка с координатами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. Необходимо</a:t>
                </a:r>
                <a:r>
                  <a:rPr lang="en-US" dirty="0"/>
                  <a:t> </a:t>
                </a:r>
                <a:r>
                  <a:rPr lang="ru-RU" dirty="0"/>
                  <a:t>определить, принадлежит ли эта точка кольцу. </a:t>
                </a:r>
                <a:r>
                  <a:rPr lang="ru-RU" b="1" dirty="0"/>
                  <a:t>Название</a:t>
                </a:r>
                <a:r>
                  <a:rPr lang="en-US" b="1" dirty="0"/>
                  <a:t> </a:t>
                </a:r>
                <a:r>
                  <a:rPr lang="ru-RU" b="1" dirty="0"/>
                  <a:t>проекта Circle2</a:t>
                </a:r>
                <a:r>
                  <a:rPr lang="en-US" dirty="0"/>
                  <a:t>.</a:t>
                </a: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D6757E6-8674-4215-850D-D0F93E02EB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2282"/>
                <a:ext cx="10515600" cy="4724681"/>
              </a:xfrm>
              <a:blipFill>
                <a:blip r:embed="rId2"/>
                <a:stretch>
                  <a:fillRect l="-1217" t="-2065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775841E-C68D-4263-8A4A-6843D8F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6316" y="3083299"/>
            <a:ext cx="3899367" cy="3473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9579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7813A6-84F9-4511-8D21-4F247621D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74F5B4-FD43-4117-AC11-A244F86EB4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9883"/>
            <a:ext cx="10515600" cy="51929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Переменные:</a:t>
            </a:r>
          </a:p>
          <a:p>
            <a:pPr marL="0" indent="0">
              <a:buNone/>
            </a:pPr>
            <a:r>
              <a:rPr lang="ru-RU" sz="2400" dirty="0"/>
              <a:t>	- </a:t>
            </a:r>
            <a:r>
              <a:rPr lang="en-US" sz="2400" dirty="0"/>
              <a:t>double x0, y0 – </a:t>
            </a:r>
            <a:r>
              <a:rPr lang="ru-RU" sz="2400" dirty="0"/>
              <a:t>начальные точки (центр)</a:t>
            </a:r>
          </a:p>
          <a:p>
            <a:pPr marL="0" indent="0">
              <a:buNone/>
            </a:pPr>
            <a:r>
              <a:rPr lang="ru-RU" sz="2400" dirty="0"/>
              <a:t>	- </a:t>
            </a:r>
            <a:r>
              <a:rPr lang="en-US" sz="2400" dirty="0"/>
              <a:t>double x, y – </a:t>
            </a:r>
            <a:r>
              <a:rPr lang="ru-RU" sz="2400" dirty="0"/>
              <a:t>рассматриваемая точка</a:t>
            </a:r>
          </a:p>
          <a:p>
            <a:pPr marL="0" indent="0">
              <a:buNone/>
            </a:pPr>
            <a:r>
              <a:rPr lang="ru-RU" sz="2400" dirty="0"/>
              <a:t>	- </a:t>
            </a:r>
            <a:r>
              <a:rPr lang="en-US" sz="2400" dirty="0"/>
              <a:t>double r1, r2 – </a:t>
            </a:r>
            <a:r>
              <a:rPr lang="ru-RU" sz="2400" dirty="0"/>
              <a:t>радиусы малой и большей окружности 		соответственно </a:t>
            </a:r>
            <a:r>
              <a:rPr lang="ru-RU" sz="2400" b="1" dirty="0"/>
              <a:t>(ВСЕ 6 ЗНАЧЕНИЙ ВВОДЯТСЯ С КЛАВИАТУРЫ)</a:t>
            </a:r>
          </a:p>
          <a:p>
            <a:pPr marL="0" indent="0">
              <a:buNone/>
            </a:pPr>
            <a:r>
              <a:rPr lang="ru-RU" sz="2400" dirty="0"/>
              <a:t>	- </a:t>
            </a:r>
            <a:r>
              <a:rPr lang="en-US" sz="2400" dirty="0"/>
              <a:t>double </a:t>
            </a:r>
            <a:r>
              <a:rPr lang="en-US" sz="2400" dirty="0" err="1"/>
              <a:t>len</a:t>
            </a:r>
            <a:r>
              <a:rPr lang="en-US" sz="2400" dirty="0"/>
              <a:t> – </a:t>
            </a:r>
            <a:r>
              <a:rPr lang="ru-RU" sz="2400" dirty="0"/>
              <a:t>расстояние от центра до рассматриваемой точки (от англ. 	</a:t>
            </a:r>
            <a:r>
              <a:rPr lang="en-US" sz="2400" b="1" dirty="0"/>
              <a:t>Len</a:t>
            </a:r>
            <a:r>
              <a:rPr lang="en-US" sz="2400" dirty="0"/>
              <a:t>gth – </a:t>
            </a:r>
            <a:r>
              <a:rPr lang="ru-RU" sz="2400" dirty="0"/>
              <a:t>длина)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CD0702D-A8A6-4EC7-BA6D-FA18E38EC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1094" y="3993402"/>
            <a:ext cx="3215483" cy="2864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1107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941A92-80D6-4974-A95F-84B52CACC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Формула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459FFE0-C029-4651-869A-80B09E6035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26776"/>
                <a:ext cx="10515600" cy="4850187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Расстояние между точками: 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𝑙𝑒𝑛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Математические функции: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#include &lt;</a:t>
                </a:r>
                <a:r>
                  <a:rPr lang="en-US" dirty="0" err="1"/>
                  <a:t>math.h</a:t>
                </a:r>
                <a:r>
                  <a:rPr lang="en-US" dirty="0"/>
                  <a:t>&gt; // </a:t>
                </a:r>
                <a:r>
                  <a:rPr lang="ru-RU" dirty="0"/>
                  <a:t>библиотека</a:t>
                </a:r>
              </a:p>
              <a:p>
                <a:pPr marL="0" indent="0">
                  <a:buNone/>
                </a:pPr>
                <a:r>
                  <a:rPr lang="en-US" dirty="0"/>
                  <a:t>pow(x-x0, 2) – </a:t>
                </a:r>
                <a:r>
                  <a:rPr lang="ru-RU" dirty="0"/>
                  <a:t>возведение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− </m:t>
                    </m:r>
                    <m:sSub>
                      <m:sSubPr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ru-RU" dirty="0"/>
                  <a:t>во вторую степень</a:t>
                </a:r>
              </a:p>
              <a:p>
                <a:pPr marL="0" indent="0">
                  <a:buNone/>
                </a:pPr>
                <a:r>
                  <a:rPr lang="en-US" dirty="0"/>
                  <a:t>sqrt(</a:t>
                </a:r>
                <a:r>
                  <a:rPr lang="ru-RU" i="1" dirty="0"/>
                  <a:t>выражение</a:t>
                </a:r>
                <a:r>
                  <a:rPr lang="en-US" dirty="0"/>
                  <a:t>) – </a:t>
                </a:r>
                <a:r>
                  <a:rPr lang="ru-RU" dirty="0"/>
                  <a:t>вычисление квадратного корня</a:t>
                </a:r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459FFE0-C029-4651-869A-80B09E6035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26776"/>
                <a:ext cx="10515600" cy="4850187"/>
              </a:xfrm>
              <a:blipFill>
                <a:blip r:embed="rId2"/>
                <a:stretch>
                  <a:fillRect l="-1217" t="-213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63718C8-28E7-47D4-BC9D-470FA6CC1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0998" y="4260477"/>
            <a:ext cx="2852802" cy="254149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88BE48A-34C7-4191-BD67-432BA8FED2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930589"/>
            <a:ext cx="6993591" cy="936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5718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2DF760-5902-4839-8C78-3CC587D3E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(блок-схема)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7587C4-ACCD-4617-80E7-82DE671808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8494"/>
            <a:ext cx="10515600" cy="4778469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3919610-A391-45A5-924E-E7AEF9FA32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924" y="1398494"/>
            <a:ext cx="8748152" cy="506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962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57F5AE-F511-4A48-A097-6B4597228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6499"/>
          </a:xfrm>
        </p:spPr>
        <p:txBody>
          <a:bodyPr/>
          <a:lstStyle/>
          <a:p>
            <a:r>
              <a:rPr lang="ru-RU" dirty="0"/>
              <a:t>Операторы составного присваивания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85B2CBB-47B1-4E4B-9AD4-EE6C377F8A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8494"/>
            <a:ext cx="10515600" cy="4778469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/>
              <a:t>Название может показаться пугающим, но давайте разберёмся, почему присваивание может быть </a:t>
            </a:r>
            <a:r>
              <a:rPr lang="ru-RU" i="1" dirty="0"/>
              <a:t>составным</a:t>
            </a:r>
            <a:r>
              <a:rPr lang="ru-RU" dirty="0"/>
              <a:t>. Рассмотрим пример:</a:t>
            </a:r>
            <a:endParaRPr lang="en-US" dirty="0"/>
          </a:p>
          <a:p>
            <a:pPr marL="0" indent="0" algn="just">
              <a:buNone/>
            </a:pPr>
            <a:r>
              <a:rPr lang="en-US" dirty="0"/>
              <a:t>	</a:t>
            </a:r>
            <a:r>
              <a:rPr lang="en-US" dirty="0">
                <a:latin typeface="Consolas" panose="020B0609020204030204" pitchFamily="49" charset="0"/>
              </a:rPr>
              <a:t>int a = 1; a = a + 5;</a:t>
            </a:r>
          </a:p>
          <a:p>
            <a:pPr marL="0" indent="0" algn="just">
              <a:buNone/>
            </a:pPr>
            <a:r>
              <a:rPr lang="ru-RU" dirty="0">
                <a:latin typeface="Consolas" panose="020B0609020204030204" pitchFamily="49" charset="0"/>
              </a:rPr>
              <a:t>По окончании выполнения двух выражений в переменной </a:t>
            </a:r>
            <a:r>
              <a:rPr lang="en-US" i="1" dirty="0">
                <a:latin typeface="Consolas" panose="020B0609020204030204" pitchFamily="49" charset="0"/>
              </a:rPr>
              <a:t>a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ru-RU" dirty="0">
                <a:latin typeface="Consolas" panose="020B0609020204030204" pitchFamily="49" charset="0"/>
              </a:rPr>
              <a:t>будет записано число </a:t>
            </a:r>
            <a:r>
              <a:rPr lang="ru-RU" b="1" dirty="0">
                <a:latin typeface="Consolas" panose="020B0609020204030204" pitchFamily="49" charset="0"/>
              </a:rPr>
              <a:t>6</a:t>
            </a:r>
            <a:r>
              <a:rPr lang="ru-RU" dirty="0">
                <a:latin typeface="Consolas" panose="020B0609020204030204" pitchFamily="49" charset="0"/>
              </a:rPr>
              <a:t>. Рассмотрим следующий код:</a:t>
            </a:r>
          </a:p>
          <a:p>
            <a:pPr marL="0" indent="0" algn="just">
              <a:buNone/>
            </a:pPr>
            <a:r>
              <a:rPr lang="ru-RU" dirty="0">
                <a:latin typeface="Consolas" panose="020B0609020204030204" pitchFamily="49" charset="0"/>
              </a:rPr>
              <a:t>	</a:t>
            </a:r>
            <a:r>
              <a:rPr lang="en-US" dirty="0">
                <a:latin typeface="Consolas" panose="020B0609020204030204" pitchFamily="49" charset="0"/>
              </a:rPr>
              <a:t>int a = 1; a += 5;</a:t>
            </a:r>
          </a:p>
          <a:p>
            <a:pPr marL="0" indent="0" algn="just">
              <a:buNone/>
            </a:pPr>
            <a:r>
              <a:rPr lang="ru-RU" dirty="0">
                <a:latin typeface="Consolas" panose="020B0609020204030204" pitchFamily="49" charset="0"/>
              </a:rPr>
              <a:t>Оператор </a:t>
            </a:r>
            <a:r>
              <a:rPr lang="ru-RU" b="1" dirty="0">
                <a:latin typeface="Consolas" panose="020B0609020204030204" pitchFamily="49" charset="0"/>
              </a:rPr>
              <a:t>+=</a:t>
            </a:r>
            <a:r>
              <a:rPr lang="ru-RU" dirty="0">
                <a:latin typeface="Consolas" panose="020B0609020204030204" pitchFamily="49" charset="0"/>
              </a:rPr>
              <a:t> является </a:t>
            </a:r>
            <a:r>
              <a:rPr lang="ru-RU" i="1" dirty="0">
                <a:latin typeface="Consolas" panose="020B0609020204030204" pitchFamily="49" charset="0"/>
              </a:rPr>
              <a:t>составным</a:t>
            </a:r>
            <a:r>
              <a:rPr lang="ru-RU" dirty="0">
                <a:latin typeface="Consolas" panose="020B0609020204030204" pitchFamily="49" charset="0"/>
              </a:rPr>
              <a:t>. Он не просто записывает </a:t>
            </a:r>
            <a:r>
              <a:rPr lang="ru-RU" b="1" dirty="0">
                <a:latin typeface="Consolas" panose="020B0609020204030204" pitchFamily="49" charset="0"/>
              </a:rPr>
              <a:t>5</a:t>
            </a:r>
            <a:r>
              <a:rPr lang="ru-RU" dirty="0">
                <a:latin typeface="Consolas" panose="020B0609020204030204" pitchFamily="49" charset="0"/>
              </a:rPr>
              <a:t> в переменную. С его помощью мы складываем содержимое переменной </a:t>
            </a:r>
            <a:r>
              <a:rPr lang="ru-RU" i="1" dirty="0">
                <a:latin typeface="Consolas" panose="020B0609020204030204" pitchFamily="49" charset="0"/>
              </a:rPr>
              <a:t>а</a:t>
            </a:r>
            <a:r>
              <a:rPr lang="ru-RU" dirty="0">
                <a:latin typeface="Consolas" panose="020B0609020204030204" pitchFamily="49" charset="0"/>
              </a:rPr>
              <a:t> с литерой </a:t>
            </a:r>
            <a:r>
              <a:rPr lang="ru-RU" b="1" dirty="0">
                <a:latin typeface="Consolas" panose="020B0609020204030204" pitchFamily="49" charset="0"/>
              </a:rPr>
              <a:t>5</a:t>
            </a:r>
            <a:r>
              <a:rPr lang="ru-RU" dirty="0">
                <a:latin typeface="Consolas" panose="020B0609020204030204" pitchFamily="49" charset="0"/>
              </a:rPr>
              <a:t>.</a:t>
            </a:r>
            <a:endParaRPr lang="ru-RU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05155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467DEE-7A43-4ADF-A91D-BF265C993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Синтаксический сахар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392C071-CE04-4F5F-A0A1-6CF6F1705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Вы спросите: </a:t>
            </a:r>
            <a:r>
              <a:rPr lang="ru-RU" b="1" i="1" dirty="0"/>
              <a:t>а зачем такие операторы существуют?</a:t>
            </a:r>
            <a:endParaRPr lang="ru-RU" dirty="0"/>
          </a:p>
          <a:p>
            <a:pPr marL="0" indent="0" algn="just">
              <a:buNone/>
            </a:pPr>
            <a:r>
              <a:rPr lang="ru-RU" dirty="0"/>
              <a:t>Некоторые вещи в программировании были созданы исключительно для удобства людей. </a:t>
            </a:r>
          </a:p>
          <a:p>
            <a:pPr marL="0" indent="0" algn="just">
              <a:buNone/>
            </a:pPr>
            <a:r>
              <a:rPr lang="ru-RU" i="1" dirty="0"/>
              <a:t>Синтаксический сахар </a:t>
            </a:r>
            <a:r>
              <a:rPr lang="ru-RU" dirty="0"/>
              <a:t>– это конструкции в языках программирования, не привносящие новые функции, но помогающие сделать код более кратким и читаемым.</a:t>
            </a:r>
          </a:p>
          <a:p>
            <a:pPr marL="0" indent="0" algn="just">
              <a:buNone/>
            </a:pPr>
            <a:r>
              <a:rPr lang="ru-RU" dirty="0"/>
              <a:t>К этой же опере можно отнести </a:t>
            </a:r>
            <a:r>
              <a:rPr lang="ru-RU" i="1" dirty="0"/>
              <a:t>инкремент</a:t>
            </a:r>
            <a:r>
              <a:rPr lang="ru-RU" dirty="0"/>
              <a:t> и </a:t>
            </a:r>
            <a:r>
              <a:rPr lang="ru-RU" i="1" dirty="0"/>
              <a:t>декремент</a:t>
            </a:r>
            <a:r>
              <a:rPr lang="ru-RU" dirty="0"/>
              <a:t> (++, --).</a:t>
            </a:r>
          </a:p>
        </p:txBody>
      </p:sp>
    </p:spTree>
    <p:extLst>
      <p:ext uri="{BB962C8B-B14F-4D97-AF65-F5344CB8AC3E}">
        <p14:creationId xmlns:p14="http://schemas.microsoft.com/office/powerpoint/2010/main" val="29184732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7BAA22-8893-4774-AC20-0F77A98BC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1708C5-5A10-4405-A0D9-EF34053834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Разработать программный код, принимающий номер года и выводящий информацию: является ли год високосным.</a:t>
            </a:r>
          </a:p>
          <a:p>
            <a:pPr marL="0" indent="0" algn="just">
              <a:buNone/>
            </a:pPr>
            <a:r>
              <a:rPr lang="ru-RU" dirty="0"/>
              <a:t>План работы:</a:t>
            </a:r>
          </a:p>
          <a:p>
            <a:pPr algn="just"/>
            <a:r>
              <a:rPr lang="ru-RU" dirty="0"/>
              <a:t>Изучить правило определения високосного года</a:t>
            </a:r>
          </a:p>
          <a:p>
            <a:pPr algn="just"/>
            <a:r>
              <a:rPr lang="ru-RU" dirty="0"/>
              <a:t>Оформить все условия (на псевдоязыке?)</a:t>
            </a:r>
          </a:p>
          <a:p>
            <a:pPr algn="just"/>
            <a:r>
              <a:rPr lang="ru-RU" dirty="0"/>
              <a:t>Написать программный код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ru-RU" dirty="0"/>
              <a:t> Ввод данных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ru-RU" dirty="0"/>
              <a:t> Анализ данных (условия)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ru-RU" dirty="0"/>
              <a:t> Вывод данных</a:t>
            </a:r>
          </a:p>
          <a:p>
            <a:pPr algn="just"/>
            <a:endParaRPr lang="ru-RU" dirty="0"/>
          </a:p>
          <a:p>
            <a:pPr algn="just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854657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8A8476-84A8-4174-A19B-8CED53AF7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множественного выбора</a:t>
            </a:r>
            <a:br>
              <a:rPr lang="en-US" dirty="0"/>
            </a:br>
            <a:r>
              <a:rPr lang="en-US" b="1" dirty="0"/>
              <a:t>switch-case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E423FE-4155-4BE0-8EB3-47E0F2C7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8400"/>
            <a:ext cx="10515600" cy="233082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/>
              <a:t>Лесенка из </a:t>
            </a:r>
            <a:r>
              <a:rPr lang="en-US" dirty="0"/>
              <a:t>if-else </a:t>
            </a:r>
            <a:r>
              <a:rPr lang="ru-RU" dirty="0"/>
              <a:t>может выглядеть нечитаемой и неудобной. Бывают ситуации, когда проще использовать конструкцию </a:t>
            </a:r>
            <a:r>
              <a:rPr lang="en-US" b="1" dirty="0"/>
              <a:t>switch-case</a:t>
            </a:r>
            <a:r>
              <a:rPr lang="en-US" dirty="0"/>
              <a:t> ([</a:t>
            </a:r>
            <a:r>
              <a:rPr lang="ru-RU" dirty="0" err="1"/>
              <a:t>свич</a:t>
            </a:r>
            <a:r>
              <a:rPr lang="ru-RU" dirty="0"/>
              <a:t>-кейс</a:t>
            </a:r>
            <a:r>
              <a:rPr lang="en-US" dirty="0"/>
              <a:t>]</a:t>
            </a:r>
            <a:r>
              <a:rPr lang="ru-RU" dirty="0"/>
              <a:t> – «включить-в случае»</a:t>
            </a:r>
            <a:r>
              <a:rPr lang="en-US" dirty="0"/>
              <a:t>)</a:t>
            </a:r>
            <a:r>
              <a:rPr lang="ru-RU" dirty="0"/>
              <a:t>.</a:t>
            </a:r>
          </a:p>
          <a:p>
            <a:pPr marL="0" indent="0" algn="just">
              <a:buNone/>
            </a:pPr>
            <a:r>
              <a:rPr lang="ru-RU" dirty="0"/>
              <a:t>Данную конструкцию удобно использовать, когда необходимо сравнить выражение с набором значений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6544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BD44B9-F19F-4CE3-BF10-EB3E44726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множественного выбора</a:t>
            </a:r>
            <a:br>
              <a:rPr lang="en-US" dirty="0"/>
            </a:br>
            <a:r>
              <a:rPr lang="en-US" b="1" dirty="0"/>
              <a:t>switch-case</a:t>
            </a:r>
            <a:endParaRPr lang="ru-RU" b="1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1CD33132-9F0A-409C-BC69-148D47AF9B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06050" y="1690688"/>
            <a:ext cx="6179900" cy="4994089"/>
          </a:xfrm>
        </p:spPr>
      </p:pic>
    </p:spTree>
    <p:extLst>
      <p:ext uri="{BB962C8B-B14F-4D97-AF65-F5344CB8AC3E}">
        <p14:creationId xmlns:p14="http://schemas.microsoft.com/office/powerpoint/2010/main" val="36897021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54E7E7-AD69-4BA3-A91D-9C2721C82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EFBE8EA-1B3A-47F4-9FC6-5EDD04557A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62517"/>
            <a:ext cx="10515600" cy="2070847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/>
              <a:t>Пользователь подаёт на вход номер дня недели (понедельник = 1, вторник = 2 и т.д.). Программа должна сообщить пользователю является этот день </a:t>
            </a:r>
            <a:r>
              <a:rPr lang="ru-RU" i="1" dirty="0"/>
              <a:t>будним</a:t>
            </a:r>
            <a:r>
              <a:rPr lang="ru-RU" dirty="0"/>
              <a:t> или </a:t>
            </a:r>
            <a:r>
              <a:rPr lang="ru-RU" i="1" dirty="0"/>
              <a:t>выходным</a:t>
            </a:r>
            <a:r>
              <a:rPr lang="ru-RU" dirty="0"/>
              <a:t>. Для определённости суббота и воскресенье – </a:t>
            </a:r>
            <a:r>
              <a:rPr lang="ru-RU" i="1" dirty="0"/>
              <a:t>выходные</a:t>
            </a:r>
            <a:r>
              <a:rPr lang="ru-RU" dirty="0"/>
              <a:t> дни. </a:t>
            </a:r>
            <a:r>
              <a:rPr lang="ru-RU" b="1" dirty="0"/>
              <a:t>Использовать конструкцию </a:t>
            </a:r>
            <a:r>
              <a:rPr lang="en-US" b="1" dirty="0"/>
              <a:t>switch-case.</a:t>
            </a:r>
            <a:endParaRPr lang="ru-RU" b="1" i="1" dirty="0"/>
          </a:p>
        </p:txBody>
      </p:sp>
    </p:spTree>
    <p:extLst>
      <p:ext uri="{BB962C8B-B14F-4D97-AF65-F5344CB8AC3E}">
        <p14:creationId xmlns:p14="http://schemas.microsoft.com/office/powerpoint/2010/main" val="19648582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B90C4F-C0BF-4114-BE73-A66AB5F6F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9957"/>
          </a:xfrm>
        </p:spPr>
        <p:txBody>
          <a:bodyPr>
            <a:normAutofit fontScale="90000"/>
          </a:bodyPr>
          <a:lstStyle/>
          <a:p>
            <a:r>
              <a:rPr lang="ru-RU" dirty="0"/>
              <a:t>Задача (решение)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BA3DB78-32A0-428A-A51F-0F5C9E457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0330" y="1125220"/>
            <a:ext cx="6911340" cy="2303780"/>
          </a:xfrm>
          <a:prstGeom prst="rect">
            <a:avLst/>
          </a:prstGeom>
        </p:spPr>
      </p:pic>
      <p:pic>
        <p:nvPicPr>
          <p:cNvPr id="13" name="Объект 12">
            <a:extLst>
              <a:ext uri="{FF2B5EF4-FFF2-40B4-BE49-F238E27FC236}">
                <a16:creationId xmlns:a16="http://schemas.microsoft.com/office/drawing/2014/main" id="{1A763842-54D7-4413-8656-4486E7A56B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640330" y="3429000"/>
            <a:ext cx="6911340" cy="2758777"/>
          </a:xfrm>
        </p:spPr>
      </p:pic>
    </p:spTree>
    <p:extLst>
      <p:ext uri="{BB962C8B-B14F-4D97-AF65-F5344CB8AC3E}">
        <p14:creationId xmlns:p14="http://schemas.microsoft.com/office/powerpoint/2010/main" val="9527523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EF7F8C-6CC6-4F98-B890-D51D14345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(улучшенная версия решения)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F2E25A64-540C-4EB0-BC67-9C7A9D3EA2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6694" y="1497106"/>
            <a:ext cx="8178612" cy="4995769"/>
          </a:xfrm>
        </p:spPr>
      </p:pic>
    </p:spTree>
    <p:extLst>
      <p:ext uri="{BB962C8B-B14F-4D97-AF65-F5344CB8AC3E}">
        <p14:creationId xmlns:p14="http://schemas.microsoft.com/office/powerpoint/2010/main" val="23058769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7B8330-0FC3-4F9F-8B4A-DCCEB1F48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Ключевое слово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1D6BC2-C41C-448B-81FC-DE060CCBCD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63434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/>
              <a:t>Для начало вспомним, что </a:t>
            </a:r>
            <a:r>
              <a:rPr lang="ru-RU" i="1" dirty="0"/>
              <a:t>ключевое слово</a:t>
            </a:r>
            <a:r>
              <a:rPr lang="ru-RU" dirty="0"/>
              <a:t> – это зарезервированное слово компилятором, которое пользователь не может использовать как-то иначе в отличии от заложенной программы. К таким словам относятся:</a:t>
            </a:r>
          </a:p>
          <a:p>
            <a:pPr algn="just"/>
            <a:r>
              <a:rPr lang="ru-RU" dirty="0"/>
              <a:t>Типы данных (</a:t>
            </a:r>
            <a:r>
              <a:rPr lang="en-US" dirty="0"/>
              <a:t>int, double, bool </a:t>
            </a:r>
            <a:r>
              <a:rPr lang="ru-RU" dirty="0"/>
              <a:t>и т.д.)</a:t>
            </a:r>
            <a:r>
              <a:rPr lang="en-US" dirty="0"/>
              <a:t>;</a:t>
            </a:r>
          </a:p>
          <a:p>
            <a:pPr algn="just"/>
            <a:r>
              <a:rPr lang="en-US" dirty="0"/>
              <a:t>if, else; switch, case;</a:t>
            </a:r>
          </a:p>
          <a:p>
            <a:pPr algn="just"/>
            <a:r>
              <a:rPr lang="en-US" dirty="0"/>
              <a:t>return, break;</a:t>
            </a:r>
            <a:endParaRPr lang="ru-RU" dirty="0"/>
          </a:p>
          <a:p>
            <a:pPr algn="just"/>
            <a:r>
              <a:rPr lang="en-US" dirty="0"/>
              <a:t>for, do, while (</a:t>
            </a:r>
            <a:r>
              <a:rPr lang="ru-RU" dirty="0"/>
              <a:t>циклы</a:t>
            </a:r>
            <a:r>
              <a:rPr lang="en-US" dirty="0"/>
              <a:t>)</a:t>
            </a:r>
            <a:endParaRPr lang="ru-RU" dirty="0"/>
          </a:p>
          <a:p>
            <a:pPr algn="just"/>
            <a:r>
              <a:rPr lang="en-US" dirty="0" err="1"/>
              <a:t>enum</a:t>
            </a:r>
            <a:endParaRPr lang="en-US" dirty="0"/>
          </a:p>
          <a:p>
            <a:pPr algn="just"/>
            <a:r>
              <a:rPr lang="ru-RU" dirty="0"/>
              <a:t>Прочие…</a:t>
            </a:r>
          </a:p>
        </p:txBody>
      </p:sp>
    </p:spTree>
    <p:extLst>
      <p:ext uri="{BB962C8B-B14F-4D97-AF65-F5344CB8AC3E}">
        <p14:creationId xmlns:p14="http://schemas.microsoft.com/office/powerpoint/2010/main" val="29521440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1C64C8-251D-41A2-AA29-4384B8356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Ключевое слово </a:t>
            </a:r>
            <a:r>
              <a:rPr lang="en-US" b="1" dirty="0" err="1"/>
              <a:t>enum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24611AE-1596-4241-93F8-CF445C4CA8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7459"/>
            <a:ext cx="10515600" cy="492162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/>
              <a:t>Рассмотрим пример с телефонными кодами стран:</a:t>
            </a:r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endParaRPr lang="ru-RU" b="1" dirty="0"/>
          </a:p>
          <a:p>
            <a:pPr marL="0" indent="0" algn="just">
              <a:buNone/>
            </a:pPr>
            <a:endParaRPr lang="ru-RU" b="1" dirty="0"/>
          </a:p>
          <a:p>
            <a:pPr marL="0" indent="0" algn="just">
              <a:buNone/>
            </a:pPr>
            <a:endParaRPr lang="ru-RU" b="1" dirty="0"/>
          </a:p>
          <a:p>
            <a:pPr marL="0" indent="0" algn="just">
              <a:buNone/>
            </a:pPr>
            <a:endParaRPr lang="ru-RU" b="1" dirty="0"/>
          </a:p>
          <a:p>
            <a:pPr marL="0" indent="0" algn="just">
              <a:buNone/>
            </a:pPr>
            <a:r>
              <a:rPr lang="ru-RU" dirty="0"/>
              <a:t>Такая запись нагромождает код. Хочется систематизировать или сгруппировать подобные данные. Для этих случаев создан:</a:t>
            </a:r>
          </a:p>
          <a:p>
            <a:pPr marL="0" indent="0" algn="just">
              <a:buNone/>
            </a:pPr>
            <a:r>
              <a:rPr lang="en-US" b="1" dirty="0" err="1"/>
              <a:t>enum</a:t>
            </a:r>
            <a:r>
              <a:rPr lang="en-US" dirty="0"/>
              <a:t> – </a:t>
            </a:r>
            <a:r>
              <a:rPr lang="ru-RU" dirty="0"/>
              <a:t>тип данных, обозначающий набор именованных целочисленных констант.</a:t>
            </a:r>
            <a:r>
              <a:rPr lang="en-US" dirty="0"/>
              <a:t> </a:t>
            </a:r>
            <a:endParaRPr lang="ru-RU" b="1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1C9C54A-2D9F-44D1-A7A8-E0CB385F3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1537" y="2082332"/>
            <a:ext cx="6408925" cy="2038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7650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D3E83F-95BE-4817-8794-B4EEF05A9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Ключевое слово </a:t>
            </a:r>
            <a:r>
              <a:rPr lang="en-US" b="1" dirty="0" err="1"/>
              <a:t>enum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CDA47A-A041-4599-8A34-C8C21F3ACE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Превратим предыдущий список в набор данных:</a:t>
            </a:r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r>
              <a:rPr lang="ru-RU" dirty="0"/>
              <a:t>По сути, мы создаём </a:t>
            </a:r>
            <a:r>
              <a:rPr lang="ru-RU" b="1" dirty="0"/>
              <a:t>свой тип данных</a:t>
            </a:r>
            <a:r>
              <a:rPr lang="ru-RU" dirty="0"/>
              <a:t> с ограниченным количеством значений. Код становится более читаемым, безопасным и удобным в поддержке.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55753F2-498C-4E3C-A40F-C35FC932AC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2447925"/>
            <a:ext cx="10039350" cy="196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7984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0FCF3D-8197-4976-9B61-04E226AA1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60AA65-BCE3-4AD3-B387-06AEF4C66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12422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/>
              <a:t>Вернёмся к дням недели. Создайте перечисление с названиями дней недели</a:t>
            </a:r>
            <a:r>
              <a:rPr lang="en-US" dirty="0"/>
              <a:t> </a:t>
            </a:r>
            <a:r>
              <a:rPr lang="ru-RU" dirty="0"/>
              <a:t>и исправьте код с использованием именованных констант. Для справки:</a:t>
            </a:r>
          </a:p>
          <a:p>
            <a:pPr algn="just"/>
            <a:r>
              <a:rPr lang="ru-RU" sz="2400" dirty="0"/>
              <a:t>Понедельник – </a:t>
            </a:r>
            <a:r>
              <a:rPr lang="en-US" sz="2400" dirty="0"/>
              <a:t>MONDAY</a:t>
            </a:r>
          </a:p>
          <a:p>
            <a:pPr algn="just"/>
            <a:r>
              <a:rPr lang="ru-RU" sz="2400" dirty="0"/>
              <a:t>Вторник –</a:t>
            </a:r>
            <a:r>
              <a:rPr lang="en-US" sz="2400" dirty="0"/>
              <a:t> TUESDAY</a:t>
            </a:r>
            <a:endParaRPr lang="ru-RU" sz="2400" dirty="0"/>
          </a:p>
          <a:p>
            <a:pPr algn="just"/>
            <a:r>
              <a:rPr lang="ru-RU" sz="2400" dirty="0"/>
              <a:t>Среда – </a:t>
            </a:r>
            <a:r>
              <a:rPr lang="en-US" sz="2400" dirty="0"/>
              <a:t>WEDNESDAY</a:t>
            </a:r>
            <a:endParaRPr lang="ru-RU" sz="2400" dirty="0"/>
          </a:p>
          <a:p>
            <a:pPr algn="just"/>
            <a:r>
              <a:rPr lang="ru-RU" sz="2400" dirty="0"/>
              <a:t>Четверг – </a:t>
            </a:r>
            <a:r>
              <a:rPr lang="en-US" sz="2400" dirty="0"/>
              <a:t>THURSDAY</a:t>
            </a:r>
            <a:endParaRPr lang="ru-RU" sz="2400" dirty="0"/>
          </a:p>
          <a:p>
            <a:pPr algn="just"/>
            <a:r>
              <a:rPr lang="ru-RU" sz="2400" dirty="0"/>
              <a:t>Пятница</a:t>
            </a:r>
            <a:r>
              <a:rPr lang="en-US" sz="2400" dirty="0"/>
              <a:t> – FRIDAY</a:t>
            </a:r>
            <a:endParaRPr lang="ru-RU" sz="2400" dirty="0"/>
          </a:p>
          <a:p>
            <a:pPr algn="just"/>
            <a:r>
              <a:rPr lang="ru-RU" sz="2400" dirty="0"/>
              <a:t>Суббота</a:t>
            </a:r>
            <a:r>
              <a:rPr lang="en-US" sz="2400" dirty="0"/>
              <a:t> – SATURDAY</a:t>
            </a:r>
            <a:endParaRPr lang="ru-RU" sz="2400" dirty="0"/>
          </a:p>
          <a:p>
            <a:pPr algn="just"/>
            <a:r>
              <a:rPr lang="ru-RU" sz="2400" dirty="0"/>
              <a:t>Воскресенье</a:t>
            </a:r>
            <a:r>
              <a:rPr lang="en-US" sz="2400" dirty="0"/>
              <a:t> – SUNDAY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1983031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8508C1-0CEF-42CA-96F5-69F319543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Решение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0037C55F-4F6A-434E-9254-C59991E24F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8845" y="1747371"/>
            <a:ext cx="8674310" cy="4745504"/>
          </a:xfrm>
        </p:spPr>
      </p:pic>
    </p:spTree>
    <p:extLst>
      <p:ext uri="{BB962C8B-B14F-4D97-AF65-F5344CB8AC3E}">
        <p14:creationId xmlns:p14="http://schemas.microsoft.com/office/powerpoint/2010/main" val="23247597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808585-6C71-464E-9FA7-934D12392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0287"/>
          </a:xfrm>
        </p:spPr>
        <p:txBody>
          <a:bodyPr/>
          <a:lstStyle/>
          <a:p>
            <a:r>
              <a:rPr lang="ru-RU" dirty="0"/>
              <a:t>Задание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EDADE2-5B7E-4733-AC63-5D53FABDB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0541"/>
            <a:ext cx="10515600" cy="3783106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/>
              <a:t>Робот смотрит в одну из сторон света (север, запад, юг, восток). Пользователю предлагается вбить значение для начального положения. Далее пользователю предлагается выбрать движение для робота:</a:t>
            </a:r>
          </a:p>
          <a:p>
            <a:pPr lvl="1" algn="just"/>
            <a:r>
              <a:rPr lang="ru-RU" dirty="0"/>
              <a:t>поворот налево</a:t>
            </a:r>
          </a:p>
          <a:p>
            <a:pPr lvl="1" algn="just"/>
            <a:r>
              <a:rPr lang="ru-RU" dirty="0"/>
              <a:t>продолжить идти в заданном направлении</a:t>
            </a:r>
          </a:p>
          <a:p>
            <a:pPr lvl="1" algn="just"/>
            <a:r>
              <a:rPr lang="ru-RU" dirty="0"/>
              <a:t>поворот направо</a:t>
            </a:r>
          </a:p>
          <a:p>
            <a:pPr marL="0" indent="0" algn="just">
              <a:buNone/>
            </a:pPr>
            <a:r>
              <a:rPr lang="ru-RU" dirty="0"/>
              <a:t>Нужно вывести информацию, в каком направлении будет смотреть робот после движения.</a:t>
            </a:r>
          </a:p>
        </p:txBody>
      </p:sp>
    </p:spTree>
    <p:extLst>
      <p:ext uri="{BB962C8B-B14F-4D97-AF65-F5344CB8AC3E}">
        <p14:creationId xmlns:p14="http://schemas.microsoft.com/office/powerpoint/2010/main" val="26875095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3CFBCA-B226-4408-8E4D-8A051E87A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1322"/>
          </a:xfrm>
        </p:spPr>
        <p:txBody>
          <a:bodyPr>
            <a:normAutofit/>
          </a:bodyPr>
          <a:lstStyle/>
          <a:p>
            <a:r>
              <a:rPr lang="ru-RU" dirty="0"/>
              <a:t>Задание (решение)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D2F065D-D35C-4735-A8A0-AE2A576A7D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1016"/>
            <a:ext cx="10515600" cy="4896983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/>
              <a:t>Необходимо понять, как будем хранить параметры (стороны света, направления движения).</a:t>
            </a:r>
            <a:r>
              <a:rPr lang="en-US" dirty="0"/>
              <a:t> </a:t>
            </a:r>
            <a:r>
              <a:rPr lang="ru-RU" dirty="0"/>
              <a:t>Делать это нужно осмысленно! Представим, что у нас нет </a:t>
            </a:r>
            <a:r>
              <a:rPr lang="en-US" i="1" dirty="0" err="1"/>
              <a:t>enum</a:t>
            </a:r>
            <a:r>
              <a:rPr lang="ru-RU" dirty="0"/>
              <a:t> и мы взяли случайные значения, которые пришли первыми в голову. Получится вот такой код:</a:t>
            </a:r>
          </a:p>
          <a:p>
            <a:pPr marL="0" indent="0" algn="just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07E3BEC-CE1C-45F3-BB36-E0CE0C90F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929" y="2936081"/>
            <a:ext cx="9108141" cy="383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619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AAA0A9-0C84-4545-9FB2-B7A7472EE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3011"/>
          </a:xfrm>
        </p:spPr>
        <p:txBody>
          <a:bodyPr/>
          <a:lstStyle/>
          <a:p>
            <a:r>
              <a:rPr lang="ru-RU" dirty="0"/>
              <a:t>Задание (решение)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106AF5-E242-4937-BB1E-64191D3D1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1872"/>
            <a:ext cx="10515600" cy="4915091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/>
              <a:t>Глаза вылезли на орбиту, не так ли? </a:t>
            </a:r>
            <a:r>
              <a:rPr lang="ru-RU" dirty="0">
                <a:sym typeface="Wingdings" panose="05000000000000000000" pitchFamily="2" charset="2"/>
              </a:rPr>
              <a:t></a:t>
            </a:r>
          </a:p>
          <a:p>
            <a:pPr marL="0" indent="0" algn="just">
              <a:buNone/>
            </a:pPr>
            <a:r>
              <a:rPr lang="ru-RU" dirty="0"/>
              <a:t>Как раз с помощью </a:t>
            </a:r>
            <a:r>
              <a:rPr lang="en-US" dirty="0" err="1"/>
              <a:t>enum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/>
              <a:t>switch-case </a:t>
            </a:r>
            <a:r>
              <a:rPr lang="ru-RU" dirty="0"/>
              <a:t>можно улучшить вид кода. Но вернёмся к вопросу, как же будем обозначать константы. Будем опираться на схему ниже: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EEEC051-C39A-4D07-BE29-D26F08E00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1372" y="3145831"/>
            <a:ext cx="6809255" cy="3347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809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B02CAE-9EA0-4836-A015-D87D6F283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1651"/>
          </a:xfrm>
        </p:spPr>
        <p:txBody>
          <a:bodyPr/>
          <a:lstStyle/>
          <a:p>
            <a:r>
              <a:rPr lang="ru-RU" dirty="0"/>
              <a:t>Задание (решение)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8D794F-7634-4E2E-ADCA-B1DAAF6EF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9199"/>
            <a:ext cx="10515600" cy="4957763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/>
              <a:t>Мы пронумеруем значения сторон света числами от 0 до 3.</a:t>
            </a:r>
          </a:p>
          <a:p>
            <a:pPr marL="0" indent="0" algn="just">
              <a:buNone/>
            </a:pPr>
            <a:r>
              <a:rPr lang="ru-RU" dirty="0"/>
              <a:t>Давайте воспользуемся этим при выборе значений для именованных констант, обозначающих </a:t>
            </a:r>
            <a:r>
              <a:rPr lang="ru-RU" i="1" dirty="0"/>
              <a:t>направление движения</a:t>
            </a:r>
            <a:r>
              <a:rPr lang="ru-RU" dirty="0"/>
              <a:t>.</a:t>
            </a:r>
          </a:p>
          <a:p>
            <a:pPr lvl="1" algn="just"/>
            <a:r>
              <a:rPr lang="ru-RU" dirty="0"/>
              <a:t>0 – движение вперёд (не меняется направление)</a:t>
            </a:r>
          </a:p>
          <a:p>
            <a:pPr lvl="1" algn="just"/>
            <a:r>
              <a:rPr lang="ru-RU" dirty="0"/>
              <a:t>1 – движение направо</a:t>
            </a:r>
          </a:p>
          <a:p>
            <a:pPr lvl="1" algn="just"/>
            <a:r>
              <a:rPr lang="ru-RU" dirty="0"/>
              <a:t>-1 – движение налево налево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B92CA56-8D32-44A0-8716-7FBA38C39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5029" y="3968130"/>
            <a:ext cx="5221941" cy="2889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755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9A046F-D4DC-4399-BBD1-5AFE6F4D3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7863"/>
          </a:xfrm>
        </p:spPr>
        <p:txBody>
          <a:bodyPr/>
          <a:lstStyle/>
          <a:p>
            <a:r>
              <a:rPr lang="ru-RU" dirty="0"/>
              <a:t>Задание (решение)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3240B7-FAEC-4752-8C7D-E55FDC67A4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0894"/>
            <a:ext cx="10515600" cy="511884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/>
              <a:t>Проблема возникает, когда мы пытаемся повернуть робота с севера на запад и наоборот:</a:t>
            </a:r>
          </a:p>
          <a:p>
            <a:pPr lvl="1" algn="just"/>
            <a:r>
              <a:rPr lang="ru-RU" dirty="0"/>
              <a:t>0 – 1 = -1 (как сделать 3?)</a:t>
            </a:r>
          </a:p>
          <a:p>
            <a:pPr lvl="1" algn="just"/>
            <a:r>
              <a:rPr lang="ru-RU" dirty="0"/>
              <a:t>3 + 1 = 4 (как сделать 0?)</a:t>
            </a:r>
          </a:p>
          <a:p>
            <a:pPr marL="0" indent="0" algn="just">
              <a:buNone/>
            </a:pPr>
            <a:r>
              <a:rPr lang="ru-RU" dirty="0"/>
              <a:t>Для решения подобного вопроса можно воспользоваться остатком от деления на </a:t>
            </a:r>
            <a:r>
              <a:rPr lang="ru-RU" b="1" dirty="0"/>
              <a:t>4</a:t>
            </a:r>
            <a:r>
              <a:rPr lang="ru-RU" dirty="0"/>
              <a:t>. </a:t>
            </a:r>
          </a:p>
          <a:p>
            <a:pPr lvl="1" algn="just"/>
            <a:r>
              <a:rPr lang="ru-RU" dirty="0"/>
              <a:t>(3 + 1) </a:t>
            </a:r>
            <a:r>
              <a:rPr lang="en-US" dirty="0"/>
              <a:t>/ 4 = 1 (</a:t>
            </a:r>
            <a:r>
              <a:rPr lang="ru-RU" b="1" dirty="0"/>
              <a:t>ост. 0</a:t>
            </a:r>
            <a:r>
              <a:rPr lang="en-US" dirty="0"/>
              <a:t>)</a:t>
            </a:r>
            <a:endParaRPr lang="ru-RU" dirty="0"/>
          </a:p>
          <a:p>
            <a:pPr lvl="1" algn="just"/>
            <a:r>
              <a:rPr lang="ru-RU" dirty="0"/>
              <a:t>(0 - 1) </a:t>
            </a:r>
            <a:r>
              <a:rPr lang="en-US" dirty="0"/>
              <a:t>/ 4 = 0 (</a:t>
            </a:r>
            <a:r>
              <a:rPr lang="ru-RU" b="1" dirty="0"/>
              <a:t>ост. 3</a:t>
            </a:r>
            <a:r>
              <a:rPr lang="en-US" dirty="0"/>
              <a:t>)</a:t>
            </a:r>
            <a:endParaRPr lang="ru-RU" dirty="0"/>
          </a:p>
          <a:p>
            <a:pPr marL="0" indent="0" algn="just">
              <a:buNone/>
            </a:pPr>
            <a:r>
              <a:rPr lang="ru-RU" dirty="0"/>
              <a:t>Самое красивое: для других случаев операция взятия остатка от деления никак не помешает!</a:t>
            </a:r>
          </a:p>
          <a:p>
            <a:pPr lvl="1" algn="just"/>
            <a:r>
              <a:rPr lang="ru-RU" dirty="0"/>
              <a:t>(2 + 1) </a:t>
            </a:r>
            <a:r>
              <a:rPr lang="en-US" dirty="0"/>
              <a:t>/ 4 = </a:t>
            </a:r>
            <a:r>
              <a:rPr lang="ru-RU" dirty="0"/>
              <a:t>0 </a:t>
            </a:r>
            <a:r>
              <a:rPr lang="en-US" dirty="0"/>
              <a:t>(</a:t>
            </a:r>
            <a:r>
              <a:rPr lang="ru-RU" dirty="0"/>
              <a:t>ост. 3</a:t>
            </a:r>
            <a:r>
              <a:rPr lang="en-US" dirty="0"/>
              <a:t>)</a:t>
            </a:r>
            <a:endParaRPr lang="ru-RU" dirty="0"/>
          </a:p>
          <a:p>
            <a:pPr lvl="1" algn="just"/>
            <a:r>
              <a:rPr lang="ru-RU" dirty="0"/>
              <a:t>(1 - 1) </a:t>
            </a:r>
            <a:r>
              <a:rPr lang="en-US" dirty="0"/>
              <a:t>/ 4 = 0 (</a:t>
            </a:r>
            <a:r>
              <a:rPr lang="ru-RU" dirty="0"/>
              <a:t>ост. 0</a:t>
            </a:r>
            <a:r>
              <a:rPr lang="en-US" dirty="0"/>
              <a:t>)</a:t>
            </a:r>
            <a:r>
              <a:rPr lang="ru-RU" dirty="0"/>
              <a:t> и т.д.</a:t>
            </a:r>
          </a:p>
        </p:txBody>
      </p:sp>
    </p:spTree>
    <p:extLst>
      <p:ext uri="{BB962C8B-B14F-4D97-AF65-F5344CB8AC3E}">
        <p14:creationId xmlns:p14="http://schemas.microsoft.com/office/powerpoint/2010/main" val="456528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B9EE51-3E11-40E3-82AF-17A84E542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(решение)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C13F8E-0F9D-421C-9A8E-F28D11002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35579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200" dirty="0"/>
              <a:t>Получаем  набор именованных констант</a:t>
            </a:r>
            <a:r>
              <a:rPr lang="en-US" sz="3200" dirty="0"/>
              <a:t>.</a:t>
            </a:r>
            <a:endParaRPr lang="ru-RU" sz="3200" dirty="0"/>
          </a:p>
          <a:p>
            <a:r>
              <a:rPr lang="ru-RU" sz="3200" dirty="0"/>
              <a:t>Стороны света</a:t>
            </a:r>
          </a:p>
          <a:p>
            <a:pPr marL="457200" lvl="1" indent="0">
              <a:buNone/>
            </a:pPr>
            <a:r>
              <a:rPr lang="en-US" sz="2800" dirty="0" err="1"/>
              <a:t>enum</a:t>
            </a:r>
            <a:r>
              <a:rPr lang="en-US" sz="2800" dirty="0"/>
              <a:t> </a:t>
            </a:r>
            <a:r>
              <a:rPr lang="en-US" sz="2800" dirty="0" err="1"/>
              <a:t>Storony</a:t>
            </a:r>
            <a:r>
              <a:rPr lang="en-US" sz="2800" dirty="0"/>
              <a:t> {sever = 0, </a:t>
            </a:r>
            <a:r>
              <a:rPr lang="en-US" sz="2800" dirty="0" err="1"/>
              <a:t>vostok</a:t>
            </a:r>
            <a:r>
              <a:rPr lang="en-US" sz="2800" dirty="0"/>
              <a:t>, </a:t>
            </a:r>
            <a:r>
              <a:rPr lang="en-US" sz="2800" dirty="0" err="1"/>
              <a:t>yug</a:t>
            </a:r>
            <a:r>
              <a:rPr lang="en-US" sz="2800" dirty="0"/>
              <a:t>, </a:t>
            </a:r>
            <a:r>
              <a:rPr lang="en-US" sz="2800" dirty="0" err="1"/>
              <a:t>zapad</a:t>
            </a:r>
            <a:r>
              <a:rPr lang="en-US" sz="2800" dirty="0"/>
              <a:t>}; </a:t>
            </a:r>
            <a:r>
              <a:rPr lang="ru-RU" sz="2800" dirty="0"/>
              <a:t>или</a:t>
            </a:r>
            <a:endParaRPr lang="en-US" sz="2800" dirty="0"/>
          </a:p>
          <a:p>
            <a:pPr marL="457200" lvl="1" indent="0">
              <a:buNone/>
            </a:pPr>
            <a:r>
              <a:rPr lang="en-US" sz="2800" dirty="0" err="1"/>
              <a:t>enum</a:t>
            </a:r>
            <a:r>
              <a:rPr lang="en-US" sz="2800" dirty="0"/>
              <a:t> Sides {north = 0, east, south, west};</a:t>
            </a:r>
          </a:p>
          <a:p>
            <a:r>
              <a:rPr lang="ru-RU" sz="3200" dirty="0"/>
              <a:t>Направления движения</a:t>
            </a:r>
          </a:p>
          <a:p>
            <a:pPr marL="457200" lvl="1" indent="0">
              <a:buNone/>
            </a:pPr>
            <a:r>
              <a:rPr lang="en-US" sz="2800" dirty="0" err="1"/>
              <a:t>enum</a:t>
            </a:r>
            <a:r>
              <a:rPr lang="en-US" sz="2800" dirty="0"/>
              <a:t> </a:t>
            </a:r>
            <a:r>
              <a:rPr lang="en-US" sz="2800" dirty="0" err="1"/>
              <a:t>Dvijenie</a:t>
            </a:r>
            <a:r>
              <a:rPr lang="en-US" sz="2800" dirty="0"/>
              <a:t> {</a:t>
            </a:r>
            <a:r>
              <a:rPr lang="en-US" sz="2800" dirty="0" err="1"/>
              <a:t>nalevo</a:t>
            </a:r>
            <a:r>
              <a:rPr lang="en-US" sz="2800" dirty="0"/>
              <a:t> = -1, </a:t>
            </a:r>
            <a:r>
              <a:rPr lang="en-US" sz="2800" dirty="0" err="1"/>
              <a:t>prjamo</a:t>
            </a:r>
            <a:r>
              <a:rPr lang="en-US" sz="2800" dirty="0"/>
              <a:t>, </a:t>
            </a:r>
            <a:r>
              <a:rPr lang="en-US" sz="2800" dirty="0" err="1"/>
              <a:t>napravo</a:t>
            </a:r>
            <a:r>
              <a:rPr lang="en-US" sz="2800" dirty="0"/>
              <a:t>}; </a:t>
            </a:r>
            <a:r>
              <a:rPr lang="ru-RU" sz="2800" dirty="0"/>
              <a:t>или</a:t>
            </a:r>
          </a:p>
          <a:p>
            <a:pPr marL="457200" lvl="1" indent="0">
              <a:buNone/>
            </a:pPr>
            <a:r>
              <a:rPr lang="en-US" sz="2800" dirty="0" err="1"/>
              <a:t>enum</a:t>
            </a:r>
            <a:r>
              <a:rPr lang="en-US" sz="2800" dirty="0"/>
              <a:t> Directions {left = -1, straight, right};</a:t>
            </a:r>
            <a:endParaRPr lang="ru-RU" sz="2800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2693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C56685-B15E-4028-A493-D2A6262E6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6837"/>
            <a:ext cx="10515600" cy="997331"/>
          </a:xfrm>
        </p:spPr>
        <p:txBody>
          <a:bodyPr/>
          <a:lstStyle/>
          <a:p>
            <a:r>
              <a:rPr lang="ru-RU" dirty="0"/>
              <a:t>Задача (решение)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BFAAD2-15DA-437D-957F-B709AEC8F2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173097"/>
            <a:ext cx="11149584" cy="3340735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ru-RU" dirty="0"/>
              <a:t>Завести </a:t>
            </a:r>
            <a:r>
              <a:rPr lang="en-US" dirty="0" err="1"/>
              <a:t>enum</a:t>
            </a:r>
            <a:r>
              <a:rPr lang="en-US" dirty="0"/>
              <a:t>-</a:t>
            </a:r>
            <a:r>
              <a:rPr lang="ru-RU" i="1" dirty="0"/>
              <a:t>перечисления</a:t>
            </a:r>
            <a:r>
              <a:rPr lang="en-US" i="1" dirty="0"/>
              <a:t>.</a:t>
            </a:r>
          </a:p>
          <a:p>
            <a:pPr marL="514350" indent="-514350">
              <a:buAutoNum type="arabicPeriod"/>
            </a:pPr>
            <a:r>
              <a:rPr lang="ru-RU" dirty="0"/>
              <a:t>Завести переменные для ввода пользователя</a:t>
            </a:r>
          </a:p>
          <a:p>
            <a:pPr marL="514350" indent="-514350">
              <a:buAutoNum type="arabicPeriod"/>
            </a:pPr>
            <a:r>
              <a:rPr lang="ru-RU" dirty="0"/>
              <a:t>Оформить ввод данных</a:t>
            </a:r>
          </a:p>
          <a:p>
            <a:pPr marL="514350" indent="-514350">
              <a:buAutoNum type="arabicPeriod"/>
            </a:pPr>
            <a:r>
              <a:rPr lang="ru-RU" dirty="0"/>
              <a:t>Вычислить итоговое направление по формуле:</a:t>
            </a:r>
          </a:p>
          <a:p>
            <a:pPr marL="457200" lvl="1" indent="0">
              <a:buNone/>
            </a:pPr>
            <a:r>
              <a:rPr lang="ru-RU" dirty="0" err="1"/>
              <a:t>итог_направление</a:t>
            </a:r>
            <a:r>
              <a:rPr lang="ru-RU" dirty="0"/>
              <a:t> = (</a:t>
            </a:r>
            <a:r>
              <a:rPr lang="ru-RU" dirty="0" err="1"/>
              <a:t>нач_направление</a:t>
            </a:r>
            <a:r>
              <a:rPr lang="ru-RU" dirty="0"/>
              <a:t> + движение) </a:t>
            </a:r>
            <a:r>
              <a:rPr lang="en-US" dirty="0"/>
              <a:t>% 4;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5. С помощью конструкции </a:t>
            </a:r>
            <a:r>
              <a:rPr lang="en-US" dirty="0"/>
              <a:t>switch-case </a:t>
            </a:r>
            <a:r>
              <a:rPr lang="ru-RU" dirty="0"/>
              <a:t>вывести на экран итоговое направление робота</a:t>
            </a:r>
          </a:p>
        </p:txBody>
      </p:sp>
    </p:spTree>
    <p:extLst>
      <p:ext uri="{BB962C8B-B14F-4D97-AF65-F5344CB8AC3E}">
        <p14:creationId xmlns:p14="http://schemas.microsoft.com/office/powerpoint/2010/main" val="15248256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C8C6FC-9520-4FD4-95E9-AAB88354C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6163"/>
          </a:xfrm>
        </p:spPr>
        <p:txBody>
          <a:bodyPr/>
          <a:lstStyle/>
          <a:p>
            <a:r>
              <a:rPr lang="ru-RU" dirty="0"/>
              <a:t>Задача (решение)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D7CC230B-CE0B-4724-9721-7223737C63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5119" y="1060704"/>
            <a:ext cx="7401762" cy="5535830"/>
          </a:xfrm>
        </p:spPr>
      </p:pic>
    </p:spTree>
    <p:extLst>
      <p:ext uri="{BB962C8B-B14F-4D97-AF65-F5344CB8AC3E}">
        <p14:creationId xmlns:p14="http://schemas.microsoft.com/office/powerpoint/2010/main" val="76691362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</TotalTime>
  <Words>1434</Words>
  <Application>Microsoft Office PowerPoint</Application>
  <PresentationFormat>Широкоэкранный</PresentationFormat>
  <Paragraphs>178</Paragraphs>
  <Slides>36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36</vt:i4>
      </vt:variant>
    </vt:vector>
  </HeadingPairs>
  <TitlesOfParts>
    <vt:vector size="43" baseType="lpstr">
      <vt:lpstr>Arial</vt:lpstr>
      <vt:lpstr>Calibri</vt:lpstr>
      <vt:lpstr>Calibri Light</vt:lpstr>
      <vt:lpstr>Cambria Math</vt:lpstr>
      <vt:lpstr>Consolas</vt:lpstr>
      <vt:lpstr>Wingdings</vt:lpstr>
      <vt:lpstr>Тема Office</vt:lpstr>
      <vt:lpstr>Основы программирования на языке C++</vt:lpstr>
      <vt:lpstr>План презентации</vt:lpstr>
      <vt:lpstr>Домашнее задание</vt:lpstr>
      <vt:lpstr>Ветвящиеся алгоритмы</vt:lpstr>
      <vt:lpstr>Блок-схема</vt:lpstr>
      <vt:lpstr>Примеры использования</vt:lpstr>
      <vt:lpstr>Операторы сравнения</vt:lpstr>
      <vt:lpstr>Задание</vt:lpstr>
      <vt:lpstr>Решение</vt:lpstr>
      <vt:lpstr>Связка условий через логические операторы</vt:lpstr>
      <vt:lpstr>Лесенка if – else if</vt:lpstr>
      <vt:lpstr>Задача</vt:lpstr>
      <vt:lpstr>Задача</vt:lpstr>
      <vt:lpstr>Формула</vt:lpstr>
      <vt:lpstr>Алгоритм (блок-схема)</vt:lpstr>
      <vt:lpstr>Операторы составного присваивания</vt:lpstr>
      <vt:lpstr>Синтаксический сахар</vt:lpstr>
      <vt:lpstr>Задача</vt:lpstr>
      <vt:lpstr>Структура множественного выбора switch-case</vt:lpstr>
      <vt:lpstr>Структура множественного выбора switch-case</vt:lpstr>
      <vt:lpstr>Задача</vt:lpstr>
      <vt:lpstr>Задача (решение)</vt:lpstr>
      <vt:lpstr>Задача (улучшенная версия решения)</vt:lpstr>
      <vt:lpstr>Ключевое слово</vt:lpstr>
      <vt:lpstr>Ключевое слово enum</vt:lpstr>
      <vt:lpstr>Ключевое слово enum</vt:lpstr>
      <vt:lpstr>Задание</vt:lpstr>
      <vt:lpstr>Решение</vt:lpstr>
      <vt:lpstr>Задание</vt:lpstr>
      <vt:lpstr>Задание (решение)</vt:lpstr>
      <vt:lpstr>Задание (решение)</vt:lpstr>
      <vt:lpstr>Задание (решение)</vt:lpstr>
      <vt:lpstr>Задание (решение)</vt:lpstr>
      <vt:lpstr>Задача (решение)</vt:lpstr>
      <vt:lpstr>Задача (решение)</vt:lpstr>
      <vt:lpstr>Задача (решение)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Основы программирования на языке C++</dc:title>
  <dc:creator>varitch.rodion.2@gmail.com</dc:creator>
  <cp:lastModifiedBy>varitch.rodion.2@gmail.com</cp:lastModifiedBy>
  <cp:revision>113</cp:revision>
  <dcterms:created xsi:type="dcterms:W3CDTF">2026-07-06T12:50:58Z</dcterms:created>
  <dcterms:modified xsi:type="dcterms:W3CDTF">2026-07-08T15:02:26Z</dcterms:modified>
</cp:coreProperties>
</file>