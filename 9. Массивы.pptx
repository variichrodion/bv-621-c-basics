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7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6BF0C-B5C3-4403-8FF8-A87C8DB5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673B04-B6BB-46A5-82C8-F2E6AF837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025910-2594-4621-98D6-1694EE6B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ED4429-CD67-478D-A26D-0AFAFC42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41B89-DB3E-4A89-BCE7-61CE5A55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49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F2F88-C9FD-444B-A083-D365132D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9F97F-7BBA-43A2-B42A-F4248547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C52F9-39D3-4DC0-AC0E-1FB4922F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2BF322-015A-449B-8D75-B343B1B8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285C7-F5C5-4DEE-A35D-85FF1A53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0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84C58-100A-4E34-BB34-8231D8B0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2F04E4-A296-40C3-A385-57E7FB4C6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ABA77C-D88D-4181-ADFF-3A3354D9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64BB18-2DA4-4D68-A00D-4912075A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D8B1CE-2579-472C-B220-3AF8996A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95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909E5-3D5B-4A99-92D9-B7EB6933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0BA02-2BA7-4D14-B0F7-BABC84F8A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B0F4F6-5A1F-4F8C-A520-62A175247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5C5E11-549D-4256-8BEB-8D316331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74BBB0-797F-42F4-B4A9-37FEAF79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CB35F6-C2A2-4F38-92F1-A1DF2A77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86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93E3A-F7CE-4AC7-BADC-798A8172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083DF6-F81A-465D-87D4-B43ACCAB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64F76B-14E7-4569-9E23-2DC5AB8C7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ACADD7-4D6B-4953-9D75-D2371BB69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788AA9-03CE-439A-86E7-AFA764B8F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D7B672-A4FD-4B28-9272-23F3D6C4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DA9F5D-868B-4EB7-9717-AAA48C50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B39D69-8B28-45B6-82E7-0B88AE2D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49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AF5B9-1386-4DB3-8D59-C691DC90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72013F-5FD0-409C-9F7E-5F12BDEB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1CEDE7-2191-43AE-BF7F-0A327756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1FF707-E722-4759-A47A-B892AC89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92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BBF89C-9FD6-4C61-9D46-C63B18D9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D7FE4D-AFF6-461F-8CAB-66EBEA9C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790618-98EA-44A1-BED0-F8901FF8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68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CA8B3-4BB0-4712-88E4-2D0A2FFD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418750-BC1E-4B4F-B593-998358DBC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BA1F78-3F5A-4D7D-A2DB-CAEFD3D6D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173ECA-FAAD-46F7-9542-127B9033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A43794-BEC5-4229-976F-02E29997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E6DFC1-82CF-445E-B1CA-36DCF55F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41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FBE10-BFC2-4794-9094-DA16B9AB1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47CA53-2516-4BC3-8BCE-AA5345332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7C4E52-A730-4569-B369-D739D83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6353CC-50BF-47E9-AA30-2AB30B88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DA0F60-2557-4217-A8D4-681603BE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377052-E2AC-428E-A12A-B84DB8FF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54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FDA3F-095D-4694-914F-EF1BC9D0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8E0310-061B-40D7-866C-DEBACCFF9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3C0F39-CAAF-4C55-8AE2-3EEF9FB9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96CA11-8F97-4BE6-9A25-4ECF13BD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79C6CF-D711-49AC-876C-53061E63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97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175028-E578-46CA-A8D3-152CCD1A2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DD3A11-9539-4295-9704-19B60A904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AB2132-C9A9-4328-9406-0B5D8329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42A73E-EF8C-42CD-9861-9989DDF1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AFD507-4275-4BD4-8BE0-DC6EC0ED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94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DEBC8-BE80-49E1-85C3-1CD5C407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3E6319-318B-48F0-98EE-E2BB51BC5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4ACC71-71E8-4261-9FCA-168EA9F24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0B40-5A50-435F-B6A9-5F59A1CBF8A0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3ABDA4-C17F-4719-A925-A95DB2869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7EF8A-7063-4F9E-AD36-BE4839DC8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82365-F25B-457A-B718-05F890384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44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DE006-B9F8-47D8-91C1-7E336270C9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34D768-2B0E-4F40-A9D0-89F5672D3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18833"/>
          </a:xfrm>
        </p:spPr>
        <p:txBody>
          <a:bodyPr>
            <a:normAutofit fontScale="92500" lnSpcReduction="10000"/>
          </a:bodyPr>
          <a:lstStyle/>
          <a:p>
            <a:endParaRPr lang="ru-RU" sz="2000" dirty="0"/>
          </a:p>
          <a:p>
            <a:pPr algn="r"/>
            <a:endParaRPr lang="ru-RU" sz="2000" dirty="0"/>
          </a:p>
          <a:p>
            <a:pPr algn="r"/>
            <a:r>
              <a:rPr lang="en-US" sz="2600" dirty="0"/>
              <a:t>https://github.com/variichrodion/BV-621-C-Basics</a:t>
            </a:r>
            <a:endParaRPr lang="ru-RU" sz="2600" dirty="0"/>
          </a:p>
          <a:p>
            <a:pPr algn="r"/>
            <a:r>
              <a:rPr lang="ru-RU" sz="2600" dirty="0"/>
              <a:t>Массивы</a:t>
            </a:r>
          </a:p>
          <a:p>
            <a:pPr algn="r"/>
            <a:r>
              <a:rPr lang="ru-RU" sz="2600" dirty="0"/>
              <a:t>20.07.2026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4902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3ED05-370A-443C-9F98-B234D685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BD676D-29DA-4A72-83AC-097856A36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82"/>
            <a:ext cx="10515600" cy="4572281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Домашнее задание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Понятие массива</a:t>
            </a:r>
          </a:p>
          <a:p>
            <a:pPr lvl="1"/>
            <a:r>
              <a:rPr lang="ru-RU" dirty="0"/>
              <a:t>Проблема</a:t>
            </a:r>
          </a:p>
          <a:p>
            <a:pPr lvl="1"/>
            <a:r>
              <a:rPr lang="ru-RU" dirty="0"/>
              <a:t>Определение</a:t>
            </a:r>
          </a:p>
          <a:p>
            <a:pPr lvl="1"/>
            <a:r>
              <a:rPr lang="ru-RU" dirty="0"/>
              <a:t>Синтаксис</a:t>
            </a:r>
          </a:p>
          <a:p>
            <a:pPr lvl="1"/>
            <a:r>
              <a:rPr lang="ru-RU" dirty="0"/>
              <a:t>Инициализация</a:t>
            </a:r>
          </a:p>
          <a:p>
            <a:pPr lvl="1"/>
            <a:r>
              <a:rPr lang="ru-RU" dirty="0"/>
              <a:t>Размер и нумерация</a:t>
            </a:r>
            <a:endParaRPr lang="en-US" dirty="0"/>
          </a:p>
          <a:p>
            <a:pPr lvl="1"/>
            <a:r>
              <a:rPr lang="ru-RU" dirty="0"/>
              <a:t>Оперативная память</a:t>
            </a:r>
          </a:p>
          <a:p>
            <a:pPr marL="514350" indent="-514350">
              <a:buAutoNum type="arabicPeriod"/>
            </a:pPr>
            <a:r>
              <a:rPr lang="ru-RU" dirty="0"/>
              <a:t>Практика</a:t>
            </a:r>
          </a:p>
          <a:p>
            <a:pPr marL="514350" indent="-514350">
              <a:buAutoNum type="arabicPeriod"/>
            </a:pPr>
            <a:r>
              <a:rPr lang="ru-RU" dirty="0"/>
              <a:t>Инициализация массива случайными числами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38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21849-30DA-435B-928B-ECBA7E41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96E5CC-CC1F-4AEC-B617-9D82E2B79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 массиве хранится информация о стоимости 10 марок</a:t>
            </a:r>
            <a:r>
              <a:rPr lang="en-US" dirty="0"/>
              <a:t> </a:t>
            </a:r>
            <a:r>
              <a:rPr lang="ru-RU" dirty="0"/>
              <a:t>автомобилей. Массив инициализируем списком.</a:t>
            </a:r>
          </a:p>
          <a:p>
            <a:pPr marL="0" indent="0" algn="just">
              <a:buNone/>
            </a:pPr>
            <a:r>
              <a:rPr lang="ru-RU" dirty="0"/>
              <a:t>Например, </a:t>
            </a:r>
            <a:r>
              <a:rPr lang="en-US" dirty="0" err="1"/>
              <a:t>arr</a:t>
            </a:r>
            <a:r>
              <a:rPr lang="en-US" dirty="0"/>
              <a:t>[10] = {10,</a:t>
            </a:r>
            <a:r>
              <a:rPr lang="ru-RU" dirty="0"/>
              <a:t> </a:t>
            </a:r>
            <a:r>
              <a:rPr lang="en-US" dirty="0"/>
              <a:t>20,</a:t>
            </a:r>
            <a:r>
              <a:rPr lang="ru-RU" dirty="0"/>
              <a:t> </a:t>
            </a:r>
            <a:r>
              <a:rPr lang="en-US" dirty="0"/>
              <a:t>20,</a:t>
            </a:r>
            <a:r>
              <a:rPr lang="ru-RU" dirty="0"/>
              <a:t> </a:t>
            </a:r>
            <a:r>
              <a:rPr lang="en-US" dirty="0"/>
              <a:t>15,</a:t>
            </a:r>
            <a:r>
              <a:rPr lang="ru-RU" dirty="0"/>
              <a:t> и т. д.</a:t>
            </a:r>
            <a:r>
              <a:rPr lang="en-US" dirty="0"/>
              <a:t>}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Определить сумму наиболее дорогого</a:t>
            </a:r>
            <a:r>
              <a:rPr lang="en-US" dirty="0"/>
              <a:t> </a:t>
            </a:r>
            <a:r>
              <a:rPr lang="ru-RU" dirty="0"/>
              <a:t>автомобиля и узнать его номер. Если таких автомобилей несколько, определить: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а) номер первого такого автомобиля;</a:t>
            </a:r>
            <a:endParaRPr lang="en-US" dirty="0"/>
          </a:p>
          <a:p>
            <a:pPr marL="0" indent="0" algn="just">
              <a:buNone/>
            </a:pPr>
            <a:r>
              <a:rPr lang="ru-RU"/>
              <a:t>б) номер последнего такого автомобиля.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87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C5BF6-B4B2-4561-9AC9-E466FA5E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</a:t>
            </a:r>
            <a:r>
              <a:rPr lang="ru-RU" i="1" dirty="0"/>
              <a:t>массива</a:t>
            </a:r>
            <a:r>
              <a:rPr lang="ru-RU" dirty="0"/>
              <a:t> (пример проблемы)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7E25C-5830-434D-BE0A-2512BA2D4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Ситуация: необходимо хранить информацию о количестве пассажиров в каждом из вагонов поезда.</a:t>
            </a:r>
          </a:p>
          <a:p>
            <a:pPr algn="just"/>
            <a:r>
              <a:rPr lang="ru-RU" dirty="0"/>
              <a:t>Создаём переменные под каждый вагон, в чём проблема?</a:t>
            </a:r>
          </a:p>
          <a:p>
            <a:pPr algn="just"/>
            <a:r>
              <a:rPr lang="ru-RU" dirty="0"/>
              <a:t>Для маленького числа вагонов больших неудобств не будет. А если таких вагонов станет 15? 20? Масштабы увеличиваются…</a:t>
            </a:r>
          </a:p>
          <a:p>
            <a:pPr algn="just"/>
            <a:r>
              <a:rPr lang="ru-RU" dirty="0"/>
              <a:t>Задача становится </a:t>
            </a:r>
            <a:r>
              <a:rPr lang="ru-RU" b="1" dirty="0"/>
              <a:t>очень</a:t>
            </a:r>
            <a:r>
              <a:rPr lang="ru-RU" dirty="0"/>
              <a:t> сложной для программирования.</a:t>
            </a:r>
          </a:p>
          <a:p>
            <a:pPr algn="just"/>
            <a:r>
              <a:rPr lang="ru-RU" dirty="0"/>
              <a:t>Для хранения и обработки группы </a:t>
            </a:r>
            <a:r>
              <a:rPr lang="ru-RU" b="1" dirty="0"/>
              <a:t>однотипных </a:t>
            </a:r>
            <a:r>
              <a:rPr lang="ru-RU" dirty="0"/>
              <a:t>данных созданы </a:t>
            </a:r>
            <a:r>
              <a:rPr lang="ru-RU" b="1" i="1" dirty="0"/>
              <a:t>массивы</a:t>
            </a:r>
            <a:r>
              <a:rPr lang="ru-RU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13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AFBDA-FD41-4B29-B1D9-9DE04E31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массива (определение!)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0A815B-E404-4A56-A6ED-4C723849A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828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/>
              <a:t>Массив</a:t>
            </a:r>
            <a:r>
              <a:rPr lang="ru-RU" dirty="0"/>
              <a:t> – набор однотипных данных, объединённых общим именем.</a:t>
            </a:r>
          </a:p>
          <a:p>
            <a:pPr marL="0" indent="0" algn="just">
              <a:buNone/>
            </a:pPr>
            <a:r>
              <a:rPr lang="ru-RU" dirty="0"/>
              <a:t>Они удобны не только в обращении с большим множеством данных, но и объединением их по определённому признаку.</a:t>
            </a:r>
          </a:p>
          <a:p>
            <a:pPr marL="0" indent="0" algn="just">
              <a:buNone/>
            </a:pPr>
            <a:r>
              <a:rPr lang="ru-RU" dirty="0"/>
              <a:t>Вернёмся к поездам. Попробуем запрограммировать хранение данных о числе пассажиров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8329B6-DF05-4AAD-A161-65DDA058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4430806"/>
            <a:ext cx="78486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FCD75-0BFD-4634-A38B-2BE7785E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массива (синтаксис)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E5DA8C-2F96-481E-B0B4-434B4982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82"/>
            <a:ext cx="10515600" cy="456331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Объявление массива:</a:t>
            </a:r>
          </a:p>
          <a:p>
            <a:pPr marL="0" indent="0" algn="ctr">
              <a:buNone/>
            </a:pP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тип_данных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имя_массива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кол-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во_элементов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Объект 3">
            <a:extLst>
              <a:ext uri="{FF2B5EF4-FFF2-40B4-BE49-F238E27FC236}">
                <a16:creationId xmlns:a16="http://schemas.microsoft.com/office/drawing/2014/main" id="{A31755CC-B282-47C2-BB05-C01ED1CB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736" y="5318279"/>
            <a:ext cx="6219264" cy="153972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ADD4FF1-3698-4FEC-929B-5F0E04F63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59" y="2666499"/>
            <a:ext cx="6861081" cy="265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C354C-DE26-49F3-89BE-2934EFA5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массива</a:t>
            </a:r>
            <a:r>
              <a:rPr lang="en-US" dirty="0"/>
              <a:t> (</a:t>
            </a:r>
            <a:r>
              <a:rPr lang="ru-RU" dirty="0"/>
              <a:t>объявление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02BC0F-703F-43DD-AF89-6AEABCB0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Предпочтительнее задавать размер массива в заранее созданной </a:t>
            </a:r>
            <a:r>
              <a:rPr lang="ru-RU" i="1" dirty="0"/>
              <a:t>константе</a:t>
            </a:r>
            <a:r>
              <a:rPr lang="ru-RU" dirty="0"/>
              <a:t>. </a:t>
            </a:r>
          </a:p>
          <a:p>
            <a:pPr marL="0" indent="0" algn="just">
              <a:buNone/>
            </a:pPr>
            <a:r>
              <a:rPr lang="ru-RU" dirty="0"/>
              <a:t>Замечание: в качестве размера массива можно задавать ТОЛЬКО константное значение (переменную нельзя)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97D89A-D21F-4861-ABBC-C0950563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1825625"/>
            <a:ext cx="6981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5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CD096-3091-4A68-B1BB-FF2EAE25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массива (инициализация)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E48C47F-4E72-4403-87C9-2FC71EF9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Вариант 1. Обращение к каждому элементу (можно и в цикле):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Вариант 2. Списочек </a:t>
            </a:r>
            <a:r>
              <a:rPr lang="ru-RU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0474F5-CA31-4E3E-AF9D-E116163E7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8144"/>
            <a:ext cx="3779674" cy="14139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AD39F9C-6879-48EB-B3DD-55698FE3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7" y="4370868"/>
            <a:ext cx="6943725" cy="12573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3CC1EA9-9BAA-4749-9D2A-F62611DC7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86" y="2457883"/>
            <a:ext cx="66103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1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1934A-6EC8-42FC-BF13-B63E1470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массива (размер и нумерация)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CFF8DA-F056-4B01-B559-5694A3614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ОБРАТИТЕ ВНИМАНИЕ! Размер массива задаётся </a:t>
            </a:r>
            <a:r>
              <a:rPr lang="ru-RU" b="1" dirty="0"/>
              <a:t>до компиляции</a:t>
            </a:r>
            <a:r>
              <a:rPr lang="ru-RU" dirty="0"/>
              <a:t> и его </a:t>
            </a:r>
            <a:r>
              <a:rPr lang="ru-RU" b="1" dirty="0"/>
              <a:t>нельзя менять</a:t>
            </a:r>
            <a:r>
              <a:rPr lang="ru-RU" dirty="0"/>
              <a:t> в процессе работы программы (ввиду какого-то условия или по </a:t>
            </a:r>
            <a:r>
              <a:rPr lang="en-US" dirty="0"/>
              <a:t>“</a:t>
            </a:r>
            <a:r>
              <a:rPr lang="ru-RU" dirty="0" err="1"/>
              <a:t>хотелке</a:t>
            </a:r>
            <a:r>
              <a:rPr lang="en-US" dirty="0"/>
              <a:t>”</a:t>
            </a:r>
            <a:r>
              <a:rPr lang="ru-RU" dirty="0"/>
              <a:t> пользователя)!</a:t>
            </a:r>
          </a:p>
          <a:p>
            <a:pPr marL="0" indent="0" algn="just">
              <a:buNone/>
            </a:pPr>
            <a:r>
              <a:rPr lang="ru-RU" dirty="0"/>
              <a:t>В примере с вагонами размер массива с именем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vagon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ru-RU" dirty="0">
                <a:cs typeface="Courier New" panose="02070309020205020404" pitchFamily="49" charset="0"/>
              </a:rPr>
              <a:t>– 3 </a:t>
            </a:r>
            <a:r>
              <a:rPr lang="en-US" dirty="0">
                <a:cs typeface="Courier New" panose="02070309020205020404" pitchFamily="49" charset="0"/>
              </a:rPr>
              <a:t>int-</a:t>
            </a:r>
            <a:r>
              <a:rPr lang="ru-RU" dirty="0">
                <a:cs typeface="Courier New" panose="02070309020205020404" pitchFamily="49" charset="0"/>
              </a:rPr>
              <a:t>а (сколько байт?..). НИ БОЛЬШЕ, НИ МЕНЬШЕ! </a:t>
            </a:r>
          </a:p>
          <a:p>
            <a:pPr marL="0" indent="0" algn="just">
              <a:buNone/>
            </a:pPr>
            <a:r>
              <a:rPr lang="ru-RU" dirty="0">
                <a:cs typeface="Courier New" panose="02070309020205020404" pitchFamily="49" charset="0"/>
              </a:rPr>
              <a:t>ВАЖНО: нумерация элементов идёт с НУЛЯ! Следовательно, номер последнего элемента массива равен 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ru-RU" dirty="0">
                <a:cs typeface="Courier New" panose="02070309020205020404" pitchFamily="49" charset="0"/>
              </a:rPr>
              <a:t>размер массива</a:t>
            </a:r>
            <a:r>
              <a:rPr lang="en-US" dirty="0">
                <a:cs typeface="Courier New" panose="02070309020205020404" pitchFamily="49" charset="0"/>
              </a:rPr>
              <a:t>]</a:t>
            </a:r>
            <a:r>
              <a:rPr lang="ru-RU" dirty="0">
                <a:cs typeface="Courier New" panose="02070309020205020404" pitchFamily="49" charset="0"/>
              </a:rPr>
              <a:t> – 1</a:t>
            </a:r>
          </a:p>
          <a:p>
            <a:pPr marL="0" indent="0" algn="just">
              <a:buNone/>
            </a:pPr>
            <a:r>
              <a:rPr lang="ru-RU" dirty="0">
                <a:cs typeface="Courier New" panose="02070309020205020404" pitchFamily="49" charset="0"/>
              </a:rPr>
              <a:t>ВАЖНО: нельзя обращаться к несуществующему элементу массива. Если размер массива 5, то </a:t>
            </a:r>
            <a:r>
              <a:rPr lang="en-US" dirty="0" err="1">
                <a:cs typeface="Courier New" panose="02070309020205020404" pitchFamily="49" charset="0"/>
              </a:rPr>
              <a:t>br</a:t>
            </a:r>
            <a:r>
              <a:rPr lang="en-US" dirty="0">
                <a:cs typeface="Courier New" panose="02070309020205020404" pitchFamily="49" charset="0"/>
              </a:rPr>
              <a:t>[5] – </a:t>
            </a:r>
            <a:r>
              <a:rPr lang="ru-RU" dirty="0">
                <a:cs typeface="Courier New" panose="02070309020205020404" pitchFamily="49" charset="0"/>
              </a:rPr>
              <a:t>недопустимо!</a:t>
            </a:r>
            <a:endParaRPr lang="en-US" dirty="0"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064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21E69-EE9F-4F31-B691-16DA8304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оперативной памяти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81608B3-0524-4578-BF97-B5D98EF39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0" y="1407458"/>
            <a:ext cx="10636624" cy="54505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Запомните, все наши переменные, константы, массивы, с которыми мы работаем на </a:t>
            </a:r>
            <a:r>
              <a:rPr lang="ru-RU" i="1" dirty="0"/>
              <a:t>данный момент</a:t>
            </a:r>
            <a:r>
              <a:rPr lang="ru-RU" dirty="0"/>
              <a:t>, хранятся в </a:t>
            </a:r>
            <a:r>
              <a:rPr lang="ru-RU" b="1" dirty="0"/>
              <a:t>стеке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/>
              <a:t>Стек</a:t>
            </a:r>
            <a:r>
              <a:rPr lang="ru-RU" dirty="0"/>
              <a:t> – линейный участок оперативной памяти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, работающий по принципу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LIFO (last in – first out: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последний зашёл – первый вышел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i="1" dirty="0"/>
          </a:p>
          <a:p>
            <a:pPr marL="0" indent="0" algn="just">
              <a:buNone/>
            </a:pPr>
            <a:r>
              <a:rPr lang="ru-RU" i="1" dirty="0"/>
              <a:t>Значения 16-тиричных чисел: 0</a:t>
            </a:r>
            <a:r>
              <a:rPr lang="en-US" i="1" dirty="0"/>
              <a:t>,1,..,8,</a:t>
            </a:r>
            <a:r>
              <a:rPr lang="ru-RU" i="1" dirty="0"/>
              <a:t>9,</a:t>
            </a:r>
            <a:r>
              <a:rPr lang="en-US" i="1" dirty="0"/>
              <a:t>A,B,C,D,E,F</a:t>
            </a:r>
            <a:endParaRPr lang="ru-RU" i="1" dirty="0"/>
          </a:p>
          <a:p>
            <a:pPr marL="0" indent="0" algn="just">
              <a:buNone/>
            </a:pPr>
            <a:endParaRPr lang="ru-RU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CA78B7-3B8D-4028-B97F-2270A417B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777" y="3145065"/>
            <a:ext cx="6120446" cy="292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7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93DE1-C9EE-41FB-86EF-2DBFFAE8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в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46E51D-B95F-425A-85D3-0FA24F203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317"/>
            <a:ext cx="10515600" cy="54146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Так выглядит хранение массива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vagon</a:t>
            </a:r>
            <a:r>
              <a:rPr lang="en-US" sz="2400" dirty="0"/>
              <a:t> </a:t>
            </a:r>
            <a:r>
              <a:rPr lang="ru-RU" sz="2400" dirty="0"/>
              <a:t>в стеке:</a:t>
            </a: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ru-RU" sz="2400" i="1" dirty="0"/>
          </a:p>
          <a:p>
            <a:pPr marL="0" indent="0" algn="just">
              <a:buNone/>
            </a:pPr>
            <a:r>
              <a:rPr lang="ru-RU" sz="2400" i="1" dirty="0"/>
              <a:t>Значения 16-тиричных чисел: 0</a:t>
            </a:r>
            <a:r>
              <a:rPr lang="en-US" sz="2400" i="1" dirty="0"/>
              <a:t>,1,..,8,</a:t>
            </a:r>
            <a:r>
              <a:rPr lang="ru-RU" sz="2400" i="1" dirty="0"/>
              <a:t>9,</a:t>
            </a:r>
            <a:r>
              <a:rPr lang="en-US" sz="2400" i="1" dirty="0"/>
              <a:t>A,B,C,D,E,F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Элементы массива хранятся в памяти ПОСЛЕДОВАТЕЛЬНО, в отличие от переменных!</a:t>
            </a:r>
          </a:p>
          <a:p>
            <a:pPr marL="0" indent="0" algn="just">
              <a:buNone/>
            </a:pPr>
            <a:r>
              <a:rPr lang="ru-RU" sz="2400" b="1" dirty="0"/>
              <a:t>Размер стека</a:t>
            </a:r>
            <a:r>
              <a:rPr lang="en-US" sz="2400" b="1" dirty="0"/>
              <a:t> (Windows)</a:t>
            </a:r>
            <a:r>
              <a:rPr lang="ru-RU" sz="2400" b="1" dirty="0"/>
              <a:t>: </a:t>
            </a:r>
            <a:r>
              <a:rPr lang="en-US" sz="2400" b="1" dirty="0"/>
              <a:t>1 </a:t>
            </a:r>
            <a:r>
              <a:rPr lang="ru-RU" sz="2400" b="1"/>
              <a:t>МБ</a:t>
            </a:r>
            <a:endParaRPr lang="ru-RU" sz="24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6BF8A1-CC99-4405-8F50-C3D59A06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46" y="1928401"/>
            <a:ext cx="7365907" cy="312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62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968CD-43DD-4825-9AC9-0D706E6F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самых любопытных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D861447-26FE-4A7F-ACF4-3AB50A7D8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0"/>
            <a:ext cx="10515600" cy="55312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Если вновь хотите поиграть с оперативной памятью</a:t>
            </a:r>
          </a:p>
          <a:p>
            <a:pPr marL="514350" indent="-514350" algn="just">
              <a:buAutoNum type="arabicPeriod"/>
            </a:pPr>
            <a:r>
              <a:rPr lang="ru-RU" sz="2400" dirty="0"/>
              <a:t>Поставьте «точку останова» в коде. Например, вот так (обязательно на выражении, а не на пустой строке!):</a:t>
            </a:r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514350" indent="-514350" algn="just">
              <a:buAutoNum type="arabicPeriod"/>
            </a:pPr>
            <a:r>
              <a:rPr lang="ru-RU" sz="2400" dirty="0"/>
              <a:t>Запустите локальный отладчик</a:t>
            </a:r>
          </a:p>
          <a:p>
            <a:pPr marL="514350" indent="-514350" algn="just">
              <a:buAutoNum type="arabicPeriod"/>
            </a:pPr>
            <a:r>
              <a:rPr lang="ru-RU" sz="2400" dirty="0"/>
              <a:t>В верхней панели: Отладка </a:t>
            </a:r>
            <a:r>
              <a:rPr lang="en-US" sz="2400" dirty="0"/>
              <a:t>=&gt; </a:t>
            </a:r>
            <a:r>
              <a:rPr lang="ru-RU" sz="2400" dirty="0"/>
              <a:t>Окна =</a:t>
            </a:r>
            <a:r>
              <a:rPr lang="en-US" sz="2400" dirty="0"/>
              <a:t>&gt; </a:t>
            </a:r>
            <a:r>
              <a:rPr lang="ru-RU" sz="2400" dirty="0"/>
              <a:t>Локальные</a:t>
            </a:r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Здесь мы узнаем адрес нулевого элемента (байта) массива. Нужно скопировать эту строку (потом необходимо стереть лишнюю информацию)</a:t>
            </a:r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514350" indent="-514350" algn="just">
              <a:buAutoNum type="arabicPeriod"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866F44-FB26-4FB9-8ADE-BE2D61233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41" y="2639375"/>
            <a:ext cx="5095315" cy="7896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734B33-801C-4F77-AA1C-D2C120372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71" y="3525830"/>
            <a:ext cx="2870387" cy="5344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5F4ABFC-6C8E-4FA2-9C0D-8EA57CB44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3" y="4609248"/>
            <a:ext cx="79057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5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D355C7-3FFB-4E95-B494-CB51F876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самых любопытных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824F8F-2CAC-4840-8F90-3897276B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4"/>
            </a:pPr>
            <a:r>
              <a:rPr lang="ru-RU" dirty="0"/>
              <a:t>В верхней панели: Отладка </a:t>
            </a:r>
            <a:r>
              <a:rPr lang="en-US" dirty="0"/>
              <a:t>=&gt; </a:t>
            </a:r>
            <a:r>
              <a:rPr lang="ru-RU" dirty="0"/>
              <a:t>Окна =</a:t>
            </a:r>
            <a:r>
              <a:rPr lang="en-US" dirty="0"/>
              <a:t>&gt; </a:t>
            </a:r>
            <a:r>
              <a:rPr lang="ru-RU" dirty="0"/>
              <a:t>Память =</a:t>
            </a:r>
            <a:r>
              <a:rPr lang="en-US" dirty="0"/>
              <a:t>&gt; </a:t>
            </a:r>
            <a:r>
              <a:rPr lang="ru-RU" dirty="0"/>
              <a:t>Память 1</a:t>
            </a:r>
          </a:p>
          <a:p>
            <a:pPr marL="457200" lvl="1" indent="0">
              <a:buNone/>
            </a:pPr>
            <a:r>
              <a:rPr lang="ru-RU" sz="2800" dirty="0"/>
              <a:t> И вставляем строку с адресом, стирая лишнее:</a:t>
            </a:r>
          </a:p>
          <a:p>
            <a:pPr marL="514350" indent="-514350">
              <a:buAutoNum type="arabicPeriod" startAt="4"/>
            </a:pPr>
            <a:endParaRPr lang="ru-RU" dirty="0"/>
          </a:p>
          <a:p>
            <a:pPr marL="514350" indent="-514350">
              <a:buAutoNum type="arabicPeriod" startAt="4"/>
            </a:pPr>
            <a:endParaRPr lang="ru-RU" dirty="0"/>
          </a:p>
          <a:p>
            <a:pPr marL="514350" indent="-514350">
              <a:buAutoNum type="arabicPeriod" startAt="4"/>
            </a:pPr>
            <a:endParaRPr lang="ru-RU" dirty="0"/>
          </a:p>
          <a:p>
            <a:pPr marL="514350" indent="-514350">
              <a:buAutoNum type="arabicPeriod" startAt="4"/>
            </a:pPr>
            <a:endParaRPr lang="ru-RU" dirty="0"/>
          </a:p>
          <a:p>
            <a:pPr marL="514350" indent="-514350">
              <a:buAutoNum type="arabicPeriod" startAt="4"/>
            </a:pPr>
            <a:endParaRPr lang="ru-RU" dirty="0"/>
          </a:p>
          <a:p>
            <a:pPr marL="514350" indent="-514350">
              <a:buAutoNum type="arabicPeriod" startAt="4"/>
            </a:pPr>
            <a:r>
              <a:rPr lang="ru-RU" dirty="0"/>
              <a:t>Наглядно видим, что лежит в данных адресах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BF3AA9-9D30-4205-ACEC-BB0E81DF0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20" y="2942758"/>
            <a:ext cx="4029959" cy="211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2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DDE14-EE44-45F0-8837-59C243DE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A2FCF-9F7D-4F51-A1EB-825F94F7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Написать программу, которая находит сумму всех отрицательных значений в массиве.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Объявляем и инициализируем массив</a:t>
            </a:r>
            <a:r>
              <a:rPr lang="en-US" dirty="0"/>
              <a:t> </a:t>
            </a:r>
            <a:r>
              <a:rPr lang="ru-RU" dirty="0"/>
              <a:t>(3-5 элементов)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Объявляем переменную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/>
              <a:t>и инициализируем её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Прописываем цикл </a:t>
            </a:r>
            <a:r>
              <a:rPr lang="en-US" dirty="0"/>
              <a:t>for</a:t>
            </a:r>
            <a:r>
              <a:rPr lang="ru-RU" dirty="0"/>
              <a:t>, чтобы «пробежаться» по массиву значений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Если элемент массива меньше нуля – складываем значение в переменную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  <a:p>
            <a:pPr marL="0" indent="0" algn="just">
              <a:buNone/>
            </a:pPr>
            <a:r>
              <a:rPr lang="en-US" dirty="0">
                <a:cs typeface="Courier New" panose="02070309020205020404" pitchFamily="49" charset="0"/>
              </a:rPr>
              <a:t>4.   </a:t>
            </a:r>
            <a:r>
              <a:rPr lang="ru-RU" dirty="0">
                <a:cs typeface="Courier New" panose="02070309020205020404" pitchFamily="49" charset="0"/>
              </a:rPr>
              <a:t>Выводим значение переменной</a:t>
            </a:r>
            <a:r>
              <a:rPr lang="ru-RU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7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3CBD0-74D1-467C-870E-CF0FB2B5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(решение)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97C161-0DCC-4594-A97E-B56A6E1C5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401" y="1825625"/>
            <a:ext cx="8429198" cy="4351338"/>
          </a:xfrm>
        </p:spPr>
      </p:pic>
    </p:spTree>
    <p:extLst>
      <p:ext uri="{BB962C8B-B14F-4D97-AF65-F5344CB8AC3E}">
        <p14:creationId xmlns:p14="http://schemas.microsoft.com/office/powerpoint/2010/main" val="370614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6707A-7C3F-4911-9DB3-068C8396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3B62A-D941-4B32-B641-5664CCA0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035"/>
            <a:ext cx="10515600" cy="497784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Написать программу, которая находит минимальное и максимальное значение в массиве и показывает их на экран.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Объявляем и инициализируем массив</a:t>
            </a:r>
            <a:r>
              <a:rPr lang="en-US" dirty="0"/>
              <a:t> </a:t>
            </a:r>
            <a:r>
              <a:rPr lang="ru-RU" dirty="0"/>
              <a:t>(3-5 элементов)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Объявляем переменную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ru-RU" dirty="0"/>
              <a:t>инициализируем их нулевым элементом массива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Прописываем цикл </a:t>
            </a:r>
            <a:r>
              <a:rPr lang="en-US" dirty="0"/>
              <a:t>for</a:t>
            </a:r>
            <a:r>
              <a:rPr lang="ru-RU" dirty="0"/>
              <a:t>, чтобы «пробежаться» по массиву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Если элемент массива меньше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dirty="0"/>
              <a:t> – записываем 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ru-RU" dirty="0"/>
              <a:t>значение этого элемента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Если элемент массива больше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ru-RU" dirty="0"/>
              <a:t> – записываем 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ru-RU" dirty="0"/>
              <a:t>значение этого элемента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cs typeface="Courier New" panose="02070309020205020404" pitchFamily="49" charset="0"/>
              </a:rPr>
              <a:t>Выводим получившиеся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b="1" dirty="0">
                <a:cs typeface="Courier New" panose="02070309020205020404" pitchFamily="49" charset="0"/>
              </a:rPr>
              <a:t> </a:t>
            </a:r>
            <a:r>
              <a:rPr lang="ru-RU" dirty="0">
                <a:cs typeface="Courier New" panose="02070309020205020404" pitchFamily="49" charset="0"/>
              </a:rPr>
              <a:t>и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endParaRPr lang="en-US" dirty="0">
              <a:cs typeface="Courier New" panose="02070309020205020404" pitchFamily="49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0664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A990D-B1F9-43CE-A618-1BFBDAD8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(решение)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787CC6B-FFD1-473A-A037-E06013145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310" y="1690688"/>
            <a:ext cx="7641379" cy="4557246"/>
          </a:xfrm>
        </p:spPr>
      </p:pic>
    </p:spTree>
    <p:extLst>
      <p:ext uri="{BB962C8B-B14F-4D97-AF65-F5344CB8AC3E}">
        <p14:creationId xmlns:p14="http://schemas.microsoft.com/office/powerpoint/2010/main" val="272823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6A3E-A8D2-4A89-8ECC-E3A2F449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12" y="320302"/>
            <a:ext cx="11156576" cy="1325563"/>
          </a:xfrm>
        </p:spPr>
        <p:txBody>
          <a:bodyPr>
            <a:normAutofit/>
          </a:bodyPr>
          <a:lstStyle/>
          <a:p>
            <a:r>
              <a:rPr lang="ru-RU" dirty="0"/>
              <a:t>Инициализация массива случайными числами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096D814-DE35-4BEE-84D4-5F78CB2E6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247" y="1785437"/>
            <a:ext cx="11267506" cy="4095410"/>
          </a:xfrm>
        </p:spPr>
      </p:pic>
    </p:spTree>
    <p:extLst>
      <p:ext uri="{BB962C8B-B14F-4D97-AF65-F5344CB8AC3E}">
        <p14:creationId xmlns:p14="http://schemas.microsoft.com/office/powerpoint/2010/main" val="41752119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759</Words>
  <Application>Microsoft Office PowerPoint</Application>
  <PresentationFormat>Широкоэкранный</PresentationFormat>
  <Paragraphs>117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Понятие массива (пример проблемы)</vt:lpstr>
      <vt:lpstr>Понятие массива (определение!)</vt:lpstr>
      <vt:lpstr>Понятие массива (синтаксис)</vt:lpstr>
      <vt:lpstr>Понятие массива (объявление)</vt:lpstr>
      <vt:lpstr>Понятие массива (инициализация)</vt:lpstr>
      <vt:lpstr>Понятие массива (размер и нумерация)</vt:lpstr>
      <vt:lpstr>Модель оперативной памяти</vt:lpstr>
      <vt:lpstr>Массив в оперативной памяти</vt:lpstr>
      <vt:lpstr>Для самых любопытных</vt:lpstr>
      <vt:lpstr>Для самых любопытных</vt:lpstr>
      <vt:lpstr>Практика</vt:lpstr>
      <vt:lpstr>Практика (решение)</vt:lpstr>
      <vt:lpstr>Практика</vt:lpstr>
      <vt:lpstr>Практика (решение)</vt:lpstr>
      <vt:lpstr>Инициализация массива случайными числами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82</cp:revision>
  <dcterms:created xsi:type="dcterms:W3CDTF">2026-07-20T01:55:48Z</dcterms:created>
  <dcterms:modified xsi:type="dcterms:W3CDTF">2026-07-20T19:13:18Z</dcterms:modified>
</cp:coreProperties>
</file>