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3" r:id="rId19"/>
    <p:sldId id="274" r:id="rId20"/>
    <p:sldId id="275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09701-8958-45C6-9F86-007B18BE5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048EA2-3680-4BAD-B0D2-A61815415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900F0B-EC7B-4619-9F26-C661C5FB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234D8E-EDE0-4FB1-AA05-AE3CBD78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C29090-B1C5-4D4B-A96D-BF992A32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53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A8DC2-6A06-4ED7-B4D3-C1A09D4E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CD204C-21C2-46DC-9BAE-2B6853BC8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A3C0A7-C7AE-41B9-8005-A7AFFED8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86F039-22DA-442C-A4D4-E38F4289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B9E87-F415-4A18-A5DC-C62AD30A0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6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5DBB7-F2E3-4197-9270-5A22574FA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0D2699-2AED-4202-9A86-3C86AEB7F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0D8972-0568-416F-AD9E-CAFE020E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B99FA4-0529-4609-81D7-2FA4BB4E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9D8515-9759-4DAE-B7FE-645DC273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2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C56DA-9B29-4494-9EA0-98D879F3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0F8660-B121-44B9-81A0-D32CD9625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E942D5-B3FB-4820-918C-9DDA6E279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8377D2-ED04-4684-8BA5-C189542B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50A1D0-F52D-4C2F-8676-C057074A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1732CA-0985-4F0E-8748-DE6F3AA0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915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F40AB-3608-478A-8134-6A4A4123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C6A6E7-6CFB-48F8-80FE-35297074B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ECF474-C6B0-4E04-8741-55DFD7575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82CFE06-45DC-4445-967A-4D333B8D1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F8C656-CCD6-4721-BD4E-819445612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3D684B0-CACB-4BF6-A592-1EDD04E1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12D517-6AEE-4E83-93ED-9AAF91F9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6B058FF-C353-41F4-8A3B-C5E7A97B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84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7D7AB-F421-40F7-974B-97BDF951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769C86-EB54-4C75-91D1-51EC3168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FAD8BD1-97E7-4E64-B418-EB6541D9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E9BF3C-B2D8-4440-BD94-6350CB37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30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1C3C675-DF6B-47E3-BD9D-5FC3A1CE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382D63-7E52-4D88-A86C-8B307408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94ACDB-DFA2-449B-AC3B-BBE0F15C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720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D0409-5338-41CF-AA5F-101AACD3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B24B8-AA7D-4B57-A3F1-C5A196E35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33EF0B-5DA3-4C00-AB9C-317FBEBC5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826578-AC24-4DC8-8461-3B539CB9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3A7DB6-A9BB-40B5-9F15-00CA3E1A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872417-0EB9-41F6-8543-9F04B8EC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63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29F24-7D67-42F6-8BA2-16C830A86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6901A2-F3D1-41F0-83A2-942541BEC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36E041-BAFC-479E-9CD4-1A0A2ACBA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3CF6CF-B9E4-4B39-9EA5-358FE2CE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5934FD-1A39-4B5E-8E73-C48C330B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D82B74-7959-46C6-ACA3-232E5B8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24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3F4F2-0DDF-4C90-93A2-A1F633DD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04C27A-C7B9-4510-875F-328E4DD8D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05142-8409-4248-8A24-FBA92DBC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175EE4-EC34-4DCF-B272-7A31BB165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CFFFC-5C76-44F7-AC8E-2DDC72E6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72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709283-8A11-4AC5-8DA5-FF657A870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B0B09E-607B-48B2-B045-A58DCE333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D05502-4B65-4298-9E3D-AF01C4F5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4EC761-44DC-487A-8281-62611CBB4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B94A21-E523-46FE-8300-5A30E889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82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3FAB8-042D-4F11-AB3F-8160D938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4852B0-AAA8-4A70-B12E-2BC01BC46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2068F4-AD32-4E20-A38B-84F53C30C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A5BBF-934B-4CC3-B15A-B4750D06C72F}" type="datetimeFigureOut">
              <a:rPr lang="ru-RU" smtClean="0"/>
              <a:t>10.07.2026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717C64-B95B-4EEC-8CCB-66E6539F3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F92CC9-DF9F-4776-A87E-9213565EF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67193-F66B-493C-A8A8-0B277F242E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96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A8BE3-18D5-4BEF-BB4B-1C4E467DD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494BDC-14C1-43B8-9AB1-EE522A653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54691"/>
          </a:xfrm>
        </p:spPr>
        <p:txBody>
          <a:bodyPr>
            <a:normAutofit fontScale="92500" lnSpcReduction="10000"/>
          </a:bodyPr>
          <a:lstStyle/>
          <a:p>
            <a:pPr algn="r"/>
            <a:endParaRPr lang="ru-RU" dirty="0"/>
          </a:p>
          <a:p>
            <a:pPr algn="r"/>
            <a:r>
              <a:rPr lang="ru-RU" dirty="0"/>
              <a:t>Циклы</a:t>
            </a:r>
          </a:p>
          <a:p>
            <a:pPr algn="r"/>
            <a:r>
              <a:rPr lang="ru-RU" dirty="0"/>
              <a:t>Конструкции </a:t>
            </a:r>
            <a:r>
              <a:rPr lang="en-US" dirty="0"/>
              <a:t>while </a:t>
            </a:r>
            <a:r>
              <a:rPr lang="ru-RU" dirty="0"/>
              <a:t>и </a:t>
            </a:r>
            <a:r>
              <a:rPr lang="en-US" dirty="0"/>
              <a:t>do-while</a:t>
            </a:r>
            <a:endParaRPr lang="ru-RU" dirty="0"/>
          </a:p>
          <a:p>
            <a:pPr algn="r"/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Конструкция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</a:t>
            </a:r>
          </a:p>
          <a:p>
            <a:pPr algn="r"/>
            <a:r>
              <a:rPr lang="en-US" dirty="0"/>
              <a:t>0</a:t>
            </a:r>
            <a:r>
              <a:rPr lang="ru-RU" dirty="0"/>
              <a:t>8</a:t>
            </a:r>
            <a:r>
              <a:rPr lang="en-US" dirty="0"/>
              <a:t>.07.2026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62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184D1-0817-4DDA-ABB9-85658142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7134"/>
          </a:xfrm>
        </p:spPr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22FEC7-63E0-45AB-8963-7319DBD0E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823"/>
            <a:ext cx="10515600" cy="4608139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Понятие цикла</a:t>
            </a:r>
            <a:endParaRPr lang="en-US" dirty="0"/>
          </a:p>
          <a:p>
            <a:r>
              <a:rPr lang="ru-RU" dirty="0"/>
              <a:t>Циклы в </a:t>
            </a:r>
            <a:r>
              <a:rPr lang="en-US" dirty="0"/>
              <a:t>C++</a:t>
            </a:r>
            <a:endParaRPr lang="ru-RU" dirty="0"/>
          </a:p>
          <a:p>
            <a:r>
              <a:rPr lang="ru-RU" dirty="0"/>
              <a:t>Пример цикла с предусловием (</a:t>
            </a:r>
            <a:r>
              <a:rPr lang="en-US" dirty="0"/>
              <a:t>while</a:t>
            </a:r>
            <a:r>
              <a:rPr lang="ru-RU" dirty="0"/>
              <a:t>)</a:t>
            </a:r>
          </a:p>
          <a:p>
            <a:r>
              <a:rPr lang="ru-RU" dirty="0"/>
              <a:t>Пример цикла с постусловием</a:t>
            </a:r>
            <a:r>
              <a:rPr lang="en-US" dirty="0"/>
              <a:t> (do-while)</a:t>
            </a:r>
          </a:p>
          <a:p>
            <a:r>
              <a:rPr lang="ru-RU" dirty="0"/>
              <a:t>Практика</a:t>
            </a:r>
          </a:p>
        </p:txBody>
      </p:sp>
    </p:spTree>
    <p:extLst>
      <p:ext uri="{BB962C8B-B14F-4D97-AF65-F5344CB8AC3E}">
        <p14:creationId xmlns:p14="http://schemas.microsoft.com/office/powerpoint/2010/main" val="139189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4FD8A-961E-4BF3-99A4-A5C4BB3B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CF6848-B9F8-4838-B445-4404D845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682"/>
            <a:ext cx="10515600" cy="481404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0.   Ознакомиться с презентацией</a:t>
            </a:r>
          </a:p>
          <a:p>
            <a:pPr marL="514350" indent="-514350" algn="just">
              <a:buAutoNum type="arabicPeriod"/>
            </a:pPr>
            <a:r>
              <a:rPr lang="ru-RU" dirty="0"/>
              <a:t>Разработать программу, которая выводит на экран горизонтальную линию из символов. Число символов, какой использовать символ, и какая будет линия - вертикальная, или горизонтальная - указывает пользователь.</a:t>
            </a:r>
          </a:p>
          <a:p>
            <a:pPr marL="514350" indent="-514350" algn="just">
              <a:buAutoNum type="arabicPeriod"/>
            </a:pPr>
            <a:r>
              <a:rPr lang="ru-RU" dirty="0"/>
              <a:t>Написать программу, которая находит сумму всех целых нечётных чисел в диапазоне, указанном пользователе.</a:t>
            </a:r>
          </a:p>
          <a:p>
            <a:pPr marL="0" indent="0" algn="just">
              <a:buNone/>
            </a:pPr>
            <a:r>
              <a:rPr lang="ru-RU" dirty="0"/>
              <a:t>	Пример. 	Диапазон = </a:t>
            </a:r>
            <a:r>
              <a:rPr lang="en-US" dirty="0"/>
              <a:t>[4, 5, .. , 1</a:t>
            </a:r>
            <a:r>
              <a:rPr lang="ru-RU" dirty="0"/>
              <a:t>1</a:t>
            </a:r>
            <a:r>
              <a:rPr lang="en-US" dirty="0"/>
              <a:t>].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			Сумма = 5 + 7 + 9 + 11 = 32.</a:t>
            </a:r>
          </a:p>
        </p:txBody>
      </p:sp>
    </p:spTree>
    <p:extLst>
      <p:ext uri="{BB962C8B-B14F-4D97-AF65-F5344CB8AC3E}">
        <p14:creationId xmlns:p14="http://schemas.microsoft.com/office/powerpoint/2010/main" val="292088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D3F86-3016-4C9A-A3A5-9B513C84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цикла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46D486-23D4-47BE-9664-46355F0E8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929"/>
            <a:ext cx="10515600" cy="4635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Часто в жизни мы сталкиваемся с необходимостью повторения некоторых действий несколько раз. Разберём бытовой пример алгоритма: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Очевидно, алгоритм </a:t>
            </a:r>
            <a:r>
              <a:rPr lang="ru-RU" sz="2400" i="1" dirty="0"/>
              <a:t>линейный</a:t>
            </a:r>
            <a:r>
              <a:rPr lang="ru-RU" sz="2400" dirty="0"/>
              <a:t>. Помыли одну тарелку и остановились. А если есть ещё немытая посуда? Нужно оформить алгоритм таким образом, чтобы мы вернулись к начальному пункту, если грязная посуда не закончилась.</a:t>
            </a:r>
          </a:p>
          <a:p>
            <a:pPr marL="0" indent="0" algn="just">
              <a:buNone/>
            </a:pP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C23AF2-A399-4C86-8F3F-47FB0CCD2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883" y="2312816"/>
            <a:ext cx="8140234" cy="257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69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67DD5-FFCE-4B63-8EFC-7FA492E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цикла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C2746-D113-4D4D-BB3C-02FCFE545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424"/>
            <a:ext cx="10515600" cy="47605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Рассмотрим данный алгоритм: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Обратим внимание на следующее: для того чтобы вернуться назад, нужно проверить, </a:t>
            </a:r>
            <a:r>
              <a:rPr lang="ru-RU" sz="2400" b="1" dirty="0"/>
              <a:t>осталась ли грязная посуда</a:t>
            </a:r>
            <a:r>
              <a:rPr lang="ru-RU" sz="2400" dirty="0"/>
              <a:t>? Другими словами, должно быть выполнено некоторое </a:t>
            </a:r>
            <a:r>
              <a:rPr lang="ru-RU" sz="2400" i="1" dirty="0"/>
              <a:t>условие</a:t>
            </a:r>
            <a:r>
              <a:rPr lang="ru-RU" sz="2400" dirty="0"/>
              <a:t> для повторения действия.</a:t>
            </a:r>
          </a:p>
          <a:p>
            <a:pPr marL="0" indent="0" algn="just">
              <a:buNone/>
            </a:pPr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1D2260-83C6-42E0-833D-49CB73A52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259" y="3330207"/>
            <a:ext cx="7243482" cy="93297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A44DEEE-6767-4B42-8593-B0129CA23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259" y="1902100"/>
            <a:ext cx="7243482" cy="143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9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B029B-8F0F-4C07-AAC5-7B426E84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цикла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F64E051-4BC7-4A00-AF40-5FFC13CCF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388"/>
            <a:ext cx="10515600" cy="47515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Или вот ещё пример. Представим, что мы приехали в неизвестный город. Нам необходимо добраться на автобусе к определённой точке. Точно знаем, что нужно выйти на </a:t>
            </a:r>
            <a:r>
              <a:rPr lang="ru-RU" sz="2400" b="1" dirty="0"/>
              <a:t>шестой</a:t>
            </a:r>
            <a:r>
              <a:rPr lang="ru-RU" sz="2400" dirty="0"/>
              <a:t> остановке. Вот так будет выглядеть наш алгоритм:</a:t>
            </a:r>
          </a:p>
          <a:p>
            <a:pPr marL="0" indent="0" algn="just">
              <a:buNone/>
            </a:pPr>
            <a:endParaRPr lang="ru-RU" sz="2400" dirty="0"/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49BAB572-87D8-4AC6-B191-3F344FB98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02" y="2750951"/>
            <a:ext cx="6525795" cy="313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5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DD2F5-39DA-4E88-A02D-BB256DB6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цикла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7BF07E-6134-4C0C-990E-4B0A2E63D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Мы пришли к тому, что нам нужна некоторая конструкция, заключающая набор действий для повторения. Это и называется </a:t>
            </a:r>
            <a:r>
              <a:rPr lang="ru-RU" sz="2400" b="1" dirty="0"/>
              <a:t>цикл</a:t>
            </a:r>
            <a:r>
              <a:rPr lang="ru-RU" sz="2400" dirty="0"/>
              <a:t>. Зафиксируем определение.</a:t>
            </a:r>
          </a:p>
          <a:p>
            <a:pPr marL="0" indent="0" algn="just">
              <a:buNone/>
            </a:pPr>
            <a:endParaRPr lang="ru-RU" sz="2400" b="1" dirty="0"/>
          </a:p>
          <a:p>
            <a:pPr marL="0" indent="0" algn="just">
              <a:buNone/>
            </a:pPr>
            <a:endParaRPr lang="ru-RU" sz="2400" b="1" dirty="0"/>
          </a:p>
          <a:p>
            <a:pPr marL="0" indent="0" algn="just">
              <a:buNone/>
            </a:pPr>
            <a:endParaRPr lang="ru-RU" sz="2400" b="1" dirty="0"/>
          </a:p>
          <a:p>
            <a:pPr marL="0" indent="0" algn="just">
              <a:buNone/>
            </a:pPr>
            <a:endParaRPr lang="ru-RU" sz="2400" b="1" dirty="0"/>
          </a:p>
          <a:p>
            <a:pPr marL="0" indent="0" algn="just">
              <a:buNone/>
            </a:pPr>
            <a:r>
              <a:rPr lang="ru-RU" sz="2400" dirty="0"/>
              <a:t>Примечание: каждое повторение цикла называется </a:t>
            </a:r>
            <a:r>
              <a:rPr lang="ru-RU" sz="2400" i="1" dirty="0"/>
              <a:t>шагом цикла</a:t>
            </a:r>
            <a:r>
              <a:rPr lang="ru-RU" sz="2400" dirty="0"/>
              <a:t> либо </a:t>
            </a:r>
            <a:r>
              <a:rPr lang="ru-RU" sz="2400" i="1" dirty="0"/>
              <a:t>итерацией</a:t>
            </a:r>
            <a:r>
              <a:rPr lang="ru-RU" sz="2400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3C6EEC-DE61-41FA-BEF9-665CF8880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668" y="3038754"/>
            <a:ext cx="8082663" cy="15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35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9578A-208C-42FC-9A4C-B80285FE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ED284D-DBA4-4702-B1C6-6EE27C68C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В рамках языка программирования С++ существует целых три реализации конструкции цикла.</a:t>
            </a:r>
          </a:p>
          <a:p>
            <a:pPr marL="0" indent="0" algn="just">
              <a:buNone/>
            </a:pP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Цикл с предусловием </a:t>
            </a:r>
            <a:r>
              <a:rPr lang="en-US" dirty="0"/>
              <a:t>while</a:t>
            </a:r>
          </a:p>
          <a:p>
            <a:pPr marL="457200" lvl="1" indent="0" algn="just">
              <a:buNone/>
            </a:pPr>
            <a:r>
              <a:rPr lang="en-US" dirty="0"/>
              <a:t>(</a:t>
            </a:r>
            <a:r>
              <a:rPr lang="ru-RU" dirty="0"/>
              <a:t>Читается: «</a:t>
            </a:r>
            <a:r>
              <a:rPr lang="ru-RU" dirty="0" err="1"/>
              <a:t>Уаил</a:t>
            </a:r>
            <a:r>
              <a:rPr lang="ru-RU" dirty="0"/>
              <a:t>». Перевод: «пока… (выполняется условие)»</a:t>
            </a:r>
            <a:r>
              <a:rPr lang="en-US" dirty="0"/>
              <a:t>)</a:t>
            </a: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Цикл с постусловием </a:t>
            </a:r>
            <a:r>
              <a:rPr lang="en-US" dirty="0"/>
              <a:t>do…while.</a:t>
            </a:r>
            <a:endParaRPr lang="ru-RU" dirty="0"/>
          </a:p>
          <a:p>
            <a:pPr marL="457200" lvl="1" indent="0" algn="just">
              <a:buNone/>
            </a:pPr>
            <a:r>
              <a:rPr lang="en-US" dirty="0"/>
              <a:t>(</a:t>
            </a:r>
            <a:r>
              <a:rPr lang="ru-RU" dirty="0"/>
              <a:t>Читается: «</a:t>
            </a:r>
            <a:r>
              <a:rPr lang="ru-RU" dirty="0" err="1"/>
              <a:t>Ду-уаил</a:t>
            </a:r>
            <a:r>
              <a:rPr lang="ru-RU" dirty="0"/>
              <a:t>». Перевод: «делай пока…(выполняется условие)»</a:t>
            </a:r>
            <a:r>
              <a:rPr lang="en-US" dirty="0"/>
              <a:t>)</a:t>
            </a: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Цикл с параметром </a:t>
            </a:r>
            <a:r>
              <a:rPr lang="en-US" dirty="0"/>
              <a:t>for</a:t>
            </a:r>
          </a:p>
          <a:p>
            <a:pPr marL="457200" lvl="1" indent="0" algn="just">
              <a:buNone/>
            </a:pPr>
            <a:r>
              <a:rPr lang="en-US" dirty="0"/>
              <a:t>(</a:t>
            </a:r>
            <a:r>
              <a:rPr lang="ru-RU" dirty="0"/>
              <a:t>Читается: «</a:t>
            </a:r>
            <a:r>
              <a:rPr lang="ru-RU" dirty="0" err="1"/>
              <a:t>Фо</a:t>
            </a:r>
            <a:r>
              <a:rPr lang="ru-RU" dirty="0"/>
              <a:t>» или «Фор». Перевод: «Для… (т.е. пока выполняется условие </a:t>
            </a:r>
            <a:r>
              <a:rPr lang="ru-RU" b="1" dirty="0"/>
              <a:t>для</a:t>
            </a:r>
            <a:r>
              <a:rPr lang="ru-RU" dirty="0"/>
              <a:t> параметра…)»</a:t>
            </a:r>
            <a:r>
              <a:rPr lang="en-US" dirty="0"/>
              <a:t>)</a:t>
            </a:r>
          </a:p>
          <a:p>
            <a:pPr marL="514350" indent="-514350" algn="just">
              <a:buFont typeface="+mj-lt"/>
              <a:buAutoNum type="arabicPeriod"/>
            </a:pPr>
            <a:endParaRPr lang="ru-RU" sz="2400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0742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166D1-5158-452B-A37C-D4912B95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цикла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FF725-3D9B-490D-8BDD-5488B8B6B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Все циклы состоят из двух частей:</a:t>
            </a:r>
          </a:p>
          <a:p>
            <a:pPr marL="0" indent="0" algn="just">
              <a:buNone/>
            </a:pPr>
            <a:endParaRPr lang="ru-RU" dirty="0"/>
          </a:p>
          <a:p>
            <a:pPr lvl="1" algn="just"/>
            <a:r>
              <a:rPr lang="ru-RU" sz="2800" dirty="0"/>
              <a:t>Заголовок</a:t>
            </a:r>
          </a:p>
          <a:p>
            <a:pPr lvl="1" algn="just"/>
            <a:r>
              <a:rPr lang="ru-RU" sz="2800" dirty="0"/>
              <a:t>Тело цикла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Заголовок отвечает за настройку цикла, то есть в какой момент цикл завершит свою работу.</a:t>
            </a:r>
          </a:p>
          <a:p>
            <a:pPr marL="0" indent="0" algn="just">
              <a:buNone/>
            </a:pPr>
            <a:r>
              <a:rPr lang="ru-RU" dirty="0"/>
              <a:t>Тело цикла содержит набор действий, которые будут повторятся.</a:t>
            </a:r>
          </a:p>
        </p:txBody>
      </p:sp>
    </p:spTree>
    <p:extLst>
      <p:ext uri="{BB962C8B-B14F-4D97-AF65-F5344CB8AC3E}">
        <p14:creationId xmlns:p14="http://schemas.microsoft.com/office/powerpoint/2010/main" val="116587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1343A-B8CA-4804-85B9-22A93DCA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 (</a:t>
            </a:r>
            <a:r>
              <a:rPr lang="ru-RU" dirty="0"/>
              <a:t>цикл с предусловием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70DEAF-CBFA-4726-B858-B39AA2EEA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106"/>
            <a:ext cx="10515600" cy="46798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Представим себе первоклассника, который безумно любит мороженое. Ему мама выделила некоторую сумму денег. Естественно он побежал его покупать и вдруг вспомнил, что умножать и делить он не умеет. Как он будет решать свою проблему? Сначала он проверит, хвалит ли ему денег на покупку первого мороженного. Если да, он это сделает и снова посмотрит на свой остаток денег.</a:t>
            </a:r>
          </a:p>
          <a:p>
            <a:pPr marL="0" indent="0" algn="just">
              <a:buNone/>
            </a:pPr>
            <a:r>
              <a:rPr lang="ru-RU" sz="2400" dirty="0"/>
              <a:t>Входные данные:</a:t>
            </a:r>
          </a:p>
          <a:p>
            <a:pPr algn="just"/>
            <a:r>
              <a:rPr lang="ru-RU" sz="2400" dirty="0"/>
              <a:t>Сумма денег первоклассника</a:t>
            </a:r>
          </a:p>
          <a:p>
            <a:pPr algn="just"/>
            <a:r>
              <a:rPr lang="ru-RU" sz="2400" dirty="0"/>
              <a:t>Стоимость одного мороженного</a:t>
            </a:r>
          </a:p>
          <a:p>
            <a:pPr marL="0" indent="0" algn="just">
              <a:buNone/>
            </a:pPr>
            <a:r>
              <a:rPr lang="ru-RU" sz="2400" dirty="0"/>
              <a:t>Выходные данные:</a:t>
            </a:r>
          </a:p>
          <a:p>
            <a:pPr algn="just"/>
            <a:r>
              <a:rPr lang="ru-RU" sz="2400" dirty="0"/>
              <a:t>Сдача после каждой покупки мороженого.</a:t>
            </a:r>
          </a:p>
        </p:txBody>
      </p:sp>
    </p:spTree>
    <p:extLst>
      <p:ext uri="{BB962C8B-B14F-4D97-AF65-F5344CB8AC3E}">
        <p14:creationId xmlns:p14="http://schemas.microsoft.com/office/powerpoint/2010/main" val="3057206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42E6D-C599-4D09-833F-ADB0EB90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решения задачи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2C3073D-5D00-4427-A74F-EE4F60BF6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39796"/>
            <a:ext cx="3718600" cy="5349263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B23155-AEB9-4BD9-AC82-49ED5A13D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489" y="1470821"/>
            <a:ext cx="4519191" cy="210293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63E1D7-5353-4989-8BC8-B4ECE9AFF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512" y="3573758"/>
            <a:ext cx="4519191" cy="324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5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57B60-9FC9-49BF-9743-F10FC341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реализации на </a:t>
            </a:r>
            <a:r>
              <a:rPr lang="en-US" dirty="0"/>
              <a:t>C++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4B4FDC-81E8-418C-BC73-41AAE89C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541" y="1481307"/>
            <a:ext cx="7386918" cy="3131781"/>
          </a:xfrm>
          <a:prstGeom prst="rect">
            <a:avLst/>
          </a:prstGeo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7682541E-6063-4417-BC94-14846E3ED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67175" y="4711700"/>
            <a:ext cx="4057650" cy="1781175"/>
          </a:xfrm>
        </p:spPr>
      </p:pic>
    </p:spTree>
    <p:extLst>
      <p:ext uri="{BB962C8B-B14F-4D97-AF65-F5344CB8AC3E}">
        <p14:creationId xmlns:p14="http://schemas.microsoft.com/office/powerpoint/2010/main" val="147431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55EA3-60A4-485D-86EB-77C685844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 (</a:t>
            </a:r>
            <a:r>
              <a:rPr lang="ru-RU" dirty="0"/>
              <a:t>цикл с постусловием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00B740-0BB3-48BD-A511-11559F50F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6353"/>
            <a:ext cx="10515600" cy="39806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Разберём немного другую конструкцию на примере датчика температуры.</a:t>
            </a:r>
          </a:p>
          <a:p>
            <a:pPr marL="0" indent="0" algn="just">
              <a:buNone/>
            </a:pPr>
            <a:r>
              <a:rPr lang="ru-RU" sz="2400" dirty="0"/>
              <a:t>Для определённости возьмём следующее условие: </a:t>
            </a:r>
            <a:r>
              <a:rPr lang="ru-RU" sz="2400" i="1" dirty="0"/>
              <a:t>если температура в помещении больше 60 градусов, то включается сигнализация о пожаре</a:t>
            </a:r>
            <a:r>
              <a:rPr lang="ru-RU" sz="2400" dirty="0"/>
              <a:t>.</a:t>
            </a:r>
          </a:p>
          <a:p>
            <a:pPr marL="0" indent="0" algn="just">
              <a:buNone/>
            </a:pPr>
            <a:r>
              <a:rPr lang="ru-RU" sz="2400" dirty="0"/>
              <a:t>Давайте подумаем, подойдёт ли здесь привычная конструкция </a:t>
            </a:r>
            <a:r>
              <a:rPr lang="en-US" sz="2400" dirty="0"/>
              <a:t>while? </a:t>
            </a:r>
            <a:r>
              <a:rPr lang="ru-RU" sz="2400" dirty="0"/>
              <a:t>Перед тем как датчик будет сравнивать температуру в помещении с критическим значением (60 градусов) ему эту температуру </a:t>
            </a:r>
            <a:r>
              <a:rPr lang="ru-RU" sz="2400" b="1" dirty="0"/>
              <a:t>нужно получить</a:t>
            </a:r>
            <a:r>
              <a:rPr lang="ru-RU" sz="2400" dirty="0"/>
              <a:t>. Поэтому в данном примере хорошо подойдёт конструкция </a:t>
            </a:r>
            <a:r>
              <a:rPr lang="en-US" sz="2400" dirty="0"/>
              <a:t>do…while.</a:t>
            </a:r>
          </a:p>
          <a:p>
            <a:pPr marL="0" indent="0" algn="just">
              <a:buNone/>
            </a:pPr>
            <a:r>
              <a:rPr lang="ru-RU" sz="2400" dirty="0"/>
              <a:t>Взглянем на блок схему на следующем слайде</a:t>
            </a:r>
          </a:p>
        </p:txBody>
      </p:sp>
    </p:spTree>
    <p:extLst>
      <p:ext uri="{BB962C8B-B14F-4D97-AF65-F5344CB8AC3E}">
        <p14:creationId xmlns:p14="http://schemas.microsoft.com/office/powerpoint/2010/main" val="6499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0B53F-B649-4229-A6F9-7AF253B2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решения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DE8990-0331-4E1B-9ECC-45FA9357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237260" cy="5033372"/>
          </a:xfrm>
        </p:spPr>
        <p:txBody>
          <a:bodyPr>
            <a:normAutofit lnSpcReduction="10000"/>
          </a:bodyPr>
          <a:lstStyle/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работы программы						</a:t>
            </a: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работы цикла						</a:t>
            </a: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данных:</a:t>
            </a:r>
            <a:r>
              <a:rPr lang="ru-RU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в помещении 				</a:t>
            </a:r>
          </a:p>
          <a:p>
            <a:pPr marL="457200" lvl="1" indent="0" algn="r">
              <a:buNone/>
            </a:pPr>
            <a:r>
              <a:rPr lang="ru-RU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  <a:r>
              <a:rPr lang="ru-RU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40	</a:t>
            </a:r>
            <a:r>
              <a:rPr lang="ru-RU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условия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сравнить температуру с критическим значением	</a:t>
            </a:r>
          </a:p>
          <a:p>
            <a:pPr marL="457200" lvl="1" indent="0" algn="r">
              <a:spcBef>
                <a:spcPts val="600"/>
              </a:spcBef>
              <a:buNone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&lt;</a:t>
            </a:r>
            <a:r>
              <a:rPr lang="ru-RU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в пределах нормы – возвращаемся в начало цикла	</a:t>
            </a: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данных:</a:t>
            </a:r>
            <a:r>
              <a:rPr lang="ru-RU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в помещении				</a:t>
            </a:r>
          </a:p>
          <a:p>
            <a:pPr marL="457200" lvl="1" indent="0" algn="r">
              <a:spcBef>
                <a:spcPts val="600"/>
              </a:spcBef>
              <a:buNone/>
            </a:pPr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  <a:r>
              <a:rPr lang="ru-RU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65	</a:t>
            </a:r>
            <a:r>
              <a:rPr lang="ru-RU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условия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сравнить температуру с критическим значением	</a:t>
            </a:r>
          </a:p>
          <a:p>
            <a:pPr marL="457200" lvl="1" indent="0" algn="r">
              <a:spcBef>
                <a:spcPts val="600"/>
              </a:spcBef>
              <a:buNone/>
            </a:pPr>
            <a:r>
              <a:rPr lang="ru-RU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&lt;</a:t>
            </a:r>
            <a:r>
              <a:rPr lang="ru-RU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достигла критического значения.			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Сообщение о пожаре						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 (алгоритма)							</a:t>
            </a:r>
          </a:p>
          <a:p>
            <a:pPr marL="457200" lvl="1" indent="0" algn="r">
              <a:spcBef>
                <a:spcPts val="60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746C69-AAE1-4E8F-B5FD-9406CF0A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70" y="1370811"/>
            <a:ext cx="2533929" cy="53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6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02BB7-22F0-4FD5-BFB2-B1CD9EB2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146"/>
          </a:xfrm>
        </p:spPr>
        <p:txBody>
          <a:bodyPr/>
          <a:lstStyle/>
          <a:p>
            <a:r>
              <a:rPr lang="ru-RU" dirty="0"/>
              <a:t>Пример реализации на </a:t>
            </a:r>
            <a:r>
              <a:rPr lang="en-US" dirty="0"/>
              <a:t>C++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A070688-4F10-4963-8DBF-0D736AF98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6124" y="1099484"/>
            <a:ext cx="8339752" cy="4029561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6B38B4-BD64-4BBE-B5AE-849C0F2A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5220465"/>
            <a:ext cx="371475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09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C281C-8C18-442A-B47C-2746E580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6F5028-92CA-430C-976C-F089F40E8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5" y="1394429"/>
            <a:ext cx="11340354" cy="50984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Написать программу, которая выводит сумму всех целых чисел от 1 до 5.</a:t>
            </a:r>
          </a:p>
          <a:p>
            <a:pPr marL="0" indent="0" algn="just">
              <a:buNone/>
            </a:pPr>
            <a:r>
              <a:rPr lang="ru-RU" sz="2400" dirty="0"/>
              <a:t>	</a:t>
            </a:r>
          </a:p>
          <a:p>
            <a:pPr marL="0" indent="0" algn="just">
              <a:buNone/>
            </a:pPr>
            <a:r>
              <a:rPr lang="ru-RU" sz="2400" dirty="0"/>
              <a:t>	Пример вывода: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AF377C-B44C-4612-9649-756579C33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234" y="3241962"/>
            <a:ext cx="6639529" cy="3158430"/>
          </a:xfrm>
          <a:prstGeom prst="rect">
            <a:avLst/>
          </a:prstGeo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16C98737-3102-4375-88EE-3756561FF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807" y="1988959"/>
            <a:ext cx="3952385" cy="95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24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6BA99-E232-4852-AAAE-CBCF484E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r>
              <a:rPr lang="ru-RU" dirty="0"/>
              <a:t>Блок-схема алгоритма решения задачи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D6AB20A-97C2-418F-9E73-184EB93FA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36" y="1685014"/>
            <a:ext cx="11237259" cy="5020586"/>
          </a:xfrm>
        </p:spPr>
        <p:txBody>
          <a:bodyPr>
            <a:normAutofit/>
          </a:bodyPr>
          <a:lstStyle/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работы программы				</a:t>
            </a: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Объявление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инициализация переменных		</a:t>
            </a: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работы цикла			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условия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счётчик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больше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lvl="1" indent="0" algn="r">
              <a:spcBef>
                <a:spcPts val="600"/>
              </a:spcBef>
              <a:buNone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b</a:t>
            </a: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истина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перейти к пункту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		</a:t>
            </a:r>
          </a:p>
          <a:p>
            <a:pPr marL="457200" lvl="1" indent="0" algn="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Если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ложь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перейти к пункту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Прибавить к сумме значение счётчика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Увеличить значение счётчика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единицу		</a:t>
            </a:r>
          </a:p>
          <a:p>
            <a:pPr marL="514350" indent="-514350" algn="r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Возврат к пункту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Вывести значение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	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r">
              <a:spcBef>
                <a:spcPts val="600"/>
              </a:spcBef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 работы программы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457200" lvl="1" indent="0" algn="r">
              <a:spcBef>
                <a:spcPts val="600"/>
              </a:spcBef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42F38581-B588-49DA-B4D4-29494D9E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10233"/>
            <a:ext cx="3491753" cy="569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5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5A1B5-F446-4D1B-A690-46FB245F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895"/>
          </a:xfrm>
        </p:spPr>
        <p:txBody>
          <a:bodyPr/>
          <a:lstStyle/>
          <a:p>
            <a:r>
              <a:rPr lang="ru-RU" dirty="0"/>
              <a:t>Решение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EB31C382-4328-414B-B536-477D6175C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373" y="1308671"/>
            <a:ext cx="10181253" cy="54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44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EEB0B-420E-4076-B8B0-E843B4D9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(улучшение предыдущей)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20AE45-369B-4066-8304-905858936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Пользователь вводит два целых числа </a:t>
            </a:r>
            <a:r>
              <a:rPr lang="en-US" dirty="0"/>
              <a:t>A </a:t>
            </a:r>
            <a:r>
              <a:rPr lang="ru-RU" dirty="0"/>
              <a:t>и</a:t>
            </a:r>
            <a:r>
              <a:rPr lang="en-US" dirty="0"/>
              <a:t> B</a:t>
            </a:r>
            <a:r>
              <a:rPr lang="ru-RU" dirty="0"/>
              <a:t>, причём </a:t>
            </a:r>
            <a:r>
              <a:rPr lang="en-US" dirty="0"/>
              <a:t>A &lt; B. </a:t>
            </a:r>
            <a:r>
              <a:rPr lang="ru-RU" dirty="0"/>
              <a:t>Выведите сумму всех чисел от </a:t>
            </a:r>
            <a:r>
              <a:rPr lang="en-US" dirty="0"/>
              <a:t>A </a:t>
            </a:r>
            <a:r>
              <a:rPr lang="ru-RU" dirty="0"/>
              <a:t>до </a:t>
            </a:r>
            <a:r>
              <a:rPr lang="en-US" dirty="0"/>
              <a:t>B</a:t>
            </a:r>
            <a:r>
              <a:rPr lang="ru-RU" dirty="0"/>
              <a:t> (включительно).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Пример.</a:t>
            </a:r>
          </a:p>
          <a:p>
            <a:pPr marL="0" indent="0" algn="just">
              <a:buNone/>
            </a:pPr>
            <a:r>
              <a:rPr lang="ru-RU" dirty="0"/>
              <a:t>Ввод: 2 4		Вывод: 9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/>
              <a:t>Ввод: 5 10	 	Вывод: 45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/>
              <a:t>Ввод: 3 3		Вывод: 3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/>
              <a:t>Ввод 7 2		Вывод: «Некорректный ввод»</a:t>
            </a:r>
            <a:endParaRPr lang="en-US" dirty="0"/>
          </a:p>
          <a:p>
            <a:pPr marL="0" indent="0" algn="just">
              <a:spcBef>
                <a:spcPts val="0"/>
              </a:spcBef>
              <a:buNone/>
            </a:pPr>
            <a:endParaRPr lang="en-US" dirty="0"/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/>
              <a:t>Пример вывода: 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4A19FD-D3A7-401F-ADC0-87CB9C48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839" y="5474095"/>
            <a:ext cx="3855384" cy="10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26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F93E5-D21F-4A94-A849-31920D49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 решения задачи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25321264-2AC8-41C7-B0CA-2DAB60C31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19483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E1766-CFB1-450E-89D2-68B446A7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FFB647-F089-4EAE-A199-CEA7D7051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Написать программу, выводящую на экран линию из 5 звёздочек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Примечания</a:t>
            </a:r>
          </a:p>
          <a:p>
            <a:pPr marL="514350" indent="-514350" algn="just">
              <a:buAutoNum type="arabicPeriod"/>
            </a:pPr>
            <a:r>
              <a:rPr lang="ru-RU" dirty="0"/>
              <a:t>Управляющая переменная на момент проверки условия равна количеству уже нарисованных звёздочек.</a:t>
            </a:r>
          </a:p>
          <a:p>
            <a:pPr marL="514350" indent="-514350" algn="just">
              <a:buAutoNum type="arabicPeriod"/>
            </a:pPr>
            <a:r>
              <a:rPr lang="ru-RU" dirty="0"/>
              <a:t>Цикл остановиться тогда, когда i = 5, что будет соответствовать количеству нарисованных *.</a:t>
            </a:r>
          </a:p>
        </p:txBody>
      </p:sp>
    </p:spTree>
    <p:extLst>
      <p:ext uri="{BB962C8B-B14F-4D97-AF65-F5344CB8AC3E}">
        <p14:creationId xmlns:p14="http://schemas.microsoft.com/office/powerpoint/2010/main" val="946500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DC231-411A-4150-BB3F-D204A518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задачи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D5B60E0-2D21-405B-9065-133CBAE1D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299" y="1520824"/>
            <a:ext cx="9983401" cy="4862046"/>
          </a:xfrm>
        </p:spPr>
      </p:pic>
    </p:spTree>
    <p:extLst>
      <p:ext uri="{BB962C8B-B14F-4D97-AF65-F5344CB8AC3E}">
        <p14:creationId xmlns:p14="http://schemas.microsoft.com/office/powerpoint/2010/main" val="4262969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3F848-FD70-4240-8BB1-3A7AF00B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(самостоятельно)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151BA0-C3B4-4321-AFE1-FA8CBA769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Дано натуральное число n. Написать программу, которая вычисляет факториал неотрицательных целых чисел n (т.е. число целое и больше 0). Формула вычисления факториала приведена ниже.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26933D-DD7D-402F-9C6A-DCE128AEA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224" y="3688976"/>
            <a:ext cx="8267552" cy="169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263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1050</Words>
  <Application>Microsoft Office PowerPoint</Application>
  <PresentationFormat>Широкоэкранный</PresentationFormat>
  <Paragraphs>133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Тема Office</vt:lpstr>
      <vt:lpstr>Основы программирования на языке C++</vt:lpstr>
      <vt:lpstr>План презентации</vt:lpstr>
      <vt:lpstr>Домашнее задание</vt:lpstr>
      <vt:lpstr>Понятие цикла</vt:lpstr>
      <vt:lpstr>Понятие цикла</vt:lpstr>
      <vt:lpstr>Понятие цикла</vt:lpstr>
      <vt:lpstr>Понятие цикла</vt:lpstr>
      <vt:lpstr>Циклы в C++</vt:lpstr>
      <vt:lpstr>Состав цикла</vt:lpstr>
      <vt:lpstr>Пример (цикл с предусловием)</vt:lpstr>
      <vt:lpstr>Блок-схема алгоритма решения задачи</vt:lpstr>
      <vt:lpstr>Пример реализации на C++</vt:lpstr>
      <vt:lpstr>Пример (цикл с постусловием)</vt:lpstr>
      <vt:lpstr>Блок-схема алгоритма решения задачи</vt:lpstr>
      <vt:lpstr>Пример реализации на C++</vt:lpstr>
      <vt:lpstr>Задача</vt:lpstr>
      <vt:lpstr>Блок-схема алгоритма решения задачи</vt:lpstr>
      <vt:lpstr>Решение</vt:lpstr>
      <vt:lpstr>Задача (улучшение предыдущей)</vt:lpstr>
      <vt:lpstr>Блок-схема алгоритма решения задачи</vt:lpstr>
      <vt:lpstr>Задача</vt:lpstr>
      <vt:lpstr>Решение задачи</vt:lpstr>
      <vt:lpstr>Задача (самостоятельно)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С++</dc:title>
  <dc:creator>varitch.rodion.2@gmail.com</dc:creator>
  <cp:lastModifiedBy>varitch.rodion.2@gmail.com</cp:lastModifiedBy>
  <cp:revision>66</cp:revision>
  <dcterms:created xsi:type="dcterms:W3CDTF">2026-07-10T10:07:21Z</dcterms:created>
  <dcterms:modified xsi:type="dcterms:W3CDTF">2026-07-10T15:56:24Z</dcterms:modified>
</cp:coreProperties>
</file>