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65" r:id="rId6"/>
    <p:sldId id="261" r:id="rId7"/>
    <p:sldId id="262" r:id="rId8"/>
    <p:sldId id="268" r:id="rId9"/>
    <p:sldId id="264" r:id="rId10"/>
    <p:sldId id="266" r:id="rId11"/>
    <p:sldId id="267" r:id="rId12"/>
    <p:sldId id="269" r:id="rId13"/>
    <p:sldId id="270" r:id="rId14"/>
    <p:sldId id="271" r:id="rId15"/>
    <p:sldId id="272" r:id="rId16"/>
    <p:sldId id="273" r:id="rId17"/>
    <p:sldId id="274" r:id="rId18"/>
    <p:sldId id="275" r:id="rId19"/>
    <p:sldId id="276" r:id="rId20"/>
    <p:sldId id="277" r:id="rId21"/>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56" autoAdjust="0"/>
  </p:normalViewPr>
  <p:slideViewPr>
    <p:cSldViewPr snapToGrid="0">
      <p:cViewPr varScale="1">
        <p:scale>
          <a:sx n="80" d="100"/>
          <a:sy n="80" d="100"/>
        </p:scale>
        <p:origin x="78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7E00F32-3EE2-4411-BB35-80D8C1FF7CE5}"/>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4B8F7E47-786E-4BF8-B216-B9EE0F9C844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2352ABA8-BED9-4852-AF74-C08886521EFF}"/>
              </a:ext>
            </a:extLst>
          </p:cNvPr>
          <p:cNvSpPr>
            <a:spLocks noGrp="1"/>
          </p:cNvSpPr>
          <p:nvPr>
            <p:ph type="dt" sz="half" idx="10"/>
          </p:nvPr>
        </p:nvSpPr>
        <p:spPr/>
        <p:txBody>
          <a:bodyPr/>
          <a:lstStyle/>
          <a:p>
            <a:fld id="{3315D255-F7BF-492E-BDBE-8579D14555C9}" type="datetimeFigureOut">
              <a:rPr lang="ru-RU" smtClean="0"/>
              <a:t>02.07.2026</a:t>
            </a:fld>
            <a:endParaRPr lang="ru-RU"/>
          </a:p>
        </p:txBody>
      </p:sp>
      <p:sp>
        <p:nvSpPr>
          <p:cNvPr id="5" name="Нижний колонтитул 4">
            <a:extLst>
              <a:ext uri="{FF2B5EF4-FFF2-40B4-BE49-F238E27FC236}">
                <a16:creationId xmlns:a16="http://schemas.microsoft.com/office/drawing/2014/main" id="{406F826E-DB52-4FEA-9439-052690470F73}"/>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BD4512C0-6613-497C-B875-DDB090D8E615}"/>
              </a:ext>
            </a:extLst>
          </p:cNvPr>
          <p:cNvSpPr>
            <a:spLocks noGrp="1"/>
          </p:cNvSpPr>
          <p:nvPr>
            <p:ph type="sldNum" sz="quarter" idx="12"/>
          </p:nvPr>
        </p:nvSpPr>
        <p:spPr/>
        <p:txBody>
          <a:bodyPr/>
          <a:lstStyle/>
          <a:p>
            <a:fld id="{6F797854-79D4-4AFD-8F9C-A8BB5C4FAA03}" type="slidenum">
              <a:rPr lang="ru-RU" smtClean="0"/>
              <a:t>‹#›</a:t>
            </a:fld>
            <a:endParaRPr lang="ru-RU"/>
          </a:p>
        </p:txBody>
      </p:sp>
    </p:spTree>
    <p:extLst>
      <p:ext uri="{BB962C8B-B14F-4D97-AF65-F5344CB8AC3E}">
        <p14:creationId xmlns:p14="http://schemas.microsoft.com/office/powerpoint/2010/main" val="27669638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D6C2DE6-1778-47A0-8382-88FC2BEDE90F}"/>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50F8E556-039A-4CD4-AC91-4D0EE1EE9649}"/>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58F0966E-679B-456D-8124-B999B0604B90}"/>
              </a:ext>
            </a:extLst>
          </p:cNvPr>
          <p:cNvSpPr>
            <a:spLocks noGrp="1"/>
          </p:cNvSpPr>
          <p:nvPr>
            <p:ph type="dt" sz="half" idx="10"/>
          </p:nvPr>
        </p:nvSpPr>
        <p:spPr/>
        <p:txBody>
          <a:bodyPr/>
          <a:lstStyle/>
          <a:p>
            <a:fld id="{3315D255-F7BF-492E-BDBE-8579D14555C9}" type="datetimeFigureOut">
              <a:rPr lang="ru-RU" smtClean="0"/>
              <a:t>02.07.2026</a:t>
            </a:fld>
            <a:endParaRPr lang="ru-RU"/>
          </a:p>
        </p:txBody>
      </p:sp>
      <p:sp>
        <p:nvSpPr>
          <p:cNvPr id="5" name="Нижний колонтитул 4">
            <a:extLst>
              <a:ext uri="{FF2B5EF4-FFF2-40B4-BE49-F238E27FC236}">
                <a16:creationId xmlns:a16="http://schemas.microsoft.com/office/drawing/2014/main" id="{E622D895-437E-41F9-93FC-E28485A2BDF8}"/>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40F98BE8-1B75-4407-BCC1-22DE7BDA607B}"/>
              </a:ext>
            </a:extLst>
          </p:cNvPr>
          <p:cNvSpPr>
            <a:spLocks noGrp="1"/>
          </p:cNvSpPr>
          <p:nvPr>
            <p:ph type="sldNum" sz="quarter" idx="12"/>
          </p:nvPr>
        </p:nvSpPr>
        <p:spPr/>
        <p:txBody>
          <a:bodyPr/>
          <a:lstStyle/>
          <a:p>
            <a:fld id="{6F797854-79D4-4AFD-8F9C-A8BB5C4FAA03}" type="slidenum">
              <a:rPr lang="ru-RU" smtClean="0"/>
              <a:t>‹#›</a:t>
            </a:fld>
            <a:endParaRPr lang="ru-RU"/>
          </a:p>
        </p:txBody>
      </p:sp>
    </p:spTree>
    <p:extLst>
      <p:ext uri="{BB962C8B-B14F-4D97-AF65-F5344CB8AC3E}">
        <p14:creationId xmlns:p14="http://schemas.microsoft.com/office/powerpoint/2010/main" val="4864598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4C6D02F-7CA9-4CB4-8DF2-D8D06E0F751E}"/>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DCA4E6C9-142D-4035-BE67-592AC841909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101AEDD2-C6B0-464D-9E58-F39E82993445}"/>
              </a:ext>
            </a:extLst>
          </p:cNvPr>
          <p:cNvSpPr>
            <a:spLocks noGrp="1"/>
          </p:cNvSpPr>
          <p:nvPr>
            <p:ph type="dt" sz="half" idx="10"/>
          </p:nvPr>
        </p:nvSpPr>
        <p:spPr/>
        <p:txBody>
          <a:bodyPr/>
          <a:lstStyle/>
          <a:p>
            <a:fld id="{3315D255-F7BF-492E-BDBE-8579D14555C9}" type="datetimeFigureOut">
              <a:rPr lang="ru-RU" smtClean="0"/>
              <a:t>02.07.2026</a:t>
            </a:fld>
            <a:endParaRPr lang="ru-RU"/>
          </a:p>
        </p:txBody>
      </p:sp>
      <p:sp>
        <p:nvSpPr>
          <p:cNvPr id="5" name="Нижний колонтитул 4">
            <a:extLst>
              <a:ext uri="{FF2B5EF4-FFF2-40B4-BE49-F238E27FC236}">
                <a16:creationId xmlns:a16="http://schemas.microsoft.com/office/drawing/2014/main" id="{2CB9410D-3F13-4DB4-B03C-A0B951C317D9}"/>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29926B07-801B-4A20-9E26-1C1F5E481194}"/>
              </a:ext>
            </a:extLst>
          </p:cNvPr>
          <p:cNvSpPr>
            <a:spLocks noGrp="1"/>
          </p:cNvSpPr>
          <p:nvPr>
            <p:ph type="sldNum" sz="quarter" idx="12"/>
          </p:nvPr>
        </p:nvSpPr>
        <p:spPr/>
        <p:txBody>
          <a:bodyPr/>
          <a:lstStyle/>
          <a:p>
            <a:fld id="{6F797854-79D4-4AFD-8F9C-A8BB5C4FAA03}" type="slidenum">
              <a:rPr lang="ru-RU" smtClean="0"/>
              <a:t>‹#›</a:t>
            </a:fld>
            <a:endParaRPr lang="ru-RU"/>
          </a:p>
        </p:txBody>
      </p:sp>
    </p:spTree>
    <p:extLst>
      <p:ext uri="{BB962C8B-B14F-4D97-AF65-F5344CB8AC3E}">
        <p14:creationId xmlns:p14="http://schemas.microsoft.com/office/powerpoint/2010/main" val="23365392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A9AA3CE-68ED-436D-AB92-CE4B8A5D3933}"/>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FBAB16C5-6C13-4896-9E2D-D9B4FBB36B59}"/>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117CE867-47FC-4418-8262-8E28F963209B}"/>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A6A0B17F-1A4D-4511-B986-88FB4F28B7AF}"/>
              </a:ext>
            </a:extLst>
          </p:cNvPr>
          <p:cNvSpPr>
            <a:spLocks noGrp="1"/>
          </p:cNvSpPr>
          <p:nvPr>
            <p:ph type="dt" sz="half" idx="10"/>
          </p:nvPr>
        </p:nvSpPr>
        <p:spPr/>
        <p:txBody>
          <a:bodyPr/>
          <a:lstStyle/>
          <a:p>
            <a:fld id="{3315D255-F7BF-492E-BDBE-8579D14555C9}" type="datetimeFigureOut">
              <a:rPr lang="ru-RU" smtClean="0"/>
              <a:t>02.07.2026</a:t>
            </a:fld>
            <a:endParaRPr lang="ru-RU"/>
          </a:p>
        </p:txBody>
      </p:sp>
      <p:sp>
        <p:nvSpPr>
          <p:cNvPr id="6" name="Нижний колонтитул 5">
            <a:extLst>
              <a:ext uri="{FF2B5EF4-FFF2-40B4-BE49-F238E27FC236}">
                <a16:creationId xmlns:a16="http://schemas.microsoft.com/office/drawing/2014/main" id="{FB0EDD51-B37E-4785-B9DB-32E5FCB6E881}"/>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8FDD310B-A165-4F79-BF01-FB69BB90388D}"/>
              </a:ext>
            </a:extLst>
          </p:cNvPr>
          <p:cNvSpPr>
            <a:spLocks noGrp="1"/>
          </p:cNvSpPr>
          <p:nvPr>
            <p:ph type="sldNum" sz="quarter" idx="12"/>
          </p:nvPr>
        </p:nvSpPr>
        <p:spPr/>
        <p:txBody>
          <a:bodyPr/>
          <a:lstStyle/>
          <a:p>
            <a:fld id="{6F797854-79D4-4AFD-8F9C-A8BB5C4FAA03}" type="slidenum">
              <a:rPr lang="ru-RU" smtClean="0"/>
              <a:t>‹#›</a:t>
            </a:fld>
            <a:endParaRPr lang="ru-RU"/>
          </a:p>
        </p:txBody>
      </p:sp>
    </p:spTree>
    <p:extLst>
      <p:ext uri="{BB962C8B-B14F-4D97-AF65-F5344CB8AC3E}">
        <p14:creationId xmlns:p14="http://schemas.microsoft.com/office/powerpoint/2010/main" val="30255297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0D8AF6A-FD7E-41B0-9CD0-5772B80AD268}"/>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276515AE-1B1F-4486-AAA5-D8742DC874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D0E0282C-A960-4629-9561-9F72724BED39}"/>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FE9FA198-5FC3-44F4-93AA-956E0611A8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0A8DE33E-D385-4002-9913-123437A7C472}"/>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12747A92-E321-4E01-A7BD-BFAFFCAE5693}"/>
              </a:ext>
            </a:extLst>
          </p:cNvPr>
          <p:cNvSpPr>
            <a:spLocks noGrp="1"/>
          </p:cNvSpPr>
          <p:nvPr>
            <p:ph type="dt" sz="half" idx="10"/>
          </p:nvPr>
        </p:nvSpPr>
        <p:spPr/>
        <p:txBody>
          <a:bodyPr/>
          <a:lstStyle/>
          <a:p>
            <a:fld id="{3315D255-F7BF-492E-BDBE-8579D14555C9}" type="datetimeFigureOut">
              <a:rPr lang="ru-RU" smtClean="0"/>
              <a:t>02.07.2026</a:t>
            </a:fld>
            <a:endParaRPr lang="ru-RU"/>
          </a:p>
        </p:txBody>
      </p:sp>
      <p:sp>
        <p:nvSpPr>
          <p:cNvPr id="8" name="Нижний колонтитул 7">
            <a:extLst>
              <a:ext uri="{FF2B5EF4-FFF2-40B4-BE49-F238E27FC236}">
                <a16:creationId xmlns:a16="http://schemas.microsoft.com/office/drawing/2014/main" id="{68818380-D9F7-4940-B0A0-26B00585F9E3}"/>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B7DA22C1-3614-41FA-AB76-A4229EC2D7C5}"/>
              </a:ext>
            </a:extLst>
          </p:cNvPr>
          <p:cNvSpPr>
            <a:spLocks noGrp="1"/>
          </p:cNvSpPr>
          <p:nvPr>
            <p:ph type="sldNum" sz="quarter" idx="12"/>
          </p:nvPr>
        </p:nvSpPr>
        <p:spPr/>
        <p:txBody>
          <a:bodyPr/>
          <a:lstStyle/>
          <a:p>
            <a:fld id="{6F797854-79D4-4AFD-8F9C-A8BB5C4FAA03}" type="slidenum">
              <a:rPr lang="ru-RU" smtClean="0"/>
              <a:t>‹#›</a:t>
            </a:fld>
            <a:endParaRPr lang="ru-RU"/>
          </a:p>
        </p:txBody>
      </p:sp>
    </p:spTree>
    <p:extLst>
      <p:ext uri="{BB962C8B-B14F-4D97-AF65-F5344CB8AC3E}">
        <p14:creationId xmlns:p14="http://schemas.microsoft.com/office/powerpoint/2010/main" val="2297766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BBCD886-A03A-404B-AB6D-BDF956CF8B56}"/>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01492391-4708-4F6B-B7AC-CC50CC592E40}"/>
              </a:ext>
            </a:extLst>
          </p:cNvPr>
          <p:cNvSpPr>
            <a:spLocks noGrp="1"/>
          </p:cNvSpPr>
          <p:nvPr>
            <p:ph type="dt" sz="half" idx="10"/>
          </p:nvPr>
        </p:nvSpPr>
        <p:spPr/>
        <p:txBody>
          <a:bodyPr/>
          <a:lstStyle/>
          <a:p>
            <a:fld id="{3315D255-F7BF-492E-BDBE-8579D14555C9}" type="datetimeFigureOut">
              <a:rPr lang="ru-RU" smtClean="0"/>
              <a:t>02.07.2026</a:t>
            </a:fld>
            <a:endParaRPr lang="ru-RU"/>
          </a:p>
        </p:txBody>
      </p:sp>
      <p:sp>
        <p:nvSpPr>
          <p:cNvPr id="4" name="Нижний колонтитул 3">
            <a:extLst>
              <a:ext uri="{FF2B5EF4-FFF2-40B4-BE49-F238E27FC236}">
                <a16:creationId xmlns:a16="http://schemas.microsoft.com/office/drawing/2014/main" id="{BCDC2582-1048-4BAE-8DF7-10DCD09089C9}"/>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1C5A73A7-7463-48B8-8FCD-A93625C338F2}"/>
              </a:ext>
            </a:extLst>
          </p:cNvPr>
          <p:cNvSpPr>
            <a:spLocks noGrp="1"/>
          </p:cNvSpPr>
          <p:nvPr>
            <p:ph type="sldNum" sz="quarter" idx="12"/>
          </p:nvPr>
        </p:nvSpPr>
        <p:spPr/>
        <p:txBody>
          <a:bodyPr/>
          <a:lstStyle/>
          <a:p>
            <a:fld id="{6F797854-79D4-4AFD-8F9C-A8BB5C4FAA03}" type="slidenum">
              <a:rPr lang="ru-RU" smtClean="0"/>
              <a:t>‹#›</a:t>
            </a:fld>
            <a:endParaRPr lang="ru-RU"/>
          </a:p>
        </p:txBody>
      </p:sp>
    </p:spTree>
    <p:extLst>
      <p:ext uri="{BB962C8B-B14F-4D97-AF65-F5344CB8AC3E}">
        <p14:creationId xmlns:p14="http://schemas.microsoft.com/office/powerpoint/2010/main" val="37979615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044CEEA6-5DA8-4E13-826B-45A7E47DE182}"/>
              </a:ext>
            </a:extLst>
          </p:cNvPr>
          <p:cNvSpPr>
            <a:spLocks noGrp="1"/>
          </p:cNvSpPr>
          <p:nvPr>
            <p:ph type="dt" sz="half" idx="10"/>
          </p:nvPr>
        </p:nvSpPr>
        <p:spPr/>
        <p:txBody>
          <a:bodyPr/>
          <a:lstStyle/>
          <a:p>
            <a:fld id="{3315D255-F7BF-492E-BDBE-8579D14555C9}" type="datetimeFigureOut">
              <a:rPr lang="ru-RU" smtClean="0"/>
              <a:t>02.07.2026</a:t>
            </a:fld>
            <a:endParaRPr lang="ru-RU"/>
          </a:p>
        </p:txBody>
      </p:sp>
      <p:sp>
        <p:nvSpPr>
          <p:cNvPr id="3" name="Нижний колонтитул 2">
            <a:extLst>
              <a:ext uri="{FF2B5EF4-FFF2-40B4-BE49-F238E27FC236}">
                <a16:creationId xmlns:a16="http://schemas.microsoft.com/office/drawing/2014/main" id="{BE3C2B24-2CC2-4BF3-94C7-BA42F0FE5B01}"/>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A1A04DFE-B82F-4875-965C-FE5F0F3C1969}"/>
              </a:ext>
            </a:extLst>
          </p:cNvPr>
          <p:cNvSpPr>
            <a:spLocks noGrp="1"/>
          </p:cNvSpPr>
          <p:nvPr>
            <p:ph type="sldNum" sz="quarter" idx="12"/>
          </p:nvPr>
        </p:nvSpPr>
        <p:spPr/>
        <p:txBody>
          <a:bodyPr/>
          <a:lstStyle/>
          <a:p>
            <a:fld id="{6F797854-79D4-4AFD-8F9C-A8BB5C4FAA03}" type="slidenum">
              <a:rPr lang="ru-RU" smtClean="0"/>
              <a:t>‹#›</a:t>
            </a:fld>
            <a:endParaRPr lang="ru-RU"/>
          </a:p>
        </p:txBody>
      </p:sp>
    </p:spTree>
    <p:extLst>
      <p:ext uri="{BB962C8B-B14F-4D97-AF65-F5344CB8AC3E}">
        <p14:creationId xmlns:p14="http://schemas.microsoft.com/office/powerpoint/2010/main" val="20994921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2BF6C13-4657-450C-96FE-8EB1C3765E7B}"/>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D5CE79AE-6DD6-4A68-92E9-096C494C0E0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09DF0C61-AF37-4DED-ABAC-03EFD3BFAB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878963FD-6CA8-4725-8050-6D6C0E2DB19F}"/>
              </a:ext>
            </a:extLst>
          </p:cNvPr>
          <p:cNvSpPr>
            <a:spLocks noGrp="1"/>
          </p:cNvSpPr>
          <p:nvPr>
            <p:ph type="dt" sz="half" idx="10"/>
          </p:nvPr>
        </p:nvSpPr>
        <p:spPr/>
        <p:txBody>
          <a:bodyPr/>
          <a:lstStyle/>
          <a:p>
            <a:fld id="{3315D255-F7BF-492E-BDBE-8579D14555C9}" type="datetimeFigureOut">
              <a:rPr lang="ru-RU" smtClean="0"/>
              <a:t>02.07.2026</a:t>
            </a:fld>
            <a:endParaRPr lang="ru-RU"/>
          </a:p>
        </p:txBody>
      </p:sp>
      <p:sp>
        <p:nvSpPr>
          <p:cNvPr id="6" name="Нижний колонтитул 5">
            <a:extLst>
              <a:ext uri="{FF2B5EF4-FFF2-40B4-BE49-F238E27FC236}">
                <a16:creationId xmlns:a16="http://schemas.microsoft.com/office/drawing/2014/main" id="{96EDF1BD-E452-4B0E-AC1D-93F2949C1511}"/>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1028787B-156A-47F5-8851-1F6F0D74BDB9}"/>
              </a:ext>
            </a:extLst>
          </p:cNvPr>
          <p:cNvSpPr>
            <a:spLocks noGrp="1"/>
          </p:cNvSpPr>
          <p:nvPr>
            <p:ph type="sldNum" sz="quarter" idx="12"/>
          </p:nvPr>
        </p:nvSpPr>
        <p:spPr/>
        <p:txBody>
          <a:bodyPr/>
          <a:lstStyle/>
          <a:p>
            <a:fld id="{6F797854-79D4-4AFD-8F9C-A8BB5C4FAA03}" type="slidenum">
              <a:rPr lang="ru-RU" smtClean="0"/>
              <a:t>‹#›</a:t>
            </a:fld>
            <a:endParaRPr lang="ru-RU"/>
          </a:p>
        </p:txBody>
      </p:sp>
    </p:spTree>
    <p:extLst>
      <p:ext uri="{BB962C8B-B14F-4D97-AF65-F5344CB8AC3E}">
        <p14:creationId xmlns:p14="http://schemas.microsoft.com/office/powerpoint/2010/main" val="5501319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E27882C-32A7-4FDA-ACEE-6D737D82443D}"/>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E98935C2-F5E6-4A6B-A781-DD9093DEBB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3D2EC957-1B17-4638-ABA2-AF4A1E797F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03473004-164E-474F-881D-7C69707908D8}"/>
              </a:ext>
            </a:extLst>
          </p:cNvPr>
          <p:cNvSpPr>
            <a:spLocks noGrp="1"/>
          </p:cNvSpPr>
          <p:nvPr>
            <p:ph type="dt" sz="half" idx="10"/>
          </p:nvPr>
        </p:nvSpPr>
        <p:spPr/>
        <p:txBody>
          <a:bodyPr/>
          <a:lstStyle/>
          <a:p>
            <a:fld id="{3315D255-F7BF-492E-BDBE-8579D14555C9}" type="datetimeFigureOut">
              <a:rPr lang="ru-RU" smtClean="0"/>
              <a:t>02.07.2026</a:t>
            </a:fld>
            <a:endParaRPr lang="ru-RU"/>
          </a:p>
        </p:txBody>
      </p:sp>
      <p:sp>
        <p:nvSpPr>
          <p:cNvPr id="6" name="Нижний колонтитул 5">
            <a:extLst>
              <a:ext uri="{FF2B5EF4-FFF2-40B4-BE49-F238E27FC236}">
                <a16:creationId xmlns:a16="http://schemas.microsoft.com/office/drawing/2014/main" id="{D6FEE084-EF2A-4F4F-ADAE-835E0268B1F9}"/>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40018115-10AF-4C30-9772-2A1B1ACE1A7C}"/>
              </a:ext>
            </a:extLst>
          </p:cNvPr>
          <p:cNvSpPr>
            <a:spLocks noGrp="1"/>
          </p:cNvSpPr>
          <p:nvPr>
            <p:ph type="sldNum" sz="quarter" idx="12"/>
          </p:nvPr>
        </p:nvSpPr>
        <p:spPr/>
        <p:txBody>
          <a:bodyPr/>
          <a:lstStyle/>
          <a:p>
            <a:fld id="{6F797854-79D4-4AFD-8F9C-A8BB5C4FAA03}" type="slidenum">
              <a:rPr lang="ru-RU" smtClean="0"/>
              <a:t>‹#›</a:t>
            </a:fld>
            <a:endParaRPr lang="ru-RU"/>
          </a:p>
        </p:txBody>
      </p:sp>
    </p:spTree>
    <p:extLst>
      <p:ext uri="{BB962C8B-B14F-4D97-AF65-F5344CB8AC3E}">
        <p14:creationId xmlns:p14="http://schemas.microsoft.com/office/powerpoint/2010/main" val="22347920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3D87D4F-BDE3-4739-8AFC-712B10721738}"/>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16999417-65FA-4391-B8DF-D2894562FCD6}"/>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2E60B7B7-5350-41BC-B13C-4E5525C9A017}"/>
              </a:ext>
            </a:extLst>
          </p:cNvPr>
          <p:cNvSpPr>
            <a:spLocks noGrp="1"/>
          </p:cNvSpPr>
          <p:nvPr>
            <p:ph type="dt" sz="half" idx="10"/>
          </p:nvPr>
        </p:nvSpPr>
        <p:spPr/>
        <p:txBody>
          <a:bodyPr/>
          <a:lstStyle/>
          <a:p>
            <a:fld id="{3315D255-F7BF-492E-BDBE-8579D14555C9}" type="datetimeFigureOut">
              <a:rPr lang="ru-RU" smtClean="0"/>
              <a:t>02.07.2026</a:t>
            </a:fld>
            <a:endParaRPr lang="ru-RU"/>
          </a:p>
        </p:txBody>
      </p:sp>
      <p:sp>
        <p:nvSpPr>
          <p:cNvPr id="5" name="Нижний колонтитул 4">
            <a:extLst>
              <a:ext uri="{FF2B5EF4-FFF2-40B4-BE49-F238E27FC236}">
                <a16:creationId xmlns:a16="http://schemas.microsoft.com/office/drawing/2014/main" id="{FA1D0F25-A966-44F3-AB68-13DD8F51BB5F}"/>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FE8254BA-BA66-4ECC-9D4D-B3AFC16B2CE1}"/>
              </a:ext>
            </a:extLst>
          </p:cNvPr>
          <p:cNvSpPr>
            <a:spLocks noGrp="1"/>
          </p:cNvSpPr>
          <p:nvPr>
            <p:ph type="sldNum" sz="quarter" idx="12"/>
          </p:nvPr>
        </p:nvSpPr>
        <p:spPr/>
        <p:txBody>
          <a:bodyPr/>
          <a:lstStyle/>
          <a:p>
            <a:fld id="{6F797854-79D4-4AFD-8F9C-A8BB5C4FAA03}" type="slidenum">
              <a:rPr lang="ru-RU" smtClean="0"/>
              <a:t>‹#›</a:t>
            </a:fld>
            <a:endParaRPr lang="ru-RU"/>
          </a:p>
        </p:txBody>
      </p:sp>
    </p:spTree>
    <p:extLst>
      <p:ext uri="{BB962C8B-B14F-4D97-AF65-F5344CB8AC3E}">
        <p14:creationId xmlns:p14="http://schemas.microsoft.com/office/powerpoint/2010/main" val="4383296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0429A703-CC40-4217-AC7B-D9FBF779D751}"/>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C776C6A3-7DC4-4A38-9324-AC8F2D73B8C3}"/>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35CCB147-C56A-4145-8546-C2CC83526133}"/>
              </a:ext>
            </a:extLst>
          </p:cNvPr>
          <p:cNvSpPr>
            <a:spLocks noGrp="1"/>
          </p:cNvSpPr>
          <p:nvPr>
            <p:ph type="dt" sz="half" idx="10"/>
          </p:nvPr>
        </p:nvSpPr>
        <p:spPr/>
        <p:txBody>
          <a:bodyPr/>
          <a:lstStyle/>
          <a:p>
            <a:fld id="{3315D255-F7BF-492E-BDBE-8579D14555C9}" type="datetimeFigureOut">
              <a:rPr lang="ru-RU" smtClean="0"/>
              <a:t>02.07.2026</a:t>
            </a:fld>
            <a:endParaRPr lang="ru-RU"/>
          </a:p>
        </p:txBody>
      </p:sp>
      <p:sp>
        <p:nvSpPr>
          <p:cNvPr id="5" name="Нижний колонтитул 4">
            <a:extLst>
              <a:ext uri="{FF2B5EF4-FFF2-40B4-BE49-F238E27FC236}">
                <a16:creationId xmlns:a16="http://schemas.microsoft.com/office/drawing/2014/main" id="{7A94C61F-F215-4E37-AE70-4D692012D98A}"/>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82186C05-422A-4790-9F3C-F62DAC3AAA6B}"/>
              </a:ext>
            </a:extLst>
          </p:cNvPr>
          <p:cNvSpPr>
            <a:spLocks noGrp="1"/>
          </p:cNvSpPr>
          <p:nvPr>
            <p:ph type="sldNum" sz="quarter" idx="12"/>
          </p:nvPr>
        </p:nvSpPr>
        <p:spPr/>
        <p:txBody>
          <a:bodyPr/>
          <a:lstStyle/>
          <a:p>
            <a:fld id="{6F797854-79D4-4AFD-8F9C-A8BB5C4FAA03}" type="slidenum">
              <a:rPr lang="ru-RU" smtClean="0"/>
              <a:t>‹#›</a:t>
            </a:fld>
            <a:endParaRPr lang="ru-RU"/>
          </a:p>
        </p:txBody>
      </p:sp>
    </p:spTree>
    <p:extLst>
      <p:ext uri="{BB962C8B-B14F-4D97-AF65-F5344CB8AC3E}">
        <p14:creationId xmlns:p14="http://schemas.microsoft.com/office/powerpoint/2010/main" val="42762630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F2EE839-D3EE-4A55-AC47-FF82CB29FB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E6196BB4-4BBE-4DE6-BC90-D4C3D77A91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F40E8D70-5DE5-4D1F-98CF-88430AAA65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315D255-F7BF-492E-BDBE-8579D14555C9}" type="datetimeFigureOut">
              <a:rPr lang="ru-RU" smtClean="0"/>
              <a:t>02.07.2026</a:t>
            </a:fld>
            <a:endParaRPr lang="ru-RU"/>
          </a:p>
        </p:txBody>
      </p:sp>
      <p:sp>
        <p:nvSpPr>
          <p:cNvPr id="5" name="Нижний колонтитул 4">
            <a:extLst>
              <a:ext uri="{FF2B5EF4-FFF2-40B4-BE49-F238E27FC236}">
                <a16:creationId xmlns:a16="http://schemas.microsoft.com/office/drawing/2014/main" id="{81DD474B-7BD9-4AFA-8DF5-C1043A1D6C0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a:extLst>
              <a:ext uri="{FF2B5EF4-FFF2-40B4-BE49-F238E27FC236}">
                <a16:creationId xmlns:a16="http://schemas.microsoft.com/office/drawing/2014/main" id="{44F487BF-2EE4-42D7-AA78-D84839A3DD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F797854-79D4-4AFD-8F9C-A8BB5C4FAA03}" type="slidenum">
              <a:rPr lang="ru-RU" smtClean="0"/>
              <a:t>‹#›</a:t>
            </a:fld>
            <a:endParaRPr lang="ru-RU"/>
          </a:p>
        </p:txBody>
      </p:sp>
    </p:spTree>
    <p:extLst>
      <p:ext uri="{BB962C8B-B14F-4D97-AF65-F5344CB8AC3E}">
        <p14:creationId xmlns:p14="http://schemas.microsoft.com/office/powerpoint/2010/main" val="40699661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7B696B9-8066-4DB9-949D-A29A786C230E}"/>
              </a:ext>
            </a:extLst>
          </p:cNvPr>
          <p:cNvSpPr>
            <a:spLocks noGrp="1"/>
          </p:cNvSpPr>
          <p:nvPr>
            <p:ph type="ctrTitle"/>
          </p:nvPr>
        </p:nvSpPr>
        <p:spPr/>
        <p:txBody>
          <a:bodyPr/>
          <a:lstStyle/>
          <a:p>
            <a:r>
              <a:rPr lang="ru-RU" dirty="0"/>
              <a:t>Основы программирования на языке </a:t>
            </a:r>
            <a:r>
              <a:rPr lang="en-US" dirty="0"/>
              <a:t>C++</a:t>
            </a:r>
            <a:endParaRPr lang="ru-RU" dirty="0"/>
          </a:p>
        </p:txBody>
      </p:sp>
      <p:sp>
        <p:nvSpPr>
          <p:cNvPr id="3" name="Подзаголовок 2">
            <a:extLst>
              <a:ext uri="{FF2B5EF4-FFF2-40B4-BE49-F238E27FC236}">
                <a16:creationId xmlns:a16="http://schemas.microsoft.com/office/drawing/2014/main" id="{365F4A97-7759-40D4-A96E-63D6A08BC735}"/>
              </a:ext>
            </a:extLst>
          </p:cNvPr>
          <p:cNvSpPr>
            <a:spLocks noGrp="1"/>
          </p:cNvSpPr>
          <p:nvPr>
            <p:ph type="subTitle" idx="1"/>
          </p:nvPr>
        </p:nvSpPr>
        <p:spPr/>
        <p:txBody>
          <a:bodyPr>
            <a:normAutofit lnSpcReduction="10000"/>
          </a:bodyPr>
          <a:lstStyle/>
          <a:p>
            <a:pPr algn="r"/>
            <a:endParaRPr lang="ru-RU" dirty="0"/>
          </a:p>
          <a:p>
            <a:pPr algn="r"/>
            <a:endParaRPr lang="ru-RU" dirty="0"/>
          </a:p>
          <a:p>
            <a:pPr algn="r"/>
            <a:r>
              <a:rPr lang="ru-RU" dirty="0"/>
              <a:t>Введение</a:t>
            </a:r>
          </a:p>
          <a:p>
            <a:pPr algn="r"/>
            <a:r>
              <a:rPr lang="ru-RU" dirty="0"/>
              <a:t>01.07.2026</a:t>
            </a:r>
          </a:p>
        </p:txBody>
      </p:sp>
    </p:spTree>
    <p:extLst>
      <p:ext uri="{BB962C8B-B14F-4D97-AF65-F5344CB8AC3E}">
        <p14:creationId xmlns:p14="http://schemas.microsoft.com/office/powerpoint/2010/main" val="21774655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94E77A6-5D02-4024-9E1B-C8631B22EAFF}"/>
              </a:ext>
            </a:extLst>
          </p:cNvPr>
          <p:cNvSpPr>
            <a:spLocks noGrp="1"/>
          </p:cNvSpPr>
          <p:nvPr>
            <p:ph type="title"/>
          </p:nvPr>
        </p:nvSpPr>
        <p:spPr/>
        <p:txBody>
          <a:bodyPr/>
          <a:lstStyle/>
          <a:p>
            <a:r>
              <a:rPr lang="ru-RU" dirty="0"/>
              <a:t>Понятие алгоритма</a:t>
            </a:r>
          </a:p>
        </p:txBody>
      </p:sp>
      <p:sp>
        <p:nvSpPr>
          <p:cNvPr id="3" name="Объект 2">
            <a:extLst>
              <a:ext uri="{FF2B5EF4-FFF2-40B4-BE49-F238E27FC236}">
                <a16:creationId xmlns:a16="http://schemas.microsoft.com/office/drawing/2014/main" id="{C04064CA-017A-49CE-8EEE-15E305E642B7}"/>
              </a:ext>
            </a:extLst>
          </p:cNvPr>
          <p:cNvSpPr>
            <a:spLocks noGrp="1"/>
          </p:cNvSpPr>
          <p:nvPr>
            <p:ph idx="1"/>
          </p:nvPr>
        </p:nvSpPr>
        <p:spPr>
          <a:xfrm>
            <a:off x="838200" y="1550894"/>
            <a:ext cx="10515600" cy="4626069"/>
          </a:xfrm>
        </p:spPr>
        <p:txBody>
          <a:bodyPr>
            <a:normAutofit/>
          </a:bodyPr>
          <a:lstStyle/>
          <a:p>
            <a:pPr marL="0" indent="0" algn="just">
              <a:buNone/>
            </a:pPr>
            <a:r>
              <a:rPr lang="ru-RU" i="1" dirty="0"/>
              <a:t>Алгоритм</a:t>
            </a:r>
            <a:r>
              <a:rPr lang="ru-RU" dirty="0"/>
              <a:t> – это чёткая и строгая последовательность действий, приводящая к нужному результату.</a:t>
            </a:r>
          </a:p>
          <a:p>
            <a:pPr marL="0" indent="0" algn="just">
              <a:buNone/>
            </a:pPr>
            <a:endParaRPr lang="ru-RU" dirty="0"/>
          </a:p>
          <a:p>
            <a:pPr marL="0" indent="0" algn="just">
              <a:buNone/>
            </a:pPr>
            <a:r>
              <a:rPr lang="ru-RU" i="1" dirty="0"/>
              <a:t>Свойства</a:t>
            </a:r>
            <a:r>
              <a:rPr lang="ru-RU" dirty="0"/>
              <a:t> алгоритма:</a:t>
            </a:r>
          </a:p>
          <a:p>
            <a:pPr lvl="1" algn="just"/>
            <a:r>
              <a:rPr lang="ru-RU" sz="2800" dirty="0"/>
              <a:t>Результативность</a:t>
            </a:r>
          </a:p>
          <a:p>
            <a:pPr lvl="1" algn="just"/>
            <a:r>
              <a:rPr lang="ru-RU" sz="2800" dirty="0"/>
              <a:t>Корректность</a:t>
            </a:r>
          </a:p>
          <a:p>
            <a:pPr lvl="1" algn="just"/>
            <a:r>
              <a:rPr lang="ru-RU" sz="2800" dirty="0"/>
              <a:t>Точность</a:t>
            </a:r>
          </a:p>
          <a:p>
            <a:pPr lvl="1" algn="just"/>
            <a:r>
              <a:rPr lang="ru-RU" sz="2800" dirty="0"/>
              <a:t>Понятность</a:t>
            </a:r>
          </a:p>
          <a:p>
            <a:pPr lvl="1" algn="just"/>
            <a:r>
              <a:rPr lang="ru-RU" sz="2800" dirty="0"/>
              <a:t>Дискретность</a:t>
            </a:r>
          </a:p>
          <a:p>
            <a:pPr lvl="1" algn="just"/>
            <a:r>
              <a:rPr lang="ru-RU" sz="2800" dirty="0"/>
              <a:t>Массовость</a:t>
            </a:r>
          </a:p>
        </p:txBody>
      </p:sp>
    </p:spTree>
    <p:extLst>
      <p:ext uri="{BB962C8B-B14F-4D97-AF65-F5344CB8AC3E}">
        <p14:creationId xmlns:p14="http://schemas.microsoft.com/office/powerpoint/2010/main" val="17708420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7A7D81D-B6CD-49DF-BAFF-ED12A022CB0D}"/>
              </a:ext>
            </a:extLst>
          </p:cNvPr>
          <p:cNvSpPr>
            <a:spLocks noGrp="1"/>
          </p:cNvSpPr>
          <p:nvPr>
            <p:ph type="title"/>
          </p:nvPr>
        </p:nvSpPr>
        <p:spPr/>
        <p:txBody>
          <a:bodyPr/>
          <a:lstStyle/>
          <a:p>
            <a:r>
              <a:rPr lang="ru-RU" dirty="0"/>
              <a:t>Понятие алгоритма</a:t>
            </a:r>
          </a:p>
        </p:txBody>
      </p:sp>
      <p:sp>
        <p:nvSpPr>
          <p:cNvPr id="3" name="Объект 2">
            <a:extLst>
              <a:ext uri="{FF2B5EF4-FFF2-40B4-BE49-F238E27FC236}">
                <a16:creationId xmlns:a16="http://schemas.microsoft.com/office/drawing/2014/main" id="{4BA59CC9-ACE0-43E0-9110-43B521A0F784}"/>
              </a:ext>
            </a:extLst>
          </p:cNvPr>
          <p:cNvSpPr>
            <a:spLocks noGrp="1"/>
          </p:cNvSpPr>
          <p:nvPr>
            <p:ph idx="1"/>
          </p:nvPr>
        </p:nvSpPr>
        <p:spPr>
          <a:xfrm>
            <a:off x="838200" y="1816660"/>
            <a:ext cx="10515600" cy="4351338"/>
          </a:xfrm>
        </p:spPr>
        <p:txBody>
          <a:bodyPr/>
          <a:lstStyle/>
          <a:p>
            <a:pPr marL="0" indent="0">
              <a:buNone/>
            </a:pPr>
            <a:r>
              <a:rPr lang="ru-RU" i="1" dirty="0"/>
              <a:t> </a:t>
            </a:r>
          </a:p>
        </p:txBody>
      </p:sp>
      <p:pic>
        <p:nvPicPr>
          <p:cNvPr id="5" name="Рисунок 4">
            <a:extLst>
              <a:ext uri="{FF2B5EF4-FFF2-40B4-BE49-F238E27FC236}">
                <a16:creationId xmlns:a16="http://schemas.microsoft.com/office/drawing/2014/main" id="{4F472653-1FE8-417B-8E3F-8EA1A833D327}"/>
              </a:ext>
            </a:extLst>
          </p:cNvPr>
          <p:cNvPicPr>
            <a:picLocks noChangeAspect="1"/>
          </p:cNvPicPr>
          <p:nvPr/>
        </p:nvPicPr>
        <p:blipFill>
          <a:blip r:embed="rId2"/>
          <a:stretch>
            <a:fillRect/>
          </a:stretch>
        </p:blipFill>
        <p:spPr>
          <a:xfrm>
            <a:off x="2896933" y="1690688"/>
            <a:ext cx="6398134" cy="4351338"/>
          </a:xfrm>
          <a:prstGeom prst="rect">
            <a:avLst/>
          </a:prstGeom>
        </p:spPr>
      </p:pic>
    </p:spTree>
    <p:extLst>
      <p:ext uri="{BB962C8B-B14F-4D97-AF65-F5344CB8AC3E}">
        <p14:creationId xmlns:p14="http://schemas.microsoft.com/office/powerpoint/2010/main" val="41638912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3A07CEA-5AB5-4D2B-822F-5F913B05CEEF}"/>
              </a:ext>
            </a:extLst>
          </p:cNvPr>
          <p:cNvSpPr>
            <a:spLocks noGrp="1"/>
          </p:cNvSpPr>
          <p:nvPr>
            <p:ph type="title"/>
          </p:nvPr>
        </p:nvSpPr>
        <p:spPr>
          <a:xfrm>
            <a:off x="839787" y="457200"/>
            <a:ext cx="9281366" cy="869576"/>
          </a:xfrm>
        </p:spPr>
        <p:txBody>
          <a:bodyPr>
            <a:normAutofit/>
          </a:bodyPr>
          <a:lstStyle/>
          <a:p>
            <a:r>
              <a:rPr lang="ru-RU" sz="4400" dirty="0"/>
              <a:t>Визуальное представление алгоритма</a:t>
            </a:r>
          </a:p>
        </p:txBody>
      </p:sp>
      <p:sp>
        <p:nvSpPr>
          <p:cNvPr id="4" name="Текст 3">
            <a:extLst>
              <a:ext uri="{FF2B5EF4-FFF2-40B4-BE49-F238E27FC236}">
                <a16:creationId xmlns:a16="http://schemas.microsoft.com/office/drawing/2014/main" id="{2C73735C-4451-4DCC-A491-6CBC93593531}"/>
              </a:ext>
            </a:extLst>
          </p:cNvPr>
          <p:cNvSpPr>
            <a:spLocks noGrp="1"/>
          </p:cNvSpPr>
          <p:nvPr>
            <p:ph type="body" sz="half" idx="2"/>
          </p:nvPr>
        </p:nvSpPr>
        <p:spPr>
          <a:xfrm>
            <a:off x="570847" y="2689413"/>
            <a:ext cx="6406809" cy="1990164"/>
          </a:xfrm>
        </p:spPr>
        <p:txBody>
          <a:bodyPr>
            <a:normAutofit lnSpcReduction="10000"/>
          </a:bodyPr>
          <a:lstStyle/>
          <a:p>
            <a:pPr algn="just"/>
            <a:r>
              <a:rPr lang="ru-RU" sz="2800" i="1" dirty="0"/>
              <a:t>Блок-схема</a:t>
            </a:r>
            <a:r>
              <a:rPr lang="ru-RU" sz="2800" dirty="0"/>
              <a:t> – графический способ описания алгоритма. Она состоит из нескольких функциональных блоков, каждый из которых в свою очередь выполняет своё чёткое назначение.</a:t>
            </a:r>
          </a:p>
        </p:txBody>
      </p:sp>
      <p:pic>
        <p:nvPicPr>
          <p:cNvPr id="5" name="Объект 4">
            <a:extLst>
              <a:ext uri="{FF2B5EF4-FFF2-40B4-BE49-F238E27FC236}">
                <a16:creationId xmlns:a16="http://schemas.microsoft.com/office/drawing/2014/main" id="{7AD26086-8C1D-4920-BF22-9F5468A002CF}"/>
              </a:ext>
            </a:extLst>
          </p:cNvPr>
          <p:cNvPicPr>
            <a:picLocks noGrp="1" noChangeAspect="1"/>
          </p:cNvPicPr>
          <p:nvPr>
            <p:ph idx="1"/>
          </p:nvPr>
        </p:nvPicPr>
        <p:blipFill>
          <a:blip r:embed="rId2"/>
          <a:stretch>
            <a:fillRect/>
          </a:stretch>
        </p:blipFill>
        <p:spPr>
          <a:xfrm>
            <a:off x="7246596" y="1527175"/>
            <a:ext cx="4501710" cy="4873625"/>
          </a:xfrm>
        </p:spPr>
      </p:pic>
    </p:spTree>
    <p:extLst>
      <p:ext uri="{BB962C8B-B14F-4D97-AF65-F5344CB8AC3E}">
        <p14:creationId xmlns:p14="http://schemas.microsoft.com/office/powerpoint/2010/main" val="40726397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5A4FDAD-6377-409D-A924-D4342A201DB9}"/>
              </a:ext>
            </a:extLst>
          </p:cNvPr>
          <p:cNvSpPr>
            <a:spLocks noGrp="1"/>
          </p:cNvSpPr>
          <p:nvPr>
            <p:ph type="title"/>
          </p:nvPr>
        </p:nvSpPr>
        <p:spPr/>
        <p:txBody>
          <a:bodyPr/>
          <a:lstStyle/>
          <a:p>
            <a:r>
              <a:rPr lang="ru-RU" dirty="0"/>
              <a:t>Краткая история языка </a:t>
            </a:r>
            <a:r>
              <a:rPr lang="en-US" dirty="0"/>
              <a:t>C++</a:t>
            </a:r>
            <a:endParaRPr lang="ru-RU" dirty="0"/>
          </a:p>
        </p:txBody>
      </p:sp>
      <p:sp>
        <p:nvSpPr>
          <p:cNvPr id="3" name="Объект 2">
            <a:extLst>
              <a:ext uri="{FF2B5EF4-FFF2-40B4-BE49-F238E27FC236}">
                <a16:creationId xmlns:a16="http://schemas.microsoft.com/office/drawing/2014/main" id="{3A14660D-CC2C-43FA-9356-D871CEB94811}"/>
              </a:ext>
            </a:extLst>
          </p:cNvPr>
          <p:cNvSpPr>
            <a:spLocks noGrp="1"/>
          </p:cNvSpPr>
          <p:nvPr>
            <p:ph idx="1"/>
          </p:nvPr>
        </p:nvSpPr>
        <p:spPr>
          <a:xfrm>
            <a:off x="838200" y="1690687"/>
            <a:ext cx="10515600" cy="4468065"/>
          </a:xfrm>
        </p:spPr>
        <p:txBody>
          <a:bodyPr/>
          <a:lstStyle/>
          <a:p>
            <a:pPr algn="just"/>
            <a:r>
              <a:rPr lang="ru-RU" dirty="0"/>
              <a:t>В начале 80-х в </a:t>
            </a:r>
            <a:r>
              <a:rPr lang="en-US" dirty="0"/>
              <a:t>Bell Laboratory </a:t>
            </a:r>
            <a:r>
              <a:rPr lang="ru-RU" dirty="0"/>
              <a:t>началась работа над расширением «С». Изначально дали название «Си с классами», затем переименовали в </a:t>
            </a:r>
            <a:r>
              <a:rPr lang="en-US" dirty="0"/>
              <a:t>C++.</a:t>
            </a:r>
            <a:endParaRPr lang="ru-RU" dirty="0"/>
          </a:p>
          <a:p>
            <a:pPr algn="just"/>
            <a:r>
              <a:rPr lang="ru-RU" dirty="0"/>
              <a:t>Создан в рамках решения проблемы «разрастающегося» кода. Главная проблема Си – трудности с масштабированием</a:t>
            </a:r>
            <a:endParaRPr lang="en-US" dirty="0"/>
          </a:p>
          <a:p>
            <a:pPr algn="just"/>
            <a:r>
              <a:rPr lang="en-US" dirty="0"/>
              <a:t>C++ </a:t>
            </a:r>
            <a:r>
              <a:rPr lang="ru-RU" dirty="0"/>
              <a:t>поддерживает парадигму </a:t>
            </a:r>
            <a:r>
              <a:rPr lang="ru-RU" b="1" dirty="0"/>
              <a:t>О</a:t>
            </a:r>
            <a:r>
              <a:rPr lang="ru-RU" dirty="0"/>
              <a:t>бъектно-</a:t>
            </a:r>
            <a:r>
              <a:rPr lang="ru-RU" b="1" dirty="0"/>
              <a:t>О</a:t>
            </a:r>
            <a:r>
              <a:rPr lang="ru-RU" dirty="0"/>
              <a:t>риентированного </a:t>
            </a:r>
            <a:r>
              <a:rPr lang="ru-RU" b="1" dirty="0"/>
              <a:t>П</a:t>
            </a:r>
            <a:r>
              <a:rPr lang="ru-RU" dirty="0"/>
              <a:t>рограммирования (ООП), которую мы с вами начнём изучать осенью в рамках новой дисциплины</a:t>
            </a:r>
          </a:p>
          <a:p>
            <a:pPr algn="just"/>
            <a:r>
              <a:rPr lang="ru-RU" dirty="0"/>
              <a:t>Изюминка в том, что </a:t>
            </a:r>
            <a:r>
              <a:rPr lang="en-US" dirty="0"/>
              <a:t>C++ </a:t>
            </a:r>
            <a:r>
              <a:rPr lang="ru-RU" dirty="0"/>
              <a:t>поддерживает работу своего предшественника </a:t>
            </a:r>
            <a:r>
              <a:rPr lang="en-US" dirty="0"/>
              <a:t>C</a:t>
            </a:r>
            <a:endParaRPr lang="ru-RU" dirty="0"/>
          </a:p>
          <a:p>
            <a:pPr algn="just"/>
            <a:endParaRPr lang="ru-RU" dirty="0"/>
          </a:p>
          <a:p>
            <a:pPr algn="just"/>
            <a:endParaRPr lang="ru-RU" dirty="0"/>
          </a:p>
        </p:txBody>
      </p:sp>
    </p:spTree>
    <p:extLst>
      <p:ext uri="{BB962C8B-B14F-4D97-AF65-F5344CB8AC3E}">
        <p14:creationId xmlns:p14="http://schemas.microsoft.com/office/powerpoint/2010/main" val="8582229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C5EE666-376D-492F-B344-2AAF246A387C}"/>
              </a:ext>
            </a:extLst>
          </p:cNvPr>
          <p:cNvSpPr>
            <a:spLocks noGrp="1"/>
          </p:cNvSpPr>
          <p:nvPr>
            <p:ph type="title"/>
          </p:nvPr>
        </p:nvSpPr>
        <p:spPr/>
        <p:txBody>
          <a:bodyPr/>
          <a:lstStyle/>
          <a:p>
            <a:r>
              <a:rPr lang="ru-RU" dirty="0"/>
              <a:t>Работа с </a:t>
            </a:r>
            <a:r>
              <a:rPr lang="en-US" dirty="0"/>
              <a:t>MS Visual Studio</a:t>
            </a:r>
            <a:br>
              <a:rPr lang="ru-RU" dirty="0"/>
            </a:br>
            <a:r>
              <a:rPr lang="ru-RU" dirty="0"/>
              <a:t>Создание проекта</a:t>
            </a:r>
          </a:p>
        </p:txBody>
      </p:sp>
      <p:sp>
        <p:nvSpPr>
          <p:cNvPr id="7" name="Объект 6">
            <a:extLst>
              <a:ext uri="{FF2B5EF4-FFF2-40B4-BE49-F238E27FC236}">
                <a16:creationId xmlns:a16="http://schemas.microsoft.com/office/drawing/2014/main" id="{313F87E2-F5D4-4822-995E-9FB79747786E}"/>
              </a:ext>
            </a:extLst>
          </p:cNvPr>
          <p:cNvSpPr>
            <a:spLocks noGrp="1"/>
          </p:cNvSpPr>
          <p:nvPr>
            <p:ph idx="1"/>
          </p:nvPr>
        </p:nvSpPr>
        <p:spPr/>
        <p:txBody>
          <a:bodyPr/>
          <a:lstStyle/>
          <a:p>
            <a:pPr marL="0" indent="0">
              <a:buNone/>
            </a:pPr>
            <a:r>
              <a:rPr lang="ru-RU" dirty="0"/>
              <a:t> </a:t>
            </a:r>
          </a:p>
        </p:txBody>
      </p:sp>
      <p:pic>
        <p:nvPicPr>
          <p:cNvPr id="8" name="Объект 4">
            <a:extLst>
              <a:ext uri="{FF2B5EF4-FFF2-40B4-BE49-F238E27FC236}">
                <a16:creationId xmlns:a16="http://schemas.microsoft.com/office/drawing/2014/main" id="{C1EDDEBB-524E-4C4A-84A1-D30471E6936F}"/>
              </a:ext>
            </a:extLst>
          </p:cNvPr>
          <p:cNvPicPr>
            <a:picLocks noChangeAspect="1"/>
          </p:cNvPicPr>
          <p:nvPr/>
        </p:nvPicPr>
        <p:blipFill>
          <a:blip r:embed="rId2"/>
          <a:stretch>
            <a:fillRect/>
          </a:stretch>
        </p:blipFill>
        <p:spPr>
          <a:xfrm>
            <a:off x="1169956" y="1825625"/>
            <a:ext cx="9852088" cy="4074249"/>
          </a:xfrm>
          <a:prstGeom prst="rect">
            <a:avLst/>
          </a:prstGeom>
        </p:spPr>
      </p:pic>
    </p:spTree>
    <p:extLst>
      <p:ext uri="{BB962C8B-B14F-4D97-AF65-F5344CB8AC3E}">
        <p14:creationId xmlns:p14="http://schemas.microsoft.com/office/powerpoint/2010/main" val="19360751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9F81CA8-2E23-4F6B-BF16-F5A9D397402C}"/>
              </a:ext>
            </a:extLst>
          </p:cNvPr>
          <p:cNvSpPr>
            <a:spLocks noGrp="1"/>
          </p:cNvSpPr>
          <p:nvPr>
            <p:ph type="title"/>
          </p:nvPr>
        </p:nvSpPr>
        <p:spPr/>
        <p:txBody>
          <a:bodyPr/>
          <a:lstStyle/>
          <a:p>
            <a:r>
              <a:rPr lang="ru-RU" dirty="0"/>
              <a:t>Работа с </a:t>
            </a:r>
            <a:r>
              <a:rPr lang="en-US" dirty="0"/>
              <a:t>MS Visual Studio</a:t>
            </a:r>
            <a:br>
              <a:rPr lang="ru-RU" dirty="0"/>
            </a:br>
            <a:r>
              <a:rPr lang="ru-RU" dirty="0"/>
              <a:t>Создание проекта</a:t>
            </a:r>
          </a:p>
        </p:txBody>
      </p:sp>
      <p:pic>
        <p:nvPicPr>
          <p:cNvPr id="5" name="Объект 4">
            <a:extLst>
              <a:ext uri="{FF2B5EF4-FFF2-40B4-BE49-F238E27FC236}">
                <a16:creationId xmlns:a16="http://schemas.microsoft.com/office/drawing/2014/main" id="{21127A84-8906-4F74-A442-FD1ADC5309C4}"/>
              </a:ext>
            </a:extLst>
          </p:cNvPr>
          <p:cNvPicPr>
            <a:picLocks noGrp="1" noChangeAspect="1"/>
          </p:cNvPicPr>
          <p:nvPr>
            <p:ph idx="1"/>
          </p:nvPr>
        </p:nvPicPr>
        <p:blipFill>
          <a:blip r:embed="rId2"/>
          <a:stretch>
            <a:fillRect/>
          </a:stretch>
        </p:blipFill>
        <p:spPr>
          <a:xfrm>
            <a:off x="2321859" y="1690688"/>
            <a:ext cx="6941657" cy="4741174"/>
          </a:xfrm>
        </p:spPr>
      </p:pic>
    </p:spTree>
    <p:extLst>
      <p:ext uri="{BB962C8B-B14F-4D97-AF65-F5344CB8AC3E}">
        <p14:creationId xmlns:p14="http://schemas.microsoft.com/office/powerpoint/2010/main" val="14461769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4077BBF-D72D-41E8-A51D-CA2DA38A1F67}"/>
              </a:ext>
            </a:extLst>
          </p:cNvPr>
          <p:cNvSpPr>
            <a:spLocks noGrp="1"/>
          </p:cNvSpPr>
          <p:nvPr>
            <p:ph type="title"/>
          </p:nvPr>
        </p:nvSpPr>
        <p:spPr>
          <a:xfrm>
            <a:off x="839787" y="457200"/>
            <a:ext cx="10778471" cy="1290918"/>
          </a:xfrm>
        </p:spPr>
        <p:txBody>
          <a:bodyPr>
            <a:normAutofit fontScale="90000"/>
          </a:bodyPr>
          <a:lstStyle/>
          <a:p>
            <a:r>
              <a:rPr lang="ru-RU" sz="4400" dirty="0"/>
              <a:t>Работа с </a:t>
            </a:r>
            <a:r>
              <a:rPr lang="en-US" sz="4400" dirty="0"/>
              <a:t>MS Visual Studio</a:t>
            </a:r>
            <a:br>
              <a:rPr lang="ru-RU" sz="4400" dirty="0"/>
            </a:br>
            <a:r>
              <a:rPr lang="ru-RU" sz="4400" dirty="0"/>
              <a:t>Создание проекта</a:t>
            </a:r>
          </a:p>
        </p:txBody>
      </p:sp>
      <p:sp>
        <p:nvSpPr>
          <p:cNvPr id="4" name="Текст 3">
            <a:extLst>
              <a:ext uri="{FF2B5EF4-FFF2-40B4-BE49-F238E27FC236}">
                <a16:creationId xmlns:a16="http://schemas.microsoft.com/office/drawing/2014/main" id="{BE3A49DD-0ADC-4ED9-8598-2618D435D05B}"/>
              </a:ext>
            </a:extLst>
          </p:cNvPr>
          <p:cNvSpPr>
            <a:spLocks noGrp="1"/>
          </p:cNvSpPr>
          <p:nvPr>
            <p:ph type="body" sz="half" idx="2"/>
          </p:nvPr>
        </p:nvSpPr>
        <p:spPr>
          <a:xfrm>
            <a:off x="107576" y="1940859"/>
            <a:ext cx="4930589" cy="3811588"/>
          </a:xfrm>
        </p:spPr>
        <p:txBody>
          <a:bodyPr>
            <a:normAutofit/>
          </a:bodyPr>
          <a:lstStyle/>
          <a:p>
            <a:pPr marL="342900" indent="-342900" algn="just">
              <a:buFont typeface="Arial" panose="020B0604020202020204" pitchFamily="34" charset="0"/>
              <a:buChar char="•"/>
            </a:pPr>
            <a:r>
              <a:rPr lang="ru-RU" sz="2400" b="1" dirty="0"/>
              <a:t>Проект</a:t>
            </a:r>
            <a:r>
              <a:rPr lang="ru-RU" sz="2400" dirty="0"/>
              <a:t> (директория) – простыми, словами «контейнер» для </a:t>
            </a:r>
            <a:r>
              <a:rPr lang="ru-RU" sz="2400" b="1" dirty="0"/>
              <a:t>одного</a:t>
            </a:r>
            <a:r>
              <a:rPr lang="ru-RU" sz="2400" dirty="0"/>
              <a:t> исполняемого файла </a:t>
            </a:r>
            <a:r>
              <a:rPr lang="en-US" sz="2400" dirty="0"/>
              <a:t>(.exe)</a:t>
            </a:r>
            <a:r>
              <a:rPr lang="ru-RU" sz="2400" dirty="0"/>
              <a:t> и сторонних библиотек</a:t>
            </a:r>
          </a:p>
          <a:p>
            <a:pPr marL="342900" indent="-342900" algn="just">
              <a:buFont typeface="Arial" panose="020B0604020202020204" pitchFamily="34" charset="0"/>
              <a:buChar char="•"/>
            </a:pPr>
            <a:r>
              <a:rPr lang="ru-RU" sz="2400" b="1" dirty="0"/>
              <a:t>Решение </a:t>
            </a:r>
            <a:r>
              <a:rPr lang="ru-RU" sz="2400" dirty="0"/>
              <a:t>(файл .</a:t>
            </a:r>
            <a:r>
              <a:rPr lang="en-US" sz="2400" dirty="0" err="1"/>
              <a:t>sinx</a:t>
            </a:r>
            <a:r>
              <a:rPr lang="ru-RU" sz="2400" dirty="0"/>
              <a:t>) – «контейнер» более высокого уровня, объединяющий </a:t>
            </a:r>
            <a:r>
              <a:rPr lang="ru-RU" sz="2400" i="1" dirty="0"/>
              <a:t>проекты</a:t>
            </a:r>
            <a:r>
              <a:rPr lang="ru-RU" sz="2400" dirty="0"/>
              <a:t> и задающий правила их взаимодействия </a:t>
            </a:r>
          </a:p>
        </p:txBody>
      </p:sp>
      <p:pic>
        <p:nvPicPr>
          <p:cNvPr id="5" name="Объект 4">
            <a:extLst>
              <a:ext uri="{FF2B5EF4-FFF2-40B4-BE49-F238E27FC236}">
                <a16:creationId xmlns:a16="http://schemas.microsoft.com/office/drawing/2014/main" id="{663E04A2-CA4A-4F3D-9E54-28069AF5BC80}"/>
              </a:ext>
            </a:extLst>
          </p:cNvPr>
          <p:cNvPicPr>
            <a:picLocks noGrp="1" noChangeAspect="1"/>
          </p:cNvPicPr>
          <p:nvPr>
            <p:ph idx="1"/>
          </p:nvPr>
        </p:nvPicPr>
        <p:blipFill>
          <a:blip r:embed="rId2"/>
          <a:stretch>
            <a:fillRect/>
          </a:stretch>
        </p:blipFill>
        <p:spPr>
          <a:xfrm>
            <a:off x="5472956" y="1748118"/>
            <a:ext cx="6548718" cy="4495828"/>
          </a:xfrm>
        </p:spPr>
      </p:pic>
    </p:spTree>
    <p:extLst>
      <p:ext uri="{BB962C8B-B14F-4D97-AF65-F5344CB8AC3E}">
        <p14:creationId xmlns:p14="http://schemas.microsoft.com/office/powerpoint/2010/main" val="31349450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65FE28E-305E-4EC2-8AEE-865EEEE6BA94}"/>
              </a:ext>
            </a:extLst>
          </p:cNvPr>
          <p:cNvSpPr>
            <a:spLocks noGrp="1"/>
          </p:cNvSpPr>
          <p:nvPr>
            <p:ph type="title"/>
          </p:nvPr>
        </p:nvSpPr>
        <p:spPr/>
        <p:txBody>
          <a:bodyPr/>
          <a:lstStyle/>
          <a:p>
            <a:r>
              <a:rPr lang="ru-RU" dirty="0"/>
              <a:t>Работа с </a:t>
            </a:r>
            <a:r>
              <a:rPr lang="en-US" dirty="0"/>
              <a:t>MS Visual Studio</a:t>
            </a:r>
            <a:br>
              <a:rPr lang="ru-RU" dirty="0"/>
            </a:br>
            <a:r>
              <a:rPr lang="ru-RU" dirty="0"/>
              <a:t>Готовый проект (Примерная картина)</a:t>
            </a:r>
          </a:p>
        </p:txBody>
      </p:sp>
      <p:pic>
        <p:nvPicPr>
          <p:cNvPr id="5" name="Объект 4">
            <a:extLst>
              <a:ext uri="{FF2B5EF4-FFF2-40B4-BE49-F238E27FC236}">
                <a16:creationId xmlns:a16="http://schemas.microsoft.com/office/drawing/2014/main" id="{939C7E76-166A-4159-8C39-244E1EE28232}"/>
              </a:ext>
            </a:extLst>
          </p:cNvPr>
          <p:cNvPicPr>
            <a:picLocks noGrp="1" noChangeAspect="1"/>
          </p:cNvPicPr>
          <p:nvPr>
            <p:ph idx="1"/>
          </p:nvPr>
        </p:nvPicPr>
        <p:blipFill>
          <a:blip r:embed="rId2"/>
          <a:stretch>
            <a:fillRect/>
          </a:stretch>
        </p:blipFill>
        <p:spPr>
          <a:xfrm>
            <a:off x="1804854" y="1935629"/>
            <a:ext cx="8582291" cy="4557246"/>
          </a:xfrm>
        </p:spPr>
      </p:pic>
    </p:spTree>
    <p:extLst>
      <p:ext uri="{BB962C8B-B14F-4D97-AF65-F5344CB8AC3E}">
        <p14:creationId xmlns:p14="http://schemas.microsoft.com/office/powerpoint/2010/main" val="9124726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D2E5609-74B2-402D-93AC-EA0565BE64D0}"/>
              </a:ext>
            </a:extLst>
          </p:cNvPr>
          <p:cNvSpPr>
            <a:spLocks noGrp="1"/>
          </p:cNvSpPr>
          <p:nvPr>
            <p:ph type="title"/>
          </p:nvPr>
        </p:nvSpPr>
        <p:spPr/>
        <p:txBody>
          <a:bodyPr/>
          <a:lstStyle/>
          <a:p>
            <a:r>
              <a:rPr lang="ru-RU" dirty="0"/>
              <a:t>Ещё пара слов о </a:t>
            </a:r>
            <a:r>
              <a:rPr lang="en-US" dirty="0"/>
              <a:t>C++</a:t>
            </a:r>
            <a:endParaRPr lang="ru-RU" dirty="0"/>
          </a:p>
        </p:txBody>
      </p:sp>
      <p:sp>
        <p:nvSpPr>
          <p:cNvPr id="3" name="Объект 2">
            <a:extLst>
              <a:ext uri="{FF2B5EF4-FFF2-40B4-BE49-F238E27FC236}">
                <a16:creationId xmlns:a16="http://schemas.microsoft.com/office/drawing/2014/main" id="{5952B15C-9D7F-4139-9148-FCC626334057}"/>
              </a:ext>
            </a:extLst>
          </p:cNvPr>
          <p:cNvSpPr>
            <a:spLocks noGrp="1"/>
          </p:cNvSpPr>
          <p:nvPr>
            <p:ph idx="1"/>
          </p:nvPr>
        </p:nvSpPr>
        <p:spPr/>
        <p:txBody>
          <a:bodyPr/>
          <a:lstStyle/>
          <a:p>
            <a:pPr algn="just"/>
            <a:r>
              <a:rPr lang="en-US" dirty="0"/>
              <a:t>C++ - </a:t>
            </a:r>
            <a:r>
              <a:rPr lang="ru-RU" dirty="0"/>
              <a:t>компилируемый язык программирования. Это значит, что компилятор проверяет код построчно, но не останавливает проверку при первой попавшейся ошибки. Таким образом, компилятор сообщит обо всех проблемах исходного кода сразу. При корректной компиляции будет создан исполняемый файл (</a:t>
            </a:r>
            <a:r>
              <a:rPr lang="en-US" dirty="0"/>
              <a:t>.exe </a:t>
            </a:r>
            <a:r>
              <a:rPr lang="ru-RU" dirty="0"/>
              <a:t>от англ. </a:t>
            </a:r>
            <a:r>
              <a:rPr lang="en-US" i="1" dirty="0"/>
              <a:t>execute</a:t>
            </a:r>
            <a:r>
              <a:rPr lang="en-US" dirty="0"/>
              <a:t> – </a:t>
            </a:r>
            <a:r>
              <a:rPr lang="ru-RU" dirty="0"/>
              <a:t>исполнять, выполнять)</a:t>
            </a:r>
            <a:r>
              <a:rPr lang="en-US" dirty="0"/>
              <a:t>. </a:t>
            </a:r>
            <a:r>
              <a:rPr lang="ru-RU" dirty="0"/>
              <a:t>Но происходит это не в одно действие…</a:t>
            </a:r>
          </a:p>
        </p:txBody>
      </p:sp>
    </p:spTree>
    <p:extLst>
      <p:ext uri="{BB962C8B-B14F-4D97-AF65-F5344CB8AC3E}">
        <p14:creationId xmlns:p14="http://schemas.microsoft.com/office/powerpoint/2010/main" val="35303956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70729EC-67CD-4BDE-970A-2955CA25581F}"/>
              </a:ext>
            </a:extLst>
          </p:cNvPr>
          <p:cNvSpPr>
            <a:spLocks noGrp="1"/>
          </p:cNvSpPr>
          <p:nvPr>
            <p:ph type="title"/>
          </p:nvPr>
        </p:nvSpPr>
        <p:spPr/>
        <p:txBody>
          <a:bodyPr/>
          <a:lstStyle/>
          <a:p>
            <a:r>
              <a:rPr lang="ru-RU" dirty="0"/>
              <a:t>Этапы компиляции</a:t>
            </a:r>
          </a:p>
        </p:txBody>
      </p:sp>
      <p:sp>
        <p:nvSpPr>
          <p:cNvPr id="3" name="Объект 2">
            <a:extLst>
              <a:ext uri="{FF2B5EF4-FFF2-40B4-BE49-F238E27FC236}">
                <a16:creationId xmlns:a16="http://schemas.microsoft.com/office/drawing/2014/main" id="{D4A0D746-85C1-43D2-BCA0-5D9E2FC8E879}"/>
              </a:ext>
            </a:extLst>
          </p:cNvPr>
          <p:cNvSpPr>
            <a:spLocks noGrp="1"/>
          </p:cNvSpPr>
          <p:nvPr>
            <p:ph idx="1"/>
          </p:nvPr>
        </p:nvSpPr>
        <p:spPr/>
        <p:txBody>
          <a:bodyPr/>
          <a:lstStyle/>
          <a:p>
            <a:pPr marL="514350" indent="-514350">
              <a:buFont typeface="+mj-lt"/>
              <a:buAutoNum type="arabicPeriod"/>
            </a:pPr>
            <a:r>
              <a:rPr lang="ru-RU" dirty="0" err="1"/>
              <a:t>Препроцессинг</a:t>
            </a:r>
            <a:r>
              <a:rPr lang="ru-RU" dirty="0"/>
              <a:t> (обработка директив и удаление комментариев) Вызов в терминале: </a:t>
            </a:r>
            <a:r>
              <a:rPr lang="en-US" dirty="0"/>
              <a:t>g++ –E hello.cpp</a:t>
            </a:r>
            <a:r>
              <a:rPr lang="ru-RU" dirty="0"/>
              <a:t> </a:t>
            </a:r>
            <a:r>
              <a:rPr lang="en-US" dirty="0"/>
              <a:t>–o </a:t>
            </a:r>
            <a:r>
              <a:rPr lang="en-US" dirty="0" err="1"/>
              <a:t>hello.i</a:t>
            </a:r>
            <a:endParaRPr lang="en-US" dirty="0"/>
          </a:p>
          <a:p>
            <a:pPr marL="514350" indent="-514350">
              <a:buFont typeface="+mj-lt"/>
              <a:buAutoNum type="arabicPeriod"/>
            </a:pPr>
            <a:r>
              <a:rPr lang="ru-RU" dirty="0"/>
              <a:t>Компиляция (перевод исходного кода на язык Ассемблер) Вызов в терминале: </a:t>
            </a:r>
            <a:r>
              <a:rPr lang="en-US" dirty="0"/>
              <a:t>g++ –S </a:t>
            </a:r>
            <a:r>
              <a:rPr lang="en-US" dirty="0" err="1"/>
              <a:t>hello.i</a:t>
            </a:r>
            <a:r>
              <a:rPr lang="ru-RU" dirty="0"/>
              <a:t> </a:t>
            </a:r>
            <a:r>
              <a:rPr lang="en-US" dirty="0"/>
              <a:t>–o </a:t>
            </a:r>
            <a:r>
              <a:rPr lang="en-US" dirty="0" err="1"/>
              <a:t>hello.s</a:t>
            </a:r>
            <a:br>
              <a:rPr lang="ru-RU" dirty="0"/>
            </a:br>
            <a:r>
              <a:rPr lang="ru-RU" dirty="0"/>
              <a:t>Здесь происходит проверка на синтаксические ошибки</a:t>
            </a:r>
          </a:p>
          <a:p>
            <a:pPr marL="514350" indent="-514350">
              <a:buFont typeface="+mj-lt"/>
              <a:buAutoNum type="arabicPeriod"/>
            </a:pPr>
            <a:r>
              <a:rPr lang="ru-RU" dirty="0"/>
              <a:t>Ассемблирование (перевод кода на ассемблере</a:t>
            </a:r>
            <a:r>
              <a:rPr lang="en-US" dirty="0"/>
              <a:t> </a:t>
            </a:r>
            <a:r>
              <a:rPr lang="ru-RU" dirty="0"/>
              <a:t>в машинный код)</a:t>
            </a:r>
            <a:br>
              <a:rPr lang="ru-RU" dirty="0"/>
            </a:br>
            <a:r>
              <a:rPr lang="ru-RU" dirty="0"/>
              <a:t>Вызов в терминале: </a:t>
            </a:r>
            <a:r>
              <a:rPr lang="en-US" dirty="0"/>
              <a:t>g++ –c  </a:t>
            </a:r>
            <a:r>
              <a:rPr lang="en-US" dirty="0" err="1"/>
              <a:t>hello.s</a:t>
            </a:r>
            <a:r>
              <a:rPr lang="en-US" dirty="0"/>
              <a:t> –o </a:t>
            </a:r>
            <a:r>
              <a:rPr lang="en-US" dirty="0" err="1"/>
              <a:t>hello.o</a:t>
            </a:r>
            <a:endParaRPr lang="en-US" dirty="0"/>
          </a:p>
          <a:p>
            <a:pPr marL="514350" indent="-514350">
              <a:buFont typeface="+mj-lt"/>
              <a:buAutoNum type="arabicPeriod"/>
            </a:pPr>
            <a:r>
              <a:rPr lang="ru-RU" dirty="0"/>
              <a:t>Линковка </a:t>
            </a:r>
            <a:r>
              <a:rPr lang="en-US" dirty="0"/>
              <a:t>/ </a:t>
            </a:r>
            <a:r>
              <a:rPr lang="ru-RU" dirty="0"/>
              <a:t>компоновка (объединение объектных файлов)</a:t>
            </a:r>
            <a:br>
              <a:rPr lang="ru-RU" dirty="0"/>
            </a:br>
            <a:r>
              <a:rPr lang="ru-RU" dirty="0"/>
              <a:t>Вызов в терминале: </a:t>
            </a:r>
            <a:r>
              <a:rPr lang="en-US" dirty="0"/>
              <a:t>g++ </a:t>
            </a:r>
            <a:r>
              <a:rPr lang="en-US" dirty="0" err="1"/>
              <a:t>hello.o</a:t>
            </a:r>
            <a:r>
              <a:rPr lang="en-US" dirty="0"/>
              <a:t> –o hello.exe</a:t>
            </a:r>
          </a:p>
          <a:p>
            <a:pPr marL="514350" indent="-514350">
              <a:buFont typeface="+mj-lt"/>
              <a:buAutoNum type="arabicPeriod"/>
            </a:pPr>
            <a:endParaRPr lang="en-US" dirty="0"/>
          </a:p>
          <a:p>
            <a:pPr marL="514350" indent="-514350">
              <a:buFont typeface="+mj-lt"/>
              <a:buAutoNum type="arabicPeriod"/>
            </a:pPr>
            <a:endParaRPr lang="en-US" dirty="0"/>
          </a:p>
          <a:p>
            <a:pPr marL="514350" indent="-514350">
              <a:buFont typeface="+mj-lt"/>
              <a:buAutoNum type="arabicPeriod"/>
            </a:pPr>
            <a:endParaRPr lang="ru-RU" dirty="0"/>
          </a:p>
        </p:txBody>
      </p:sp>
    </p:spTree>
    <p:extLst>
      <p:ext uri="{BB962C8B-B14F-4D97-AF65-F5344CB8AC3E}">
        <p14:creationId xmlns:p14="http://schemas.microsoft.com/office/powerpoint/2010/main" val="2271390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C8EF852-33A8-4E80-B2E2-3E7921F1FD7B}"/>
              </a:ext>
            </a:extLst>
          </p:cNvPr>
          <p:cNvSpPr>
            <a:spLocks noGrp="1"/>
          </p:cNvSpPr>
          <p:nvPr>
            <p:ph type="title"/>
          </p:nvPr>
        </p:nvSpPr>
        <p:spPr>
          <a:xfrm>
            <a:off x="838200" y="384175"/>
            <a:ext cx="10515600" cy="1325563"/>
          </a:xfrm>
        </p:spPr>
        <p:txBody>
          <a:bodyPr/>
          <a:lstStyle/>
          <a:p>
            <a:r>
              <a:rPr lang="ru-RU" dirty="0"/>
              <a:t>Когда программировать-то будем?</a:t>
            </a:r>
          </a:p>
        </p:txBody>
      </p:sp>
      <p:sp>
        <p:nvSpPr>
          <p:cNvPr id="3" name="Объект 2">
            <a:extLst>
              <a:ext uri="{FF2B5EF4-FFF2-40B4-BE49-F238E27FC236}">
                <a16:creationId xmlns:a16="http://schemas.microsoft.com/office/drawing/2014/main" id="{3D531BC6-5363-4752-AA79-5B7A85D6F9B9}"/>
              </a:ext>
            </a:extLst>
          </p:cNvPr>
          <p:cNvSpPr>
            <a:spLocks noGrp="1"/>
          </p:cNvSpPr>
          <p:nvPr>
            <p:ph idx="1"/>
          </p:nvPr>
        </p:nvSpPr>
        <p:spPr/>
        <p:txBody>
          <a:bodyPr>
            <a:normAutofit fontScale="92500" lnSpcReduction="10000"/>
          </a:bodyPr>
          <a:lstStyle/>
          <a:p>
            <a:pPr marL="0" indent="0" algn="just">
              <a:buNone/>
            </a:pPr>
            <a:r>
              <a:rPr lang="ru-RU" dirty="0"/>
              <a:t>Мы смогли вывести первую символьную строку в консоль! Предлагаю закрепить успех, изучив </a:t>
            </a:r>
            <a:r>
              <a:rPr lang="en-US" dirty="0"/>
              <a:t>Escape-</a:t>
            </a:r>
            <a:r>
              <a:rPr lang="ru-RU" dirty="0"/>
              <a:t>последовательности</a:t>
            </a:r>
            <a:r>
              <a:rPr lang="en-US" dirty="0"/>
              <a:t> </a:t>
            </a:r>
            <a:r>
              <a:rPr lang="ru-RU" dirty="0"/>
              <a:t>для вывода данных в консоль.</a:t>
            </a:r>
          </a:p>
          <a:p>
            <a:pPr marL="0" indent="0" algn="just">
              <a:buNone/>
            </a:pPr>
            <a:r>
              <a:rPr lang="ru-RU" b="1" dirty="0">
                <a:solidFill>
                  <a:srgbClr val="FF0000"/>
                </a:solidFill>
              </a:rPr>
              <a:t>ДЛЯ ВЫВОДА КИРИЛЛИЦЫ ИСПОЛЬЗУЕМ</a:t>
            </a:r>
            <a:r>
              <a:rPr lang="en-US" b="1" dirty="0">
                <a:solidFill>
                  <a:srgbClr val="FF0000"/>
                </a:solidFill>
              </a:rPr>
              <a:t>:</a:t>
            </a:r>
          </a:p>
          <a:p>
            <a:pPr marL="0" indent="0" algn="just">
              <a:buNone/>
            </a:pPr>
            <a:r>
              <a:rPr lang="en-US" b="1" dirty="0" err="1">
                <a:solidFill>
                  <a:srgbClr val="FF0000"/>
                </a:solidFill>
              </a:rPr>
              <a:t>setlocale</a:t>
            </a:r>
            <a:r>
              <a:rPr lang="en-US" b="1" dirty="0">
                <a:solidFill>
                  <a:srgbClr val="FF0000"/>
                </a:solidFill>
              </a:rPr>
              <a:t>(LC_ALL,”</a:t>
            </a:r>
            <a:r>
              <a:rPr lang="en-US" b="1" dirty="0" err="1">
                <a:solidFill>
                  <a:srgbClr val="FF0000"/>
                </a:solidFill>
              </a:rPr>
              <a:t>ru</a:t>
            </a:r>
            <a:r>
              <a:rPr lang="en-US" b="1" dirty="0">
                <a:solidFill>
                  <a:srgbClr val="FF0000"/>
                </a:solidFill>
              </a:rPr>
              <a:t>”);</a:t>
            </a:r>
            <a:endParaRPr lang="ru-RU" b="1" dirty="0">
              <a:solidFill>
                <a:srgbClr val="FF0000"/>
              </a:solidFill>
            </a:endParaRPr>
          </a:p>
          <a:p>
            <a:pPr algn="just"/>
            <a:r>
              <a:rPr lang="en-US" dirty="0"/>
              <a:t>\n – </a:t>
            </a:r>
            <a:r>
              <a:rPr lang="ru-RU" dirty="0"/>
              <a:t>перевод каретки на новую строку</a:t>
            </a:r>
          </a:p>
          <a:p>
            <a:pPr algn="just"/>
            <a:r>
              <a:rPr lang="en-US" dirty="0"/>
              <a:t>\t </a:t>
            </a:r>
            <a:r>
              <a:rPr lang="ru-RU" dirty="0"/>
              <a:t>– табуляция (горизонтальное выравнивание)</a:t>
            </a:r>
          </a:p>
          <a:p>
            <a:pPr algn="just"/>
            <a:r>
              <a:rPr lang="en-US" dirty="0"/>
              <a:t>\\ – </a:t>
            </a:r>
            <a:r>
              <a:rPr lang="ru-RU" dirty="0"/>
              <a:t>вывод</a:t>
            </a:r>
            <a:r>
              <a:rPr lang="en-US" dirty="0"/>
              <a:t> </a:t>
            </a:r>
            <a:r>
              <a:rPr lang="ru-RU" dirty="0"/>
              <a:t>знака </a:t>
            </a:r>
            <a:r>
              <a:rPr lang="en-US" dirty="0"/>
              <a:t>backslash</a:t>
            </a:r>
          </a:p>
          <a:p>
            <a:pPr algn="just"/>
            <a:r>
              <a:rPr lang="en-US" dirty="0"/>
              <a:t>\’ – </a:t>
            </a:r>
            <a:r>
              <a:rPr lang="ru-RU" dirty="0"/>
              <a:t>вывод</a:t>
            </a:r>
            <a:r>
              <a:rPr lang="en-US" dirty="0"/>
              <a:t> </a:t>
            </a:r>
            <a:r>
              <a:rPr lang="ru-RU" dirty="0"/>
              <a:t>знака «апостроф»</a:t>
            </a:r>
            <a:endParaRPr lang="en-US" dirty="0"/>
          </a:p>
          <a:p>
            <a:pPr algn="just"/>
            <a:r>
              <a:rPr lang="en-US" dirty="0"/>
              <a:t>\” – </a:t>
            </a:r>
            <a:r>
              <a:rPr lang="ru-RU" dirty="0"/>
              <a:t>вывод</a:t>
            </a:r>
            <a:r>
              <a:rPr lang="en-US" dirty="0"/>
              <a:t> </a:t>
            </a:r>
            <a:r>
              <a:rPr lang="ru-RU" dirty="0"/>
              <a:t>знака «двойные кавычки»</a:t>
            </a:r>
            <a:endParaRPr lang="en-US" dirty="0"/>
          </a:p>
          <a:p>
            <a:pPr marL="0" indent="0" algn="just">
              <a:buNone/>
            </a:pPr>
            <a:endParaRPr lang="en-US" dirty="0"/>
          </a:p>
        </p:txBody>
      </p:sp>
    </p:spTree>
    <p:extLst>
      <p:ext uri="{BB962C8B-B14F-4D97-AF65-F5344CB8AC3E}">
        <p14:creationId xmlns:p14="http://schemas.microsoft.com/office/powerpoint/2010/main" val="17334251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1ED6727-022F-4324-96D9-44D27FB1F34F}"/>
              </a:ext>
            </a:extLst>
          </p:cNvPr>
          <p:cNvSpPr>
            <a:spLocks noGrp="1"/>
          </p:cNvSpPr>
          <p:nvPr>
            <p:ph type="title"/>
          </p:nvPr>
        </p:nvSpPr>
        <p:spPr/>
        <p:txBody>
          <a:bodyPr/>
          <a:lstStyle/>
          <a:p>
            <a:r>
              <a:rPr lang="ru-RU" dirty="0"/>
              <a:t>Задание</a:t>
            </a:r>
          </a:p>
        </p:txBody>
      </p:sp>
      <p:sp>
        <p:nvSpPr>
          <p:cNvPr id="3" name="Объект 2">
            <a:extLst>
              <a:ext uri="{FF2B5EF4-FFF2-40B4-BE49-F238E27FC236}">
                <a16:creationId xmlns:a16="http://schemas.microsoft.com/office/drawing/2014/main" id="{1E472645-1488-4BBE-8361-3C6AC6BB2B49}"/>
              </a:ext>
            </a:extLst>
          </p:cNvPr>
          <p:cNvSpPr>
            <a:spLocks noGrp="1"/>
          </p:cNvSpPr>
          <p:nvPr>
            <p:ph idx="1"/>
          </p:nvPr>
        </p:nvSpPr>
        <p:spPr>
          <a:xfrm>
            <a:off x="838200" y="1400175"/>
            <a:ext cx="10515600" cy="4776788"/>
          </a:xfrm>
        </p:spPr>
        <p:txBody>
          <a:bodyPr/>
          <a:lstStyle/>
          <a:p>
            <a:r>
              <a:rPr lang="ru-RU" dirty="0"/>
              <a:t>Вывести следующую таблицу на экран консоли, используя </a:t>
            </a:r>
            <a:r>
              <a:rPr lang="en-US" i="1" dirty="0"/>
              <a:t>escape</a:t>
            </a:r>
            <a:r>
              <a:rPr lang="ru-RU" i="1" dirty="0"/>
              <a:t>-последовательности</a:t>
            </a:r>
          </a:p>
          <a:p>
            <a:pPr marL="0" indent="0">
              <a:buNone/>
            </a:pPr>
            <a:endParaRPr lang="ru-RU" dirty="0"/>
          </a:p>
          <a:p>
            <a:pPr marL="0" indent="0">
              <a:buNone/>
            </a:pPr>
            <a:endParaRPr lang="ru-RU" dirty="0"/>
          </a:p>
        </p:txBody>
      </p:sp>
      <p:pic>
        <p:nvPicPr>
          <p:cNvPr id="7" name="Рисунок 6">
            <a:extLst>
              <a:ext uri="{FF2B5EF4-FFF2-40B4-BE49-F238E27FC236}">
                <a16:creationId xmlns:a16="http://schemas.microsoft.com/office/drawing/2014/main" id="{23BB2888-923A-47D3-AF58-98B62D846B6A}"/>
              </a:ext>
            </a:extLst>
          </p:cNvPr>
          <p:cNvPicPr>
            <a:picLocks noChangeAspect="1"/>
          </p:cNvPicPr>
          <p:nvPr/>
        </p:nvPicPr>
        <p:blipFill>
          <a:blip r:embed="rId2"/>
          <a:stretch>
            <a:fillRect/>
          </a:stretch>
        </p:blipFill>
        <p:spPr>
          <a:xfrm>
            <a:off x="1588898" y="2366963"/>
            <a:ext cx="9014204" cy="3690937"/>
          </a:xfrm>
          <a:prstGeom prst="rect">
            <a:avLst/>
          </a:prstGeom>
        </p:spPr>
      </p:pic>
    </p:spTree>
    <p:extLst>
      <p:ext uri="{BB962C8B-B14F-4D97-AF65-F5344CB8AC3E}">
        <p14:creationId xmlns:p14="http://schemas.microsoft.com/office/powerpoint/2010/main" val="24359671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626CA83-7A53-4E6F-B2D2-F58A6763802C}"/>
              </a:ext>
            </a:extLst>
          </p:cNvPr>
          <p:cNvSpPr>
            <a:spLocks noGrp="1"/>
          </p:cNvSpPr>
          <p:nvPr>
            <p:ph type="title"/>
          </p:nvPr>
        </p:nvSpPr>
        <p:spPr/>
        <p:txBody>
          <a:bodyPr/>
          <a:lstStyle/>
          <a:p>
            <a:r>
              <a:rPr lang="en-US" dirty="0"/>
              <a:t>Raw-</a:t>
            </a:r>
            <a:r>
              <a:rPr lang="ru-RU" dirty="0"/>
              <a:t>строки</a:t>
            </a:r>
          </a:p>
        </p:txBody>
      </p:sp>
      <p:sp>
        <p:nvSpPr>
          <p:cNvPr id="3" name="Объект 2">
            <a:extLst>
              <a:ext uri="{FF2B5EF4-FFF2-40B4-BE49-F238E27FC236}">
                <a16:creationId xmlns:a16="http://schemas.microsoft.com/office/drawing/2014/main" id="{82CDEBDF-D6CF-4127-9794-FF164FE25A1E}"/>
              </a:ext>
            </a:extLst>
          </p:cNvPr>
          <p:cNvSpPr>
            <a:spLocks noGrp="1"/>
          </p:cNvSpPr>
          <p:nvPr>
            <p:ph idx="1"/>
          </p:nvPr>
        </p:nvSpPr>
        <p:spPr>
          <a:xfrm>
            <a:off x="838200" y="1368425"/>
            <a:ext cx="10763250" cy="5124450"/>
          </a:xfrm>
        </p:spPr>
        <p:txBody>
          <a:bodyPr/>
          <a:lstStyle/>
          <a:p>
            <a:pPr algn="just"/>
            <a:r>
              <a:rPr lang="ru-RU" dirty="0"/>
              <a:t>Представим, что некоторая строка содержит в себе большое количество знаков </a:t>
            </a:r>
            <a:r>
              <a:rPr lang="en-US" dirty="0"/>
              <a:t>\ “ ‘. </a:t>
            </a:r>
            <a:r>
              <a:rPr lang="ru-RU" dirty="0"/>
              <a:t>Такую строку будет очень тяжело прочитать. Для решения проблемы были созданы </a:t>
            </a:r>
            <a:r>
              <a:rPr lang="en-US" dirty="0"/>
              <a:t>raw-</a:t>
            </a:r>
            <a:r>
              <a:rPr lang="ru-RU" dirty="0"/>
              <a:t>строки (</a:t>
            </a:r>
            <a:r>
              <a:rPr lang="en-US" dirty="0"/>
              <a:t>raw </a:t>
            </a:r>
            <a:r>
              <a:rPr lang="ru-RU" dirty="0"/>
              <a:t>англ. – сырой).</a:t>
            </a:r>
            <a:endParaRPr lang="en-US" dirty="0"/>
          </a:p>
          <a:p>
            <a:pPr marL="0" indent="0" algn="just">
              <a:buNone/>
            </a:pPr>
            <a:r>
              <a:rPr lang="ru-RU" dirty="0"/>
              <a:t>Пример:</a:t>
            </a:r>
          </a:p>
          <a:p>
            <a:pPr marL="0" indent="0" algn="just">
              <a:buNone/>
            </a:pPr>
            <a:endParaRPr lang="en-US" dirty="0"/>
          </a:p>
          <a:p>
            <a:pPr marL="0" indent="0" algn="just">
              <a:buNone/>
            </a:pPr>
            <a:endParaRPr lang="en-US" dirty="0"/>
          </a:p>
          <a:p>
            <a:pPr marL="0" indent="0" algn="just">
              <a:buNone/>
            </a:pPr>
            <a:r>
              <a:rPr lang="ru-RU" dirty="0"/>
              <a:t>Вывод:</a:t>
            </a:r>
          </a:p>
        </p:txBody>
      </p:sp>
      <p:pic>
        <p:nvPicPr>
          <p:cNvPr id="10" name="Рисунок 9">
            <a:extLst>
              <a:ext uri="{FF2B5EF4-FFF2-40B4-BE49-F238E27FC236}">
                <a16:creationId xmlns:a16="http://schemas.microsoft.com/office/drawing/2014/main" id="{35334F82-73A8-41A6-BDA7-24C0D7ED284E}"/>
              </a:ext>
            </a:extLst>
          </p:cNvPr>
          <p:cNvPicPr>
            <a:picLocks noChangeAspect="1"/>
          </p:cNvPicPr>
          <p:nvPr/>
        </p:nvPicPr>
        <p:blipFill>
          <a:blip r:embed="rId2"/>
          <a:stretch>
            <a:fillRect/>
          </a:stretch>
        </p:blipFill>
        <p:spPr>
          <a:xfrm>
            <a:off x="1615612" y="5156200"/>
            <a:ext cx="8960776" cy="984250"/>
          </a:xfrm>
          <a:prstGeom prst="rect">
            <a:avLst/>
          </a:prstGeom>
        </p:spPr>
      </p:pic>
      <p:pic>
        <p:nvPicPr>
          <p:cNvPr id="14" name="Рисунок 13">
            <a:extLst>
              <a:ext uri="{FF2B5EF4-FFF2-40B4-BE49-F238E27FC236}">
                <a16:creationId xmlns:a16="http://schemas.microsoft.com/office/drawing/2014/main" id="{0A2B5C25-097D-4CC2-B85F-27FF2674190B}"/>
              </a:ext>
            </a:extLst>
          </p:cNvPr>
          <p:cNvPicPr>
            <a:picLocks noChangeAspect="1"/>
          </p:cNvPicPr>
          <p:nvPr/>
        </p:nvPicPr>
        <p:blipFill>
          <a:blip r:embed="rId3"/>
          <a:stretch>
            <a:fillRect/>
          </a:stretch>
        </p:blipFill>
        <p:spPr>
          <a:xfrm>
            <a:off x="867933" y="3577034"/>
            <a:ext cx="10733517" cy="718344"/>
          </a:xfrm>
          <a:prstGeom prst="rect">
            <a:avLst/>
          </a:prstGeom>
        </p:spPr>
      </p:pic>
    </p:spTree>
    <p:extLst>
      <p:ext uri="{BB962C8B-B14F-4D97-AF65-F5344CB8AC3E}">
        <p14:creationId xmlns:p14="http://schemas.microsoft.com/office/powerpoint/2010/main" val="30520606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50E33C7-C1F6-44C1-B382-3571902B55EE}"/>
              </a:ext>
            </a:extLst>
          </p:cNvPr>
          <p:cNvSpPr>
            <a:spLocks noGrp="1"/>
          </p:cNvSpPr>
          <p:nvPr>
            <p:ph type="title"/>
          </p:nvPr>
        </p:nvSpPr>
        <p:spPr/>
        <p:txBody>
          <a:bodyPr/>
          <a:lstStyle/>
          <a:p>
            <a:r>
              <a:rPr lang="ru-RU" dirty="0"/>
              <a:t>Типы данных (числовые)</a:t>
            </a:r>
          </a:p>
        </p:txBody>
      </p:sp>
      <p:pic>
        <p:nvPicPr>
          <p:cNvPr id="7" name="Рисунок 6">
            <a:extLst>
              <a:ext uri="{FF2B5EF4-FFF2-40B4-BE49-F238E27FC236}">
                <a16:creationId xmlns:a16="http://schemas.microsoft.com/office/drawing/2014/main" id="{30C2BF0D-78FF-48CD-AD2D-2F0E09B50956}"/>
              </a:ext>
            </a:extLst>
          </p:cNvPr>
          <p:cNvPicPr>
            <a:picLocks noChangeAspect="1"/>
          </p:cNvPicPr>
          <p:nvPr/>
        </p:nvPicPr>
        <p:blipFill>
          <a:blip r:embed="rId2"/>
          <a:stretch>
            <a:fillRect/>
          </a:stretch>
        </p:blipFill>
        <p:spPr>
          <a:xfrm>
            <a:off x="2290761" y="1349375"/>
            <a:ext cx="7610475" cy="1514475"/>
          </a:xfrm>
          <a:prstGeom prst="rect">
            <a:avLst/>
          </a:prstGeom>
        </p:spPr>
      </p:pic>
      <p:pic>
        <p:nvPicPr>
          <p:cNvPr id="11" name="Объект 10">
            <a:extLst>
              <a:ext uri="{FF2B5EF4-FFF2-40B4-BE49-F238E27FC236}">
                <a16:creationId xmlns:a16="http://schemas.microsoft.com/office/drawing/2014/main" id="{3927CAB3-0708-4A1F-BEF3-E7445AC62CCD}"/>
              </a:ext>
            </a:extLst>
          </p:cNvPr>
          <p:cNvPicPr>
            <a:picLocks noGrp="1" noChangeAspect="1"/>
          </p:cNvPicPr>
          <p:nvPr>
            <p:ph idx="1"/>
          </p:nvPr>
        </p:nvPicPr>
        <p:blipFill>
          <a:blip r:embed="rId3"/>
          <a:stretch>
            <a:fillRect/>
          </a:stretch>
        </p:blipFill>
        <p:spPr>
          <a:xfrm>
            <a:off x="2290760" y="2863850"/>
            <a:ext cx="7610475" cy="3667125"/>
          </a:xfrm>
        </p:spPr>
      </p:pic>
    </p:spTree>
    <p:extLst>
      <p:ext uri="{BB962C8B-B14F-4D97-AF65-F5344CB8AC3E}">
        <p14:creationId xmlns:p14="http://schemas.microsoft.com/office/powerpoint/2010/main" val="27504285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AF06A93-AD8A-4D01-A1E7-6FD2C0BEA897}"/>
              </a:ext>
            </a:extLst>
          </p:cNvPr>
          <p:cNvSpPr>
            <a:spLocks noGrp="1"/>
          </p:cNvSpPr>
          <p:nvPr>
            <p:ph type="title"/>
          </p:nvPr>
        </p:nvSpPr>
        <p:spPr/>
        <p:txBody>
          <a:bodyPr/>
          <a:lstStyle/>
          <a:p>
            <a:r>
              <a:rPr lang="ru-RU" dirty="0"/>
              <a:t>Типы данных (символьные и логические) + замечание о числовых данных</a:t>
            </a:r>
          </a:p>
        </p:txBody>
      </p:sp>
      <p:pic>
        <p:nvPicPr>
          <p:cNvPr id="5" name="Объект 4">
            <a:extLst>
              <a:ext uri="{FF2B5EF4-FFF2-40B4-BE49-F238E27FC236}">
                <a16:creationId xmlns:a16="http://schemas.microsoft.com/office/drawing/2014/main" id="{AD592CC5-4AC0-44E4-A8B7-12055EFD4516}"/>
              </a:ext>
            </a:extLst>
          </p:cNvPr>
          <p:cNvPicPr>
            <a:picLocks noGrp="1" noChangeAspect="1"/>
          </p:cNvPicPr>
          <p:nvPr>
            <p:ph idx="1"/>
          </p:nvPr>
        </p:nvPicPr>
        <p:blipFill>
          <a:blip r:embed="rId2"/>
          <a:stretch>
            <a:fillRect/>
          </a:stretch>
        </p:blipFill>
        <p:spPr>
          <a:xfrm>
            <a:off x="2021841" y="3511550"/>
            <a:ext cx="8583897" cy="836930"/>
          </a:xfrm>
        </p:spPr>
      </p:pic>
      <p:pic>
        <p:nvPicPr>
          <p:cNvPr id="7" name="Рисунок 6">
            <a:extLst>
              <a:ext uri="{FF2B5EF4-FFF2-40B4-BE49-F238E27FC236}">
                <a16:creationId xmlns:a16="http://schemas.microsoft.com/office/drawing/2014/main" id="{BA18F8E2-E9DF-4996-BB5E-A3390AE618B0}"/>
              </a:ext>
            </a:extLst>
          </p:cNvPr>
          <p:cNvPicPr>
            <a:picLocks noChangeAspect="1"/>
          </p:cNvPicPr>
          <p:nvPr/>
        </p:nvPicPr>
        <p:blipFill>
          <a:blip r:embed="rId3"/>
          <a:stretch>
            <a:fillRect/>
          </a:stretch>
        </p:blipFill>
        <p:spPr>
          <a:xfrm>
            <a:off x="2021841" y="4828222"/>
            <a:ext cx="8616462" cy="1120140"/>
          </a:xfrm>
          <a:prstGeom prst="rect">
            <a:avLst/>
          </a:prstGeom>
        </p:spPr>
      </p:pic>
      <p:sp>
        <p:nvSpPr>
          <p:cNvPr id="9" name="TextBox 8">
            <a:extLst>
              <a:ext uri="{FF2B5EF4-FFF2-40B4-BE49-F238E27FC236}">
                <a16:creationId xmlns:a16="http://schemas.microsoft.com/office/drawing/2014/main" id="{F2D15F34-3287-41EE-85FF-38FEA5AD6A27}"/>
              </a:ext>
            </a:extLst>
          </p:cNvPr>
          <p:cNvSpPr txBox="1"/>
          <p:nvPr/>
        </p:nvSpPr>
        <p:spPr>
          <a:xfrm>
            <a:off x="838200" y="1689795"/>
            <a:ext cx="10515600" cy="1569660"/>
          </a:xfrm>
          <a:prstGeom prst="rect">
            <a:avLst/>
          </a:prstGeom>
          <a:noFill/>
        </p:spPr>
        <p:txBody>
          <a:bodyPr wrap="square">
            <a:spAutoFit/>
          </a:bodyPr>
          <a:lstStyle/>
          <a:p>
            <a:pPr algn="just"/>
            <a:r>
              <a:rPr lang="ru-RU" sz="2400" dirty="0"/>
              <a:t>Если необходимо исключить из диапазона типа данных отрицательные значения, перед названием типа следует указать ключевое слово </a:t>
            </a:r>
            <a:r>
              <a:rPr lang="ru-RU" sz="2400" b="1" dirty="0" err="1"/>
              <a:t>unsigned</a:t>
            </a:r>
            <a:r>
              <a:rPr lang="ru-RU" sz="2400" dirty="0"/>
              <a:t>. Например, </a:t>
            </a:r>
            <a:r>
              <a:rPr lang="ru-RU" sz="2400" dirty="0" err="1"/>
              <a:t>unsigned</a:t>
            </a:r>
            <a:r>
              <a:rPr lang="ru-RU" sz="2400" dirty="0"/>
              <a:t> </a:t>
            </a:r>
            <a:r>
              <a:rPr lang="ru-RU" sz="2400" dirty="0" err="1"/>
              <a:t>int</a:t>
            </a:r>
            <a:r>
              <a:rPr lang="ru-RU" sz="2400" dirty="0"/>
              <a:t>. Такой тип будет включать в себя только положительные значения от 0 до 4294967294</a:t>
            </a:r>
          </a:p>
        </p:txBody>
      </p:sp>
    </p:spTree>
    <p:extLst>
      <p:ext uri="{BB962C8B-B14F-4D97-AF65-F5344CB8AC3E}">
        <p14:creationId xmlns:p14="http://schemas.microsoft.com/office/powerpoint/2010/main" val="15912754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762F99E-8DE5-49B5-9504-42C558AE92F7}"/>
              </a:ext>
            </a:extLst>
          </p:cNvPr>
          <p:cNvSpPr>
            <a:spLocks noGrp="1"/>
          </p:cNvSpPr>
          <p:nvPr>
            <p:ph type="title"/>
          </p:nvPr>
        </p:nvSpPr>
        <p:spPr/>
        <p:txBody>
          <a:bodyPr/>
          <a:lstStyle/>
          <a:p>
            <a:r>
              <a:rPr lang="ru-RU" dirty="0"/>
              <a:t>Понятие переменной и константы</a:t>
            </a:r>
          </a:p>
        </p:txBody>
      </p:sp>
      <p:sp>
        <p:nvSpPr>
          <p:cNvPr id="3" name="Объект 2">
            <a:extLst>
              <a:ext uri="{FF2B5EF4-FFF2-40B4-BE49-F238E27FC236}">
                <a16:creationId xmlns:a16="http://schemas.microsoft.com/office/drawing/2014/main" id="{EC527EE6-E729-47DE-B0B1-A6CA901B8A58}"/>
              </a:ext>
            </a:extLst>
          </p:cNvPr>
          <p:cNvSpPr>
            <a:spLocks noGrp="1"/>
          </p:cNvSpPr>
          <p:nvPr>
            <p:ph idx="1"/>
          </p:nvPr>
        </p:nvSpPr>
        <p:spPr/>
        <p:txBody>
          <a:bodyPr/>
          <a:lstStyle/>
          <a:p>
            <a:r>
              <a:rPr lang="ru-RU" dirty="0"/>
              <a:t>Переменная – область оперативной памяти, обладающая собственным именем и предназначенная для хранения данных, которые могут быть изменены.</a:t>
            </a:r>
          </a:p>
          <a:p>
            <a:r>
              <a:rPr lang="ru-RU" dirty="0"/>
              <a:t>Константа – область оперативной памяти, обладающая собственным именем и предназначенная для хранения постоянных данных.</a:t>
            </a:r>
          </a:p>
        </p:txBody>
      </p:sp>
    </p:spTree>
    <p:extLst>
      <p:ext uri="{BB962C8B-B14F-4D97-AF65-F5344CB8AC3E}">
        <p14:creationId xmlns:p14="http://schemas.microsoft.com/office/powerpoint/2010/main" val="13218656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8A7E589-19F6-457D-8939-86E71B011E6F}"/>
              </a:ext>
            </a:extLst>
          </p:cNvPr>
          <p:cNvSpPr>
            <a:spLocks noGrp="1"/>
          </p:cNvSpPr>
          <p:nvPr>
            <p:ph type="title"/>
          </p:nvPr>
        </p:nvSpPr>
        <p:spPr/>
        <p:txBody>
          <a:bodyPr/>
          <a:lstStyle/>
          <a:p>
            <a:r>
              <a:rPr lang="ru-RU" dirty="0"/>
              <a:t>Объявление и инициализация переменных и констант</a:t>
            </a:r>
          </a:p>
        </p:txBody>
      </p:sp>
      <p:sp>
        <p:nvSpPr>
          <p:cNvPr id="3" name="Объект 2">
            <a:extLst>
              <a:ext uri="{FF2B5EF4-FFF2-40B4-BE49-F238E27FC236}">
                <a16:creationId xmlns:a16="http://schemas.microsoft.com/office/drawing/2014/main" id="{63EC7A8C-E77A-4494-BE9B-A09DBCC20C5A}"/>
              </a:ext>
            </a:extLst>
          </p:cNvPr>
          <p:cNvSpPr>
            <a:spLocks noGrp="1"/>
          </p:cNvSpPr>
          <p:nvPr>
            <p:ph idx="1"/>
          </p:nvPr>
        </p:nvSpPr>
        <p:spPr>
          <a:xfrm>
            <a:off x="838200" y="1825624"/>
            <a:ext cx="10515600" cy="4869815"/>
          </a:xfrm>
        </p:spPr>
        <p:txBody>
          <a:bodyPr/>
          <a:lstStyle/>
          <a:p>
            <a:pPr marL="0" indent="0" algn="just">
              <a:buNone/>
            </a:pPr>
            <a:r>
              <a:rPr lang="en-US" dirty="0">
                <a:latin typeface="Consolas" panose="020B0609020204030204" pitchFamily="49" charset="0"/>
              </a:rPr>
              <a:t>&lt;</a:t>
            </a:r>
            <a:r>
              <a:rPr lang="ru-RU" dirty="0" err="1">
                <a:latin typeface="Consolas" panose="020B0609020204030204" pitchFamily="49" charset="0"/>
              </a:rPr>
              <a:t>тип_данных</a:t>
            </a:r>
            <a:r>
              <a:rPr lang="en-US" dirty="0">
                <a:latin typeface="Consolas" panose="020B0609020204030204" pitchFamily="49" charset="0"/>
              </a:rPr>
              <a:t>&gt;</a:t>
            </a:r>
            <a:r>
              <a:rPr lang="ru-RU" dirty="0">
                <a:latin typeface="Consolas" panose="020B0609020204030204" pitchFamily="49" charset="0"/>
              </a:rPr>
              <a:t> </a:t>
            </a:r>
            <a:r>
              <a:rPr lang="ru-RU" dirty="0" err="1">
                <a:latin typeface="Consolas" panose="020B0609020204030204" pitchFamily="49" charset="0"/>
              </a:rPr>
              <a:t>название_</a:t>
            </a:r>
            <a:r>
              <a:rPr lang="ru-RU" b="1" dirty="0" err="1">
                <a:latin typeface="Consolas" panose="020B0609020204030204" pitchFamily="49" charset="0"/>
              </a:rPr>
              <a:t>переменной</a:t>
            </a:r>
            <a:r>
              <a:rPr lang="ru-RU" dirty="0">
                <a:latin typeface="Consolas" panose="020B0609020204030204" pitchFamily="49" charset="0"/>
              </a:rPr>
              <a:t> (= значение)</a:t>
            </a:r>
            <a:r>
              <a:rPr lang="en-US" dirty="0">
                <a:latin typeface="Consolas" panose="020B0609020204030204" pitchFamily="49" charset="0"/>
              </a:rPr>
              <a:t>;</a:t>
            </a:r>
            <a:endParaRPr lang="ru-RU" dirty="0">
              <a:latin typeface="Consolas" panose="020B0609020204030204" pitchFamily="49" charset="0"/>
            </a:endParaRPr>
          </a:p>
          <a:p>
            <a:pPr marL="0" indent="0" algn="just">
              <a:buNone/>
            </a:pPr>
            <a:r>
              <a:rPr lang="en-US" dirty="0">
                <a:latin typeface="Consolas" panose="020B0609020204030204" pitchFamily="49" charset="0"/>
              </a:rPr>
              <a:t>&lt;</a:t>
            </a:r>
            <a:r>
              <a:rPr lang="ru-RU" dirty="0" err="1">
                <a:latin typeface="Consolas" panose="020B0609020204030204" pitchFamily="49" charset="0"/>
              </a:rPr>
              <a:t>тип_данных</a:t>
            </a:r>
            <a:r>
              <a:rPr lang="en-US" dirty="0">
                <a:latin typeface="Consolas" panose="020B0609020204030204" pitchFamily="49" charset="0"/>
              </a:rPr>
              <a:t>&gt;</a:t>
            </a:r>
            <a:r>
              <a:rPr lang="ru-RU" dirty="0">
                <a:latin typeface="Consolas" panose="020B0609020204030204" pitchFamily="49" charset="0"/>
              </a:rPr>
              <a:t> </a:t>
            </a:r>
            <a:r>
              <a:rPr lang="en-US" b="1" dirty="0">
                <a:latin typeface="Consolas" panose="020B0609020204030204" pitchFamily="49" charset="0"/>
              </a:rPr>
              <a:t>const</a:t>
            </a:r>
            <a:r>
              <a:rPr lang="en-US" dirty="0">
                <a:latin typeface="Consolas" panose="020B0609020204030204" pitchFamily="49" charset="0"/>
              </a:rPr>
              <a:t> </a:t>
            </a:r>
            <a:r>
              <a:rPr lang="ru-RU" dirty="0" err="1">
                <a:latin typeface="Consolas" panose="020B0609020204030204" pitchFamily="49" charset="0"/>
              </a:rPr>
              <a:t>название_</a:t>
            </a:r>
            <a:r>
              <a:rPr lang="ru-RU" b="1" dirty="0" err="1">
                <a:latin typeface="Consolas" panose="020B0609020204030204" pitchFamily="49" charset="0"/>
              </a:rPr>
              <a:t>константы</a:t>
            </a:r>
            <a:r>
              <a:rPr lang="ru-RU" dirty="0">
                <a:latin typeface="Consolas" panose="020B0609020204030204" pitchFamily="49" charset="0"/>
              </a:rPr>
              <a:t> = значение</a:t>
            </a:r>
            <a:r>
              <a:rPr lang="en-US" dirty="0">
                <a:latin typeface="Consolas" panose="020B0609020204030204" pitchFamily="49" charset="0"/>
              </a:rPr>
              <a:t>;</a:t>
            </a:r>
            <a:endParaRPr lang="ru-RU" dirty="0">
              <a:latin typeface="Consolas" panose="020B0609020204030204" pitchFamily="49" charset="0"/>
            </a:endParaRPr>
          </a:p>
          <a:p>
            <a:pPr marL="0" indent="0" algn="just">
              <a:buNone/>
            </a:pPr>
            <a:endParaRPr lang="en-US" dirty="0">
              <a:latin typeface="Consolas" panose="020B0609020204030204" pitchFamily="49" charset="0"/>
            </a:endParaRPr>
          </a:p>
          <a:p>
            <a:pPr marL="0" indent="0" algn="just">
              <a:buNone/>
            </a:pPr>
            <a:r>
              <a:rPr lang="ru-RU" dirty="0"/>
              <a:t>( </a:t>
            </a:r>
            <a:r>
              <a:rPr lang="ru-RU" i="1" dirty="0"/>
              <a:t>() – значит опционально, но </a:t>
            </a:r>
            <a:r>
              <a:rPr lang="ru-RU" i="1" dirty="0">
                <a:solidFill>
                  <a:srgbClr val="FF0000"/>
                </a:solidFill>
              </a:rPr>
              <a:t>рекомендуется</a:t>
            </a:r>
            <a:r>
              <a:rPr lang="ru-RU" i="1" dirty="0"/>
              <a:t> прописывать </a:t>
            </a:r>
            <a:r>
              <a:rPr lang="ru-RU" dirty="0"/>
              <a:t>)</a:t>
            </a:r>
          </a:p>
          <a:p>
            <a:pPr algn="just"/>
            <a:r>
              <a:rPr lang="ru-RU" dirty="0"/>
              <a:t>Если мы наделяем переменную начальным значением – это </a:t>
            </a:r>
            <a:r>
              <a:rPr lang="ru-RU" b="1" i="1" dirty="0"/>
              <a:t>инициализация</a:t>
            </a:r>
            <a:r>
              <a:rPr lang="ru-RU" dirty="0"/>
              <a:t>.</a:t>
            </a:r>
          </a:p>
          <a:p>
            <a:pPr algn="just"/>
            <a:r>
              <a:rPr lang="ru-RU" dirty="0"/>
              <a:t>Если переменная уже создана и мы присваиваем ей значение в отдельно строке – это операция </a:t>
            </a:r>
            <a:r>
              <a:rPr lang="ru-RU" b="1" i="1" dirty="0"/>
              <a:t>присвоения</a:t>
            </a:r>
            <a:r>
              <a:rPr lang="ru-RU" dirty="0"/>
              <a:t>.</a:t>
            </a:r>
          </a:p>
          <a:p>
            <a:pPr algn="just"/>
            <a:r>
              <a:rPr lang="ru-RU" dirty="0"/>
              <a:t>Таким образом, константы </a:t>
            </a:r>
            <a:r>
              <a:rPr lang="ru-RU" b="1" dirty="0"/>
              <a:t>необходимо</a:t>
            </a:r>
            <a:r>
              <a:rPr lang="ru-RU" dirty="0"/>
              <a:t> </a:t>
            </a:r>
            <a:r>
              <a:rPr lang="ru-RU" b="1" dirty="0"/>
              <a:t>инициализировать</a:t>
            </a:r>
            <a:r>
              <a:rPr lang="ru-RU" i="1" dirty="0"/>
              <a:t>.</a:t>
            </a:r>
            <a:endParaRPr lang="ru-RU" b="1" dirty="0"/>
          </a:p>
          <a:p>
            <a:pPr marL="0" indent="0" algn="just">
              <a:buNone/>
            </a:pPr>
            <a:r>
              <a:rPr lang="ru-RU" b="1" dirty="0"/>
              <a:t>Данные понятия мы будем встречать во время изучения ООП.</a:t>
            </a:r>
          </a:p>
        </p:txBody>
      </p:sp>
    </p:spTree>
    <p:extLst>
      <p:ext uri="{BB962C8B-B14F-4D97-AF65-F5344CB8AC3E}">
        <p14:creationId xmlns:p14="http://schemas.microsoft.com/office/powerpoint/2010/main" val="27522504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20BF531-A374-4A23-B623-7C61495D98B3}"/>
              </a:ext>
            </a:extLst>
          </p:cNvPr>
          <p:cNvSpPr>
            <a:spLocks noGrp="1"/>
          </p:cNvSpPr>
          <p:nvPr>
            <p:ph type="title"/>
          </p:nvPr>
        </p:nvSpPr>
        <p:spPr/>
        <p:txBody>
          <a:bodyPr/>
          <a:lstStyle/>
          <a:p>
            <a:r>
              <a:rPr lang="ru-RU" dirty="0"/>
              <a:t>Задание</a:t>
            </a:r>
          </a:p>
        </p:txBody>
      </p:sp>
      <p:sp>
        <p:nvSpPr>
          <p:cNvPr id="3" name="Объект 2">
            <a:extLst>
              <a:ext uri="{FF2B5EF4-FFF2-40B4-BE49-F238E27FC236}">
                <a16:creationId xmlns:a16="http://schemas.microsoft.com/office/drawing/2014/main" id="{2FE3AD40-498C-408E-B8DE-E93A8B12A110}"/>
              </a:ext>
            </a:extLst>
          </p:cNvPr>
          <p:cNvSpPr>
            <a:spLocks noGrp="1"/>
          </p:cNvSpPr>
          <p:nvPr>
            <p:ph idx="1"/>
          </p:nvPr>
        </p:nvSpPr>
        <p:spPr/>
        <p:txBody>
          <a:bodyPr/>
          <a:lstStyle/>
          <a:p>
            <a:pPr marL="0" indent="0">
              <a:buNone/>
            </a:pPr>
            <a:r>
              <a:rPr lang="ru-RU" dirty="0"/>
              <a:t>Вычислить, сколько часов в 2000-м году</a:t>
            </a:r>
            <a:r>
              <a:rPr lang="en-US" dirty="0"/>
              <a:t>.</a:t>
            </a:r>
          </a:p>
          <a:p>
            <a:pPr marL="0" indent="0">
              <a:buNone/>
            </a:pPr>
            <a:r>
              <a:rPr lang="ru-RU" dirty="0"/>
              <a:t>Алгоритм:</a:t>
            </a:r>
          </a:p>
          <a:p>
            <a:pPr marL="514350" indent="-514350">
              <a:buAutoNum type="arabicPeriod"/>
            </a:pPr>
            <a:r>
              <a:rPr lang="ru-RU" dirty="0"/>
              <a:t>Определить, является ли этот год високосным</a:t>
            </a:r>
          </a:p>
          <a:p>
            <a:pPr marL="514350" indent="-514350">
              <a:buAutoNum type="arabicPeriod"/>
            </a:pPr>
            <a:r>
              <a:rPr lang="ru-RU" dirty="0"/>
              <a:t>Вычислить количество дней (константа </a:t>
            </a:r>
            <a:r>
              <a:rPr lang="en-US" dirty="0"/>
              <a:t>DayIn_2000Year</a:t>
            </a:r>
            <a:r>
              <a:rPr lang="ru-RU" dirty="0"/>
              <a:t>)</a:t>
            </a:r>
            <a:endParaRPr lang="en-US" dirty="0"/>
          </a:p>
          <a:p>
            <a:pPr marL="514350" indent="-514350">
              <a:buAutoNum type="arabicPeriod"/>
            </a:pPr>
            <a:r>
              <a:rPr lang="ru-RU" dirty="0"/>
              <a:t>Задать кол-во часов в рамках сутках (константа </a:t>
            </a:r>
            <a:r>
              <a:rPr lang="en-US" dirty="0" err="1"/>
              <a:t>HourIn</a:t>
            </a:r>
            <a:r>
              <a:rPr lang="ru-RU" dirty="0"/>
              <a:t>_</a:t>
            </a:r>
            <a:r>
              <a:rPr lang="en-US" dirty="0"/>
              <a:t>Day</a:t>
            </a:r>
            <a:r>
              <a:rPr lang="ru-RU" dirty="0"/>
              <a:t>)</a:t>
            </a:r>
          </a:p>
          <a:p>
            <a:pPr marL="514350" indent="-514350">
              <a:buAutoNum type="arabicPeriod"/>
            </a:pPr>
            <a:r>
              <a:rPr lang="ru-RU" dirty="0"/>
              <a:t>Вычислить количество часов (переменная</a:t>
            </a:r>
            <a:r>
              <a:rPr lang="en-US" dirty="0"/>
              <a:t> hourIn_2000Year</a:t>
            </a:r>
            <a:r>
              <a:rPr lang="ru-RU" dirty="0"/>
              <a:t>)</a:t>
            </a:r>
          </a:p>
          <a:p>
            <a:pPr marL="514350" indent="-514350">
              <a:buAutoNum type="arabicPeriod"/>
            </a:pPr>
            <a:r>
              <a:rPr lang="ru-RU" dirty="0"/>
              <a:t>Вывести результат на экран</a:t>
            </a:r>
          </a:p>
          <a:p>
            <a:pPr marL="514350" indent="-514350">
              <a:buAutoNum type="arabicPeriod"/>
            </a:pPr>
            <a:endParaRPr lang="ru-RU" dirty="0"/>
          </a:p>
        </p:txBody>
      </p:sp>
    </p:spTree>
    <p:extLst>
      <p:ext uri="{BB962C8B-B14F-4D97-AF65-F5344CB8AC3E}">
        <p14:creationId xmlns:p14="http://schemas.microsoft.com/office/powerpoint/2010/main" val="2059340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D4DFAF-9E88-49F6-AC6B-4F2FA8D657FB}"/>
              </a:ext>
            </a:extLst>
          </p:cNvPr>
          <p:cNvSpPr>
            <a:spLocks noGrp="1"/>
          </p:cNvSpPr>
          <p:nvPr>
            <p:ph type="title"/>
          </p:nvPr>
        </p:nvSpPr>
        <p:spPr/>
        <p:txBody>
          <a:bodyPr/>
          <a:lstStyle/>
          <a:p>
            <a:r>
              <a:rPr lang="ru-RU" dirty="0"/>
              <a:t>Код-решение предыдущего задания</a:t>
            </a:r>
          </a:p>
        </p:txBody>
      </p:sp>
      <p:pic>
        <p:nvPicPr>
          <p:cNvPr id="5" name="Объект 4">
            <a:extLst>
              <a:ext uri="{FF2B5EF4-FFF2-40B4-BE49-F238E27FC236}">
                <a16:creationId xmlns:a16="http://schemas.microsoft.com/office/drawing/2014/main" id="{B9902882-3294-49ED-B8A9-07CC9B0A4805}"/>
              </a:ext>
            </a:extLst>
          </p:cNvPr>
          <p:cNvPicPr>
            <a:picLocks noGrp="1" noChangeAspect="1"/>
          </p:cNvPicPr>
          <p:nvPr>
            <p:ph idx="1"/>
          </p:nvPr>
        </p:nvPicPr>
        <p:blipFill>
          <a:blip r:embed="rId2"/>
          <a:stretch>
            <a:fillRect/>
          </a:stretch>
        </p:blipFill>
        <p:spPr>
          <a:xfrm>
            <a:off x="1380663" y="1690688"/>
            <a:ext cx="9430673" cy="4667250"/>
          </a:xfrm>
        </p:spPr>
      </p:pic>
    </p:spTree>
    <p:extLst>
      <p:ext uri="{BB962C8B-B14F-4D97-AF65-F5344CB8AC3E}">
        <p14:creationId xmlns:p14="http://schemas.microsoft.com/office/powerpoint/2010/main" val="3126321616"/>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1220</TotalTime>
  <Words>762</Words>
  <Application>Microsoft Office PowerPoint</Application>
  <PresentationFormat>Широкоэкранный</PresentationFormat>
  <Paragraphs>80</Paragraphs>
  <Slides>20</Slides>
  <Notes>0</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20</vt:i4>
      </vt:variant>
    </vt:vector>
  </HeadingPairs>
  <TitlesOfParts>
    <vt:vector size="25" baseType="lpstr">
      <vt:lpstr>Arial</vt:lpstr>
      <vt:lpstr>Calibri</vt:lpstr>
      <vt:lpstr>Calibri Light</vt:lpstr>
      <vt:lpstr>Consolas</vt:lpstr>
      <vt:lpstr>Тема Office</vt:lpstr>
      <vt:lpstr>Основы программирования на языке C++</vt:lpstr>
      <vt:lpstr>Понятие алгоритма</vt:lpstr>
      <vt:lpstr>Понятие алгоритма</vt:lpstr>
      <vt:lpstr>Визуальное представление алгоритма</vt:lpstr>
      <vt:lpstr>Краткая история языка C++</vt:lpstr>
      <vt:lpstr>Работа с MS Visual Studio Создание проекта</vt:lpstr>
      <vt:lpstr>Работа с MS Visual Studio Создание проекта</vt:lpstr>
      <vt:lpstr>Работа с MS Visual Studio Создание проекта</vt:lpstr>
      <vt:lpstr>Работа с MS Visual Studio Готовый проект (Примерная картина)</vt:lpstr>
      <vt:lpstr>Ещё пара слов о C++</vt:lpstr>
      <vt:lpstr>Этапы компиляции</vt:lpstr>
      <vt:lpstr>Когда программировать-то будем?</vt:lpstr>
      <vt:lpstr>Задание</vt:lpstr>
      <vt:lpstr>Raw-строки</vt:lpstr>
      <vt:lpstr>Типы данных (числовые)</vt:lpstr>
      <vt:lpstr>Типы данных (символьные и логические) + замечание о числовых данных</vt:lpstr>
      <vt:lpstr>Понятие переменной и константы</vt:lpstr>
      <vt:lpstr>Объявление и инициализация переменных и констант</vt:lpstr>
      <vt:lpstr>Задание</vt:lpstr>
      <vt:lpstr>Код-решение предыдущего задания</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Основы программирования на языке C++</dc:title>
  <dc:creator>varitch.rodion.2@gmail.com</dc:creator>
  <cp:lastModifiedBy>varitch.rodion.2@gmail.com</cp:lastModifiedBy>
  <cp:revision>34</cp:revision>
  <dcterms:created xsi:type="dcterms:W3CDTF">2026-07-01T08:38:57Z</dcterms:created>
  <dcterms:modified xsi:type="dcterms:W3CDTF">2026-07-03T12:03:09Z</dcterms:modified>
</cp:coreProperties>
</file>