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0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254A58-987A-4746-A0C9-36911FF983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88C0C4D-7E06-4F3B-83B1-820929423C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96C2DCF-77AE-44D7-8EAA-0F9450E8F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37824-1E90-4B0A-8A4E-010893FFA15C}" type="datetimeFigureOut">
              <a:rPr lang="ru-RU" smtClean="0"/>
              <a:t>06.07.2026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17D7B96-5770-4C6D-959F-EC6BE7BE1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FDC522C-7C59-4E93-B382-61B6CC89E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AB5EE-3A5C-4AD2-A09D-82A6CFF1C9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55912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291EDE-BF0C-4447-8F00-657A82184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10A2AA6-DED6-4004-A6F2-F58B1B9214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1E80ECB-04D2-46C7-B014-DF80B77EC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37824-1E90-4B0A-8A4E-010893FFA15C}" type="datetimeFigureOut">
              <a:rPr lang="ru-RU" smtClean="0"/>
              <a:t>06.07.2026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A48F5F3-14AB-41A8-87A2-ECE21526B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5CBCA5D-869E-4A6E-B121-30D3D5215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AB5EE-3A5C-4AD2-A09D-82A6CFF1C9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28469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69E297-2167-43F4-8605-451FBA416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CB3BBE7-3AC2-4606-8573-3B6185BDB0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AD7E39B-6F85-4ECF-9406-24E4B2624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37824-1E90-4B0A-8A4E-010893FFA15C}" type="datetimeFigureOut">
              <a:rPr lang="ru-RU" smtClean="0"/>
              <a:t>06.07.2026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9398EAA-7CAF-4363-910D-18E5DADFF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799BBE6-C161-4C64-9362-E4DDB7E35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AB5EE-3A5C-4AD2-A09D-82A6CFF1C9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13439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8A2D95-295F-41F5-B249-CADE45C54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03A194F-8796-4481-96D4-9FC7E5964A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4B24FAA-AF39-45C0-B3F8-AFEF8B0299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102689B-41A2-4061-8DD7-153432393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37824-1E90-4B0A-8A4E-010893FFA15C}" type="datetimeFigureOut">
              <a:rPr lang="ru-RU" smtClean="0"/>
              <a:t>06.07.2026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B320BD4-145D-490D-BB06-871A0729C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55F4645-063C-4C6F-A68F-684ADC888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AB5EE-3A5C-4AD2-A09D-82A6CFF1C9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6713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4D20BB-EFE9-4EB5-B928-B83D1A547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0F2FF02-EE86-4A76-900D-ADF4FFF184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F36B84F-581D-440D-95F7-8093200017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E2F09D4-9AB6-43AD-9EF2-A7A40B7B5B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DCC2046-1569-4702-939D-DA2619CA11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F1B9549-A5AE-41F0-94EF-337F41F73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37824-1E90-4B0A-8A4E-010893FFA15C}" type="datetimeFigureOut">
              <a:rPr lang="ru-RU" smtClean="0"/>
              <a:t>06.07.2026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798E4381-93EC-4550-87AB-4E2957628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2216C7E6-183A-469C-AC9C-898671A03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AB5EE-3A5C-4AD2-A09D-82A6CFF1C9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68883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2A05B5-44CA-4BA1-B798-C926E6805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B5151EE-E757-4400-915B-BF77F88FF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37824-1E90-4B0A-8A4E-010893FFA15C}" type="datetimeFigureOut">
              <a:rPr lang="ru-RU" smtClean="0"/>
              <a:t>06.07.2026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0AE1ACC-656D-47E9-B561-C496A7DD0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AB15B99-3798-4369-91C9-CE08E23A1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AB5EE-3A5C-4AD2-A09D-82A6CFF1C9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3620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A6144E4C-2B19-4821-AE0D-21A7C8591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37824-1E90-4B0A-8A4E-010893FFA15C}" type="datetimeFigureOut">
              <a:rPr lang="ru-RU" smtClean="0"/>
              <a:t>06.07.2026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F969839-42F4-430D-924E-370740ED3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D0C523D-80F5-425F-8F60-DFB0D218C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AB5EE-3A5C-4AD2-A09D-82A6CFF1C9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3810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7125EE-8EC2-48DF-96D8-54F415276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A77FC5-FB4D-45A9-81AD-E913B9619D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2715A2F-372D-46D0-8AAF-C7B0CBE209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D598F4D-2BAC-4A5C-8FA2-74164CD88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37824-1E90-4B0A-8A4E-010893FFA15C}" type="datetimeFigureOut">
              <a:rPr lang="ru-RU" smtClean="0"/>
              <a:t>06.07.2026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D8506C5-7312-4D6C-8A06-DB799068C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A154405-E9DE-4A63-A829-01BD6FF06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AB5EE-3A5C-4AD2-A09D-82A6CFF1C9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97477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4190F1-BC38-4E8C-8969-299C06FD3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2683B098-8391-4BC5-B952-73B5EA03D2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44FCC2D-AEFB-41D7-8CEE-AD11CE8F4E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BDC4362-6ABB-4E20-80F0-356C7FAA2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37824-1E90-4B0A-8A4E-010893FFA15C}" type="datetimeFigureOut">
              <a:rPr lang="ru-RU" smtClean="0"/>
              <a:t>06.07.2026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A605422-F786-469B-987F-3DF534780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19199B9-4A3B-4B7A-8ABF-CD845C6C5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AB5EE-3A5C-4AD2-A09D-82A6CFF1C9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82358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EA250F-D774-41A1-9CBA-240199F4F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351162A-B773-4CA6-905C-BDE4F5474C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80D131B-E418-4756-8C69-345D75F3D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37824-1E90-4B0A-8A4E-010893FFA15C}" type="datetimeFigureOut">
              <a:rPr lang="ru-RU" smtClean="0"/>
              <a:t>06.07.2026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BD09DF9-7D41-40A3-9D1A-C0E967EBF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D01D075-0C64-4A75-8B5B-3FE0A0724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AB5EE-3A5C-4AD2-A09D-82A6CFF1C9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2085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03BB5403-673D-4840-A509-DE6772C277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48A5070-C046-48AC-9E58-A76008707E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ABD1D09-3301-4DFC-8F4E-53A42B224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37824-1E90-4B0A-8A4E-010893FFA15C}" type="datetimeFigureOut">
              <a:rPr lang="ru-RU" smtClean="0"/>
              <a:t>06.07.2026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96E17BE-F959-4D52-8493-C21ACFCAB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7FFA661-E350-480A-AFEF-E1B147289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AB5EE-3A5C-4AD2-A09D-82A6CFF1C9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8478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9E023A-68B0-4838-B66F-15B0320B4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48F39CE-1320-48BA-9C4F-A9398AA6EE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CC68490-B47E-493E-99A3-F5150B051D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437824-1E90-4B0A-8A4E-010893FFA15C}" type="datetimeFigureOut">
              <a:rPr lang="ru-RU" smtClean="0"/>
              <a:t>06.07.2026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9BAFC02-A56C-42D6-8D8A-D429A9C04A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B2F0583-DD26-4ED2-B79A-00AE2BB0C9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DAB5EE-3A5C-4AD2-A09D-82A6CFF1C9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5183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4CD2F0-C707-4F86-B62E-4768DC919CC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Основы программирования на языке </a:t>
            </a:r>
            <a:r>
              <a:rPr lang="en-US" dirty="0"/>
              <a:t>C++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EA06482-F482-4D7A-BA72-169D48C1715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endParaRPr lang="ru-RU" dirty="0"/>
          </a:p>
          <a:p>
            <a:pPr algn="r"/>
            <a:r>
              <a:rPr lang="ru-RU" dirty="0"/>
              <a:t>Условный оператор </a:t>
            </a:r>
            <a:r>
              <a:rPr lang="en-US" dirty="0"/>
              <a:t>if</a:t>
            </a:r>
          </a:p>
          <a:p>
            <a:pPr algn="r"/>
            <a:r>
              <a:rPr lang="en-US" dirty="0"/>
              <a:t>06.07.2026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739713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DE76A7-4EB0-438D-A879-65A6D0FDF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План презентации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BF3C48F-416E-4836-84D4-84058D8CFF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9235" y="1825625"/>
            <a:ext cx="10515600" cy="4351338"/>
          </a:xfrm>
        </p:spPr>
        <p:txBody>
          <a:bodyPr/>
          <a:lstStyle/>
          <a:p>
            <a:r>
              <a:rPr lang="ru-RU" dirty="0"/>
              <a:t>Домашнее задание</a:t>
            </a:r>
            <a:endParaRPr lang="en-US" dirty="0"/>
          </a:p>
          <a:p>
            <a:r>
              <a:rPr lang="ru-RU" dirty="0"/>
              <a:t>Знакомство с ветвящимися алгоритмами (+ примеры)</a:t>
            </a:r>
          </a:p>
          <a:p>
            <a:r>
              <a:rPr lang="ru-RU" dirty="0"/>
              <a:t>Операторы сравнения</a:t>
            </a:r>
          </a:p>
          <a:p>
            <a:r>
              <a:rPr lang="ru-RU" dirty="0"/>
              <a:t>Связка условий</a:t>
            </a:r>
          </a:p>
          <a:p>
            <a:r>
              <a:rPr lang="ru-RU" dirty="0"/>
              <a:t>Лесенка </a:t>
            </a:r>
            <a:r>
              <a:rPr lang="en-US" dirty="0"/>
              <a:t>if – else if</a:t>
            </a:r>
            <a:endParaRPr lang="ru-RU" dirty="0"/>
          </a:p>
          <a:p>
            <a:r>
              <a:rPr lang="ru-RU" dirty="0"/>
              <a:t>Задача на закрепление</a:t>
            </a:r>
          </a:p>
          <a:p>
            <a:pPr marL="0" indent="0">
              <a:buNone/>
            </a:pP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447313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337683-BC8F-4EFA-98A5-A08AAC943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Домашнее задание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A9CE8C8-F1DB-4FA6-A065-13D8E254AC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ru-RU" dirty="0"/>
              <a:t>0</a:t>
            </a:r>
            <a:r>
              <a:rPr lang="ru-RU"/>
              <a:t>.   Ознакомиться </a:t>
            </a:r>
            <a:r>
              <a:rPr lang="ru-RU" dirty="0"/>
              <a:t>с презентацией</a:t>
            </a:r>
          </a:p>
          <a:p>
            <a:pPr marL="514350" indent="-514350" algn="just">
              <a:buAutoNum type="arabicPeriod"/>
            </a:pPr>
            <a:r>
              <a:rPr lang="ru-RU" dirty="0"/>
              <a:t>Доделать задачу с занятия (?)</a:t>
            </a:r>
          </a:p>
          <a:p>
            <a:pPr marL="514350" indent="-514350" algn="just">
              <a:buAutoNum type="arabicPeriod"/>
            </a:pPr>
            <a:r>
              <a:rPr lang="ru-RU" dirty="0"/>
              <a:t>Известно, что 1 дюйм равен 2.54 см. Разработать приложение, переводящие дюймы в сантиметры и наоборот. Диалог с пользователем реализовать через систему меню.</a:t>
            </a:r>
          </a:p>
        </p:txBody>
      </p:sp>
    </p:spTree>
    <p:extLst>
      <p:ext uri="{BB962C8B-B14F-4D97-AF65-F5344CB8AC3E}">
        <p14:creationId xmlns:p14="http://schemas.microsoft.com/office/powerpoint/2010/main" val="33749688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70DD59-9340-4F0A-BE46-E84402CC5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Ветвящиеся алгоритмы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1915B4E-0652-4E6D-8084-F69A668ED5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ru-RU" dirty="0"/>
              <a:t>До этого момента все наши программы были линейными. Настало время начать делать «мыслящие» программы, руководствующиеся условиями при выполнении. Синтаксис оператора </a:t>
            </a:r>
            <a:r>
              <a:rPr lang="en-US" dirty="0"/>
              <a:t>if:</a:t>
            </a:r>
          </a:p>
          <a:p>
            <a:pPr algn="just"/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BA72D93-646B-4AE5-A3D0-43F473D533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8150" y="3429000"/>
            <a:ext cx="3695700" cy="307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76826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167208-1202-4559-966E-A8710ECCF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Блок-схема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DE8755B8-776C-453C-A24A-A50E47FBC6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24426" y="1888261"/>
            <a:ext cx="7543148" cy="3526422"/>
          </a:xfrm>
        </p:spPr>
      </p:pic>
    </p:spTree>
    <p:extLst>
      <p:ext uri="{BB962C8B-B14F-4D97-AF65-F5344CB8AC3E}">
        <p14:creationId xmlns:p14="http://schemas.microsoft.com/office/powerpoint/2010/main" val="8829898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1760B0-8345-4EC7-A4A3-ACB7EDFAB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Примеры использования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C386D4F-08DC-4F70-8747-3D6E38BB6E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Возьмём каркас:</a:t>
            </a:r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pPr marL="0" indent="0">
              <a:buNone/>
            </a:pPr>
            <a:r>
              <a:rPr lang="ru-RU" dirty="0"/>
              <a:t>… и вместо многоточия подставим разные условия </a:t>
            </a:r>
          </a:p>
          <a:p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D213C73-CB90-4B03-BB7A-79FD5BC312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7825" y="2359661"/>
            <a:ext cx="5168294" cy="1574127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3A227787-B80E-4C05-B368-4FA57FD5CB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9580" y="4332887"/>
            <a:ext cx="5932839" cy="1844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634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14266E-EA2D-471A-9A97-D19A9271F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Операторы сравнения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1F9EC20-C43A-4E77-9852-B3D68900D4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1247"/>
            <a:ext cx="10515600" cy="4715716"/>
          </a:xfrm>
        </p:spPr>
        <p:txBody>
          <a:bodyPr/>
          <a:lstStyle/>
          <a:p>
            <a:pPr marL="0" indent="0" algn="just">
              <a:buNone/>
            </a:pPr>
            <a:r>
              <a:rPr lang="ru-RU" dirty="0"/>
              <a:t>Само собой вместо литералов можно сравнивать значения, хранящиеся в переменных, обращаясь к ним.</a:t>
            </a:r>
          </a:p>
          <a:p>
            <a:pPr marL="0" indent="0" algn="just">
              <a:buNone/>
            </a:pPr>
            <a:r>
              <a:rPr lang="ru-RU" dirty="0"/>
              <a:t>Зачастую гораздо полезнее проверять не «сырое» значение, а сравнивать его с другим. Познакомимся с операторами сравнения:</a:t>
            </a:r>
          </a:p>
          <a:p>
            <a:pPr algn="just"/>
            <a:r>
              <a:rPr lang="en-US" dirty="0"/>
              <a:t>&gt;  </a:t>
            </a:r>
            <a:r>
              <a:rPr lang="ru-RU" dirty="0"/>
              <a:t>оператор «больше»</a:t>
            </a:r>
            <a:r>
              <a:rPr lang="en-US" dirty="0"/>
              <a:t> (&gt;= </a:t>
            </a:r>
            <a:r>
              <a:rPr lang="ru-RU" dirty="0"/>
              <a:t>больше или равно</a:t>
            </a:r>
            <a:r>
              <a:rPr lang="en-US" dirty="0"/>
              <a:t>)</a:t>
            </a:r>
            <a:endParaRPr lang="ru-RU" dirty="0"/>
          </a:p>
          <a:p>
            <a:pPr algn="just"/>
            <a:r>
              <a:rPr lang="en-US" dirty="0"/>
              <a:t>&lt; </a:t>
            </a:r>
            <a:r>
              <a:rPr lang="ru-RU" dirty="0"/>
              <a:t> оператор «меньше» (</a:t>
            </a:r>
            <a:r>
              <a:rPr lang="en-US" dirty="0"/>
              <a:t>&lt;= </a:t>
            </a:r>
            <a:r>
              <a:rPr lang="ru-RU" dirty="0"/>
              <a:t>меньше или равно)</a:t>
            </a:r>
          </a:p>
          <a:p>
            <a:pPr algn="just"/>
            <a:r>
              <a:rPr lang="ru-RU" dirty="0"/>
              <a:t>== оператор «равно» (НЕ ПУТАТЬ С ОПЕРАТОРОМ ПРИСВОЕНИЯ </a:t>
            </a:r>
            <a:r>
              <a:rPr lang="ru-RU" b="1" dirty="0"/>
              <a:t>=</a:t>
            </a:r>
            <a:r>
              <a:rPr lang="ru-RU" dirty="0"/>
              <a:t>)</a:t>
            </a:r>
          </a:p>
          <a:p>
            <a:pPr marL="0" indent="0" algn="just">
              <a:buNone/>
            </a:pP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BE93404-9929-4F15-9748-FE62F4CE39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8575" y="4700588"/>
            <a:ext cx="4514850" cy="147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2934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96C39D-3686-48DC-9D24-79972281D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E54DC93-E705-48E7-83B0-FDC66C9D84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dirty="0"/>
              <a:t>Целое число вводят с клавиатуры. Выведите информацию о:</a:t>
            </a:r>
          </a:p>
          <a:p>
            <a:pPr algn="just"/>
            <a:r>
              <a:rPr lang="ru-RU" dirty="0"/>
              <a:t>Знаке числа (положительное или отрицательное)</a:t>
            </a:r>
          </a:p>
          <a:p>
            <a:pPr algn="just"/>
            <a:r>
              <a:rPr lang="ru-RU" dirty="0"/>
              <a:t>Чётности (делится на 2 или нет)</a:t>
            </a:r>
          </a:p>
          <a:p>
            <a:pPr marL="0" indent="0" algn="just">
              <a:buNone/>
            </a:pPr>
            <a:r>
              <a:rPr lang="ru-RU" dirty="0"/>
              <a:t>Выведите соответствующую информацию на экран в виде сообщения пользователю. Пример:</a:t>
            </a:r>
          </a:p>
          <a:p>
            <a:pPr marL="457200" lvl="1" indent="0" algn="just">
              <a:buNone/>
            </a:pPr>
            <a:r>
              <a:rPr lang="ru-RU" dirty="0">
                <a:latin typeface="Consolas" panose="020B0609020204030204" pitchFamily="49" charset="0"/>
              </a:rPr>
              <a:t>Введите число: 3</a:t>
            </a:r>
          </a:p>
          <a:p>
            <a:pPr marL="457200" lvl="1" indent="0" algn="just">
              <a:buNone/>
            </a:pPr>
            <a:r>
              <a:rPr lang="ru-RU" dirty="0">
                <a:latin typeface="Consolas" panose="020B0609020204030204" pitchFamily="49" charset="0"/>
              </a:rPr>
              <a:t>Число положительное</a:t>
            </a:r>
          </a:p>
          <a:p>
            <a:pPr marL="457200" lvl="1" indent="0" algn="just">
              <a:buNone/>
            </a:pPr>
            <a:r>
              <a:rPr lang="ru-RU" dirty="0">
                <a:latin typeface="Consolas" panose="020B0609020204030204" pitchFamily="49" charset="0"/>
              </a:rPr>
              <a:t>Число нечётное</a:t>
            </a:r>
          </a:p>
          <a:p>
            <a:pPr marL="0" indent="0" algn="just">
              <a:buNone/>
            </a:pPr>
            <a:endParaRPr lang="ru-RU" dirty="0"/>
          </a:p>
          <a:p>
            <a:pPr algn="just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591772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0D3D59-3F51-4B53-A889-CA2D28D08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Решение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26718A2A-365A-4667-996F-39614E434C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66168" y="1476860"/>
            <a:ext cx="6659663" cy="4700103"/>
          </a:xfrm>
        </p:spPr>
      </p:pic>
    </p:spTree>
    <p:extLst>
      <p:ext uri="{BB962C8B-B14F-4D97-AF65-F5344CB8AC3E}">
        <p14:creationId xmlns:p14="http://schemas.microsoft.com/office/powerpoint/2010/main" val="24439863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2A28EB-160F-4F89-8805-44041561E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753165" cy="1325563"/>
          </a:xfrm>
        </p:spPr>
        <p:txBody>
          <a:bodyPr/>
          <a:lstStyle/>
          <a:p>
            <a:r>
              <a:rPr lang="ru-RU" dirty="0"/>
              <a:t>Связка условий через логические операторы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C5112D6-70E8-4936-BC4F-1C8995DEA7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8494"/>
            <a:ext cx="10515600" cy="5280211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ru-RU" dirty="0"/>
              <a:t>Представим, что мы хотим оформить проверку ввода. Например, мы просим пользователя ввести чётное число больше нуля. Предположим, пользователь оказался </a:t>
            </a:r>
            <a:r>
              <a:rPr lang="ru-RU" i="1" dirty="0"/>
              <a:t>непослушным</a:t>
            </a:r>
            <a:r>
              <a:rPr lang="ru-RU" dirty="0"/>
              <a:t> и собирается ввести иное число. Придётся написать код, проверяющий корректность ввода:</a:t>
            </a:r>
          </a:p>
          <a:p>
            <a:pPr marL="0" indent="0" algn="just">
              <a:buNone/>
            </a:pPr>
            <a:r>
              <a:rPr lang="ru-RU" dirty="0"/>
              <a:t>					Логическое «И»</a:t>
            </a:r>
            <a:r>
              <a:rPr lang="en-US" dirty="0"/>
              <a:t> </a:t>
            </a:r>
            <a:r>
              <a:rPr lang="ru-RU" dirty="0"/>
              <a:t>между условиями</a:t>
            </a:r>
            <a:endParaRPr lang="en-US" dirty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ru-RU" dirty="0"/>
              <a:t>Заметим, что фигурные скобки после </a:t>
            </a:r>
            <a:r>
              <a:rPr lang="en-US" dirty="0"/>
              <a:t>if/else </a:t>
            </a:r>
            <a:r>
              <a:rPr lang="ru-RU" dirty="0"/>
              <a:t>можно опустить, если за ними следует одно выражение!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9C827BC-6D01-44DC-8268-FADCB67BC6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4165" y="3613991"/>
            <a:ext cx="10041231" cy="1920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56164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90BB71-2E36-4E1D-84B6-F18241AAC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Лесенка </a:t>
            </a:r>
            <a:r>
              <a:rPr lang="en-US" dirty="0"/>
              <a:t>if – else if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F7822CE-BACF-4D3B-8E4B-BED5143CFE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1929"/>
            <a:ext cx="10515600" cy="4635034"/>
          </a:xfrm>
        </p:spPr>
        <p:txBody>
          <a:bodyPr/>
          <a:lstStyle/>
          <a:p>
            <a:pPr marL="0" indent="0" algn="just">
              <a:buNone/>
            </a:pPr>
            <a:r>
              <a:rPr lang="ru-RU" dirty="0"/>
              <a:t>Данный программный код рассчитывает скидку, в зависимости от суммы покупки</a:t>
            </a:r>
          </a:p>
          <a:p>
            <a:pPr algn="just"/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6641F55-A6B1-42CE-BB05-2E0EE3D87A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9288" y="2547463"/>
            <a:ext cx="7893424" cy="362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5241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58908E-143E-4D13-A9E9-858258E3A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AD6757E6-8674-4215-850D-D0F93E02EBC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2282"/>
                <a:ext cx="10515600" cy="4724681"/>
              </a:xfrm>
            </p:spPr>
            <p:txBody>
              <a:bodyPr/>
              <a:lstStyle/>
              <a:p>
                <a:pPr marL="0" indent="0" algn="just">
                  <a:buNone/>
                </a:pPr>
                <a:r>
                  <a:rPr lang="ru-RU" dirty="0"/>
                  <a:t>На плоскости нарисовано кольцо с центром в точке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ru-RU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. И радиусами границ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i="1" dirty="0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ru-RU" dirty="0"/>
                  <a:t>. На этой же плоскости дана точка с координатами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. Необходимо</a:t>
                </a:r>
                <a:r>
                  <a:rPr lang="en-US" dirty="0"/>
                  <a:t> </a:t>
                </a:r>
                <a:r>
                  <a:rPr lang="ru-RU" dirty="0"/>
                  <a:t>определить, принадлежит ли эта точка кольцу. </a:t>
                </a:r>
                <a:r>
                  <a:rPr lang="ru-RU" b="1" dirty="0"/>
                  <a:t>Название</a:t>
                </a:r>
                <a:r>
                  <a:rPr lang="en-US" b="1" dirty="0"/>
                  <a:t> </a:t>
                </a:r>
                <a:r>
                  <a:rPr lang="ru-RU" b="1" dirty="0"/>
                  <a:t>проекта Circle2</a:t>
                </a:r>
                <a:r>
                  <a:rPr lang="en-US" dirty="0"/>
                  <a:t>.</a:t>
                </a:r>
                <a:endParaRPr lang="ru-RU" dirty="0"/>
              </a:p>
            </p:txBody>
          </p:sp>
        </mc:Choice>
        <mc:Fallback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AD6757E6-8674-4215-850D-D0F93E02EBC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2282"/>
                <a:ext cx="10515600" cy="4724681"/>
              </a:xfrm>
              <a:blipFill>
                <a:blip r:embed="rId2"/>
                <a:stretch>
                  <a:fillRect l="-1217" t="-2065" r="-11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775841E-C68D-4263-8A4A-6843D8F3A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6316" y="3083299"/>
            <a:ext cx="3899367" cy="3473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39579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7813A6-84F9-4511-8D21-4F247621D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774F5B4-FD43-4117-AC11-A244F86EB4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9883"/>
            <a:ext cx="10515600" cy="51929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/>
              <a:t>Переменные:</a:t>
            </a:r>
          </a:p>
          <a:p>
            <a:pPr marL="0" indent="0">
              <a:buNone/>
            </a:pPr>
            <a:r>
              <a:rPr lang="ru-RU" sz="2400" dirty="0"/>
              <a:t>	- </a:t>
            </a:r>
            <a:r>
              <a:rPr lang="en-US" sz="2400" dirty="0"/>
              <a:t>double x0, y0 – </a:t>
            </a:r>
            <a:r>
              <a:rPr lang="ru-RU" sz="2400" dirty="0"/>
              <a:t>начальные точки (центр)</a:t>
            </a:r>
          </a:p>
          <a:p>
            <a:pPr marL="0" indent="0">
              <a:buNone/>
            </a:pPr>
            <a:r>
              <a:rPr lang="ru-RU" sz="2400" dirty="0"/>
              <a:t>	- </a:t>
            </a:r>
            <a:r>
              <a:rPr lang="en-US" sz="2400" dirty="0"/>
              <a:t>double x, y – </a:t>
            </a:r>
            <a:r>
              <a:rPr lang="ru-RU" sz="2400" dirty="0"/>
              <a:t>рассматриваемая точка</a:t>
            </a:r>
          </a:p>
          <a:p>
            <a:pPr marL="0" indent="0">
              <a:buNone/>
            </a:pPr>
            <a:r>
              <a:rPr lang="ru-RU" sz="2400" dirty="0"/>
              <a:t>	- </a:t>
            </a:r>
            <a:r>
              <a:rPr lang="en-US" sz="2400" dirty="0"/>
              <a:t>double r1, r2 – </a:t>
            </a:r>
            <a:r>
              <a:rPr lang="ru-RU" sz="2400" dirty="0"/>
              <a:t>радиусы малой и большей окружности 		соответственно </a:t>
            </a:r>
            <a:r>
              <a:rPr lang="ru-RU" sz="2400" b="1" dirty="0"/>
              <a:t>(ВСЕ 6 ПЕРЕМЕННЫХ ВВОДЯТСЯ С КЛАВИАТУРЫ)</a:t>
            </a:r>
          </a:p>
          <a:p>
            <a:pPr marL="0" indent="0">
              <a:buNone/>
            </a:pPr>
            <a:r>
              <a:rPr lang="ru-RU" sz="2400" dirty="0"/>
              <a:t>	- </a:t>
            </a:r>
            <a:r>
              <a:rPr lang="en-US" sz="2400" dirty="0"/>
              <a:t>double </a:t>
            </a:r>
            <a:r>
              <a:rPr lang="en-US" sz="2400" dirty="0" err="1"/>
              <a:t>len</a:t>
            </a:r>
            <a:r>
              <a:rPr lang="en-US" sz="2400" dirty="0"/>
              <a:t> – </a:t>
            </a:r>
            <a:r>
              <a:rPr lang="ru-RU" sz="2400" dirty="0"/>
              <a:t>расстояние от центра до рассматриваемой точки (от англ. 	</a:t>
            </a:r>
            <a:r>
              <a:rPr lang="en-US" sz="2400" b="1" dirty="0"/>
              <a:t>Len</a:t>
            </a:r>
            <a:r>
              <a:rPr lang="en-US" sz="2400" dirty="0"/>
              <a:t>gth – </a:t>
            </a:r>
            <a:r>
              <a:rPr lang="ru-RU" sz="2400" dirty="0"/>
              <a:t>длина)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CD0702D-A8A6-4EC7-BA6D-FA18E38EC2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1094" y="3993402"/>
            <a:ext cx="3215483" cy="2864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1107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941A92-80D6-4974-A95F-84B52CACC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Формула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7459FFE0-C029-4651-869A-80B09E6035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26776"/>
                <a:ext cx="10515600" cy="4850187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ru-RU" dirty="0"/>
                  <a:t>Расстояние между точками: </a:t>
                </a: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𝑙𝑒𝑛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ru-RU" dirty="0"/>
                  <a:t>Математические функции: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#include &lt;</a:t>
                </a:r>
                <a:r>
                  <a:rPr lang="en-US" dirty="0" err="1"/>
                  <a:t>math.h</a:t>
                </a:r>
                <a:r>
                  <a:rPr lang="en-US" dirty="0"/>
                  <a:t>&gt; // </a:t>
                </a:r>
                <a:r>
                  <a:rPr lang="ru-RU" dirty="0"/>
                  <a:t>библиотека</a:t>
                </a:r>
              </a:p>
              <a:p>
                <a:pPr marL="0" indent="0">
                  <a:buNone/>
                </a:pPr>
                <a:r>
                  <a:rPr lang="en-US" dirty="0"/>
                  <a:t>pow(x-x0, 2) – </a:t>
                </a:r>
                <a:r>
                  <a:rPr lang="ru-RU" dirty="0"/>
                  <a:t>возведение разности </a:t>
                </a:r>
                <a:r>
                  <a:rPr lang="en-US" dirty="0"/>
                  <a:t>x </a:t>
                </a:r>
                <a:r>
                  <a:rPr lang="ru-RU" dirty="0"/>
                  <a:t>и </a:t>
                </a:r>
                <a:r>
                  <a:rPr lang="en-US" dirty="0"/>
                  <a:t>x0 </a:t>
                </a:r>
                <a:r>
                  <a:rPr lang="ru-RU" dirty="0"/>
                  <a:t>во вторую степень</a:t>
                </a:r>
              </a:p>
              <a:p>
                <a:pPr marL="0" indent="0">
                  <a:buNone/>
                </a:pPr>
                <a:r>
                  <a:rPr lang="en-US" dirty="0"/>
                  <a:t>sqrt(</a:t>
                </a:r>
                <a:r>
                  <a:rPr lang="ru-RU" i="1" dirty="0"/>
                  <a:t>выражение</a:t>
                </a:r>
                <a:r>
                  <a:rPr lang="en-US" dirty="0"/>
                  <a:t>) – </a:t>
                </a:r>
                <a:r>
                  <a:rPr lang="ru-RU" dirty="0"/>
                  <a:t>вычисление квадратного корня</a:t>
                </a:r>
              </a:p>
            </p:txBody>
          </p:sp>
        </mc:Choice>
        <mc:Fallback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7459FFE0-C029-4651-869A-80B09E6035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26776"/>
                <a:ext cx="10515600" cy="4850187"/>
              </a:xfrm>
              <a:blipFill>
                <a:blip r:embed="rId2"/>
                <a:stretch>
                  <a:fillRect l="-1217" t="-213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63718C8-28E7-47D4-BC9D-470FA6CC11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0998" y="4260477"/>
            <a:ext cx="2852802" cy="2541494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88BE48A-34C7-4191-BD67-432BA8FED2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4930589"/>
            <a:ext cx="6993591" cy="936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45718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2DF760-5902-4839-8C78-3CC587D3E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 (блок-схема)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E7587C4-ACCD-4617-80E7-82DE671808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8494"/>
            <a:ext cx="10515600" cy="4778469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 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3919610-A391-45A5-924E-E7AEF9FA32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1924" y="1398494"/>
            <a:ext cx="8748152" cy="5062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79621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</TotalTime>
  <Words>485</Words>
  <Application>Microsoft Office PowerPoint</Application>
  <PresentationFormat>Широкоэкранный</PresentationFormat>
  <Paragraphs>66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Light</vt:lpstr>
      <vt:lpstr>Cambria Math</vt:lpstr>
      <vt:lpstr>Consolas</vt:lpstr>
      <vt:lpstr>Тема Office</vt:lpstr>
      <vt:lpstr>Основы программирования на языке C++</vt:lpstr>
      <vt:lpstr>План презентации</vt:lpstr>
      <vt:lpstr>Домашнее задание</vt:lpstr>
      <vt:lpstr>Ветвящиеся алгоритмы</vt:lpstr>
      <vt:lpstr>Блок-схема</vt:lpstr>
      <vt:lpstr>Примеры использования</vt:lpstr>
      <vt:lpstr>Операторы сравнения</vt:lpstr>
      <vt:lpstr>Задание</vt:lpstr>
      <vt:lpstr>Решение</vt:lpstr>
      <vt:lpstr>Связка условий через логические операторы</vt:lpstr>
      <vt:lpstr>Лесенка if – else if</vt:lpstr>
      <vt:lpstr>Задача</vt:lpstr>
      <vt:lpstr>Задача</vt:lpstr>
      <vt:lpstr>Формула</vt:lpstr>
      <vt:lpstr>Алгоритм (блок-схема)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Основы программирования на языке C++</dc:title>
  <dc:creator>varitch.rodion.2@gmail.com</dc:creator>
  <cp:lastModifiedBy>varitch.rodion.2@gmail.com</cp:lastModifiedBy>
  <cp:revision>31</cp:revision>
  <dcterms:created xsi:type="dcterms:W3CDTF">2026-07-06T12:50:58Z</dcterms:created>
  <dcterms:modified xsi:type="dcterms:W3CDTF">2026-07-06T15:09:51Z</dcterms:modified>
</cp:coreProperties>
</file>